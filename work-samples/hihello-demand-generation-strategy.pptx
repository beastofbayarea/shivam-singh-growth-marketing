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9" r:id="rId3"/>
    <p:sldId id="260" r:id="rId4"/>
    <p:sldId id="263" r:id="rId5"/>
    <p:sldId id="265"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3" autoAdjust="0"/>
  </p:normalViewPr>
  <p:slideViewPr>
    <p:cSldViewPr snapToGrid="0" snapToObjects="1">
      <p:cViewPr varScale="1">
        <p:scale>
          <a:sx n="98" d="100"/>
          <a:sy n="98" d="100"/>
        </p:scale>
        <p:origin x="78"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working budget</c:v>
                </c:pt>
              </c:strCache>
            </c:strRef>
          </c:tx>
          <c:spPr>
            <a:solidFill>
              <a:srgbClr val="8F60DE"/>
            </a:solidFill>
            <a:effectLst/>
          </c:spPr>
          <c:invertIfNegative val="0"/>
          <c:dLbls>
            <c:numFmt formatCode="0&quot;%&quot;" sourceLinked="0"/>
            <c:spPr>
              <a:noFill/>
              <a:ln>
                <a:noFill/>
              </a:ln>
              <a:effectLst/>
            </c:spPr>
            <c:txPr>
              <a:bodyPr/>
              <a:lstStyle/>
              <a:p>
                <a:pPr>
                  <a:defRPr sz="950" b="1" i="0" u="none" strike="noStrike">
                    <a:solidFill>
                      <a:srgbClr val="1918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Experiment reserve  —  $11K</c:v>
                </c:pt>
                <c:pt idx="1">
                  <c:v>Creative / production  —  $25K</c:v>
                </c:pt>
                <c:pt idx="2">
                  <c:v>Webinars + events  —  $54K</c:v>
                </c:pt>
                <c:pt idx="3">
                  <c:v>G2 + syndication  —  $72K</c:v>
                </c:pt>
                <c:pt idx="4">
                  <c:v>Google / search  —  $72K</c:v>
                </c:pt>
                <c:pt idx="5">
                  <c:v>LinkedIn / paid social  —  $126K</c:v>
                </c:pt>
              </c:strCache>
            </c:strRef>
          </c:cat>
          <c:val>
            <c:numRef>
              <c:f>Sheet1!$B$2:$B$7</c:f>
              <c:numCache>
                <c:formatCode>General</c:formatCode>
                <c:ptCount val="6"/>
                <c:pt idx="0">
                  <c:v>3</c:v>
                </c:pt>
                <c:pt idx="1">
                  <c:v>7</c:v>
                </c:pt>
                <c:pt idx="2">
                  <c:v>15</c:v>
                </c:pt>
                <c:pt idx="3">
                  <c:v>20</c:v>
                </c:pt>
                <c:pt idx="4">
                  <c:v>20</c:v>
                </c:pt>
                <c:pt idx="5">
                  <c:v>35</c:v>
                </c:pt>
              </c:numCache>
            </c:numRef>
          </c:val>
          <c:extLst>
            <c:ext xmlns:c16="http://schemas.microsoft.com/office/drawing/2014/chart" uri="{C3380CC4-5D6E-409C-BE32-E72D297353CC}">
              <c16:uniqueId val="{00000000-779B-4D5E-82DF-DB377155F1D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1A1325"/>
                </a:solidFill>
                <a:latin typeface="Arial"/>
              </a:defRPr>
            </a:pPr>
            <a:endParaRPr lang="en-US"/>
          </a:p>
        </c:txPr>
        <c:crossAx val="2094734552"/>
        <c:crosses val="autoZero"/>
        <c:auto val="1"/>
        <c:lblAlgn val="ctr"/>
        <c:lblOffset val="100"/>
        <c:noMultiLvlLbl val="1"/>
      </c:catAx>
      <c:valAx>
        <c:axId val="2094734552"/>
        <c:scaling>
          <c:orientation val="minMax"/>
          <c:max val="42"/>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5862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HiHello</a:t>
            </a:r>
            <a:r>
              <a:rPr lang="en-US" b="0" dirty="0"/>
              <a:t> already has a huge user base and lots of activity. Instead of marketing broadly, focus on companies already showing signs of interest. Use existing product activity to find the companies most likely to buy.</a:t>
            </a:r>
          </a:p>
          <a:p>
            <a:endParaRPr lang="en-US" b="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companies already showing interest, show them a clear problem </a:t>
            </a:r>
            <a:r>
              <a:rPr lang="en-US" dirty="0" err="1"/>
              <a:t>HiHello</a:t>
            </a:r>
            <a:r>
              <a:rPr lang="en-US" dirty="0"/>
              <a:t> can solve, and spend money only when that activity moves them closer to buying. </a:t>
            </a:r>
            <a:r>
              <a:rPr lang="en-US" b="0" dirty="0"/>
              <a:t>Spend more time and money on companies showing the strongest evidence that they may buy.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Don’t start by selling </a:t>
            </a:r>
            <a:r>
              <a:rPr lang="en-US" b="0" dirty="0" err="1"/>
              <a:t>HiHello</a:t>
            </a:r>
            <a:r>
              <a:rPr lang="en-US" b="0" dirty="0"/>
              <a:t>. First show the customer a problem </a:t>
            </a:r>
            <a:r>
              <a:rPr lang="en-US" b="0" dirty="0" err="1"/>
              <a:t>HiHello</a:t>
            </a:r>
            <a:r>
              <a:rPr lang="en-US" b="0" dirty="0"/>
              <a:t> can solve.  Show them a problem → prove the problem exists → give them an Audit → if they show interest, Sales follows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message gets good engagement from the right accounts for little extra cost, that is evidence it is worth scaling with paid media.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847"/>
        </a:solidFill>
        <a:effectLst/>
      </p:bgPr>
    </p:bg>
    <p:spTree>
      <p:nvGrpSpPr>
        <p:cNvPr id="1" name=""/>
        <p:cNvGrpSpPr/>
        <p:nvPr/>
      </p:nvGrpSpPr>
      <p:grpSpPr>
        <a:xfrm>
          <a:off x="0" y="0"/>
          <a:ext cx="0" cy="0"/>
          <a:chOff x="0" y="0"/>
          <a:chExt cx="0" cy="0"/>
        </a:xfrm>
      </p:grpSpPr>
      <p:pic>
        <p:nvPicPr>
          <p:cNvPr id="22" name="HiHello logo">
            <a:extLst>
              <a:ext uri="{FF2B5EF4-FFF2-40B4-BE49-F238E27FC236}">
                <a16:creationId xmlns:a16="http://schemas.microsoft.com/office/drawing/2014/main" id="{D64C6998-8A51-FB5B-6080-D0C040662E35}"/>
              </a:ext>
            </a:extLst>
          </p:cNvPr>
          <p:cNvPicPr>
            <a:picLocks noChangeAspect="1"/>
          </p:cNvPicPr>
          <p:nvPr/>
        </p:nvPicPr>
        <p:blipFill>
          <a:blip r:embed="rId3"/>
          <a:stretch>
            <a:fillRect/>
          </a:stretch>
        </p:blipFill>
        <p:spPr>
          <a:xfrm>
            <a:off x="502920" y="438912"/>
            <a:ext cx="1705356" cy="655624"/>
          </a:xfrm>
          <a:prstGeom prst="rect">
            <a:avLst/>
          </a:prstGeom>
        </p:spPr>
      </p:pic>
      <p:sp>
        <p:nvSpPr>
          <p:cNvPr id="23" name="Strategy eyebrow"/>
          <p:cNvSpPr txBox="1">
            <a:spLocks/>
          </p:cNvSpPr>
          <p:nvPr/>
        </p:nvSpPr>
        <p:spPr>
          <a:xfrm>
            <a:off x="502920" y="1289358"/>
            <a:ext cx="41148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A99CE0"/>
                </a:solidFill>
                <a:latin typeface="Arial"/>
              </a:rPr>
              <a:t>DEMAND GENERATION STRATEGY</a:t>
            </a:r>
          </a:p>
        </p:txBody>
      </p:sp>
      <p:sp>
        <p:nvSpPr>
          <p:cNvPr id="24" name="Cover title"/>
          <p:cNvSpPr txBox="1"/>
          <p:nvPr/>
        </p:nvSpPr>
        <p:spPr>
          <a:xfrm>
            <a:off x="502920" y="1591056"/>
            <a:ext cx="6629400" cy="1169551"/>
          </a:xfrm>
          <a:prstGeom prst="rect">
            <a:avLst/>
          </a:prstGeom>
          <a:noFill/>
        </p:spPr>
        <p:txBody>
          <a:bodyPr wrap="square" lIns="0" tIns="0" rIns="0" bIns="0" anchor="t">
            <a:spAutoFit/>
          </a:bodyPr>
          <a:lstStyle/>
          <a:p>
            <a:pPr algn="l">
              <a:lnSpc>
                <a:spcPct val="100000"/>
              </a:lnSpc>
              <a:spcBef>
                <a:spcPts val="0"/>
              </a:spcBef>
              <a:spcAft>
                <a:spcPts val="0"/>
              </a:spcAft>
            </a:pPr>
            <a:r>
              <a:rPr lang="en-US" sz="3800" b="1" i="0">
                <a:solidFill>
                  <a:srgbClr val="FFFFFF"/>
                </a:solidFill>
                <a:latin typeface="Calibri"/>
              </a:rPr>
              <a:t>Turn product signals</a:t>
            </a:r>
          </a:p>
          <a:p>
            <a:pPr algn="l">
              <a:lnSpc>
                <a:spcPct val="100000"/>
              </a:lnSpc>
              <a:spcBef>
                <a:spcPts val="0"/>
              </a:spcBef>
              <a:spcAft>
                <a:spcPts val="0"/>
              </a:spcAft>
            </a:pPr>
            <a:r>
              <a:rPr lang="en-US" sz="3800" b="1" i="0">
                <a:solidFill>
                  <a:srgbClr val="A99CE0"/>
                </a:solidFill>
                <a:latin typeface="Calibri"/>
              </a:rPr>
              <a:t>into qualified pipeline</a:t>
            </a:r>
          </a:p>
        </p:txBody>
      </p:sp>
      <p:sp>
        <p:nvSpPr>
          <p:cNvPr id="25" name="Thesis"/>
          <p:cNvSpPr txBox="1">
            <a:spLocks/>
          </p:cNvSpPr>
          <p:nvPr/>
        </p:nvSpPr>
        <p:spPr>
          <a:xfrm>
            <a:off x="502920" y="2943899"/>
            <a:ext cx="6327648" cy="623248"/>
          </a:xfrm>
          <a:prstGeom prst="rect">
            <a:avLst/>
          </a:prstGeom>
          <a:noFill/>
        </p:spPr>
        <p:txBody>
          <a:bodyPr wrap="square" lIns="0" tIns="0" rIns="0" bIns="0" anchor="ctr">
            <a:spAutoFit/>
          </a:bodyPr>
          <a:lstStyle/>
          <a:p>
            <a:pPr algn="l">
              <a:lnSpc>
                <a:spcPct val="100000"/>
              </a:lnSpc>
              <a:spcBef>
                <a:spcPts val="0"/>
              </a:spcBef>
              <a:spcAft>
                <a:spcPts val="0"/>
              </a:spcAft>
            </a:pPr>
            <a:r>
              <a:rPr lang="en-US" sz="1350" b="0" i="0" dirty="0" err="1">
                <a:solidFill>
                  <a:srgbClr val="C7BFE8"/>
                </a:solidFill>
                <a:latin typeface="Arial"/>
              </a:rPr>
              <a:t>HiHello</a:t>
            </a:r>
            <a:r>
              <a:rPr lang="en-US" sz="1350" b="0" i="0" dirty="0">
                <a:solidFill>
                  <a:srgbClr val="C7BFE8"/>
                </a:solidFill>
                <a:latin typeface="Arial"/>
              </a:rPr>
              <a:t> already shows which companies have reach, intent and strong fit. Score those signals, </a:t>
            </a:r>
            <a:r>
              <a:rPr lang="en-US" sz="1350" b="0" i="0" dirty="0" err="1">
                <a:solidFill>
                  <a:srgbClr val="C7BFE8"/>
                </a:solidFill>
                <a:latin typeface="Arial"/>
              </a:rPr>
              <a:t>prioritise</a:t>
            </a:r>
            <a:r>
              <a:rPr lang="en-US" sz="1350" b="0" i="0" dirty="0">
                <a:solidFill>
                  <a:srgbClr val="C7BFE8"/>
                </a:solidFill>
                <a:latin typeface="Arial"/>
              </a:rPr>
              <a:t> accounts, and invest only when account movement is proven.</a:t>
            </a:r>
          </a:p>
        </p:txBody>
      </p:sp>
      <p:sp>
        <p:nvSpPr>
          <p:cNvPr id="26" name="Thesis rule"/>
          <p:cNvSpPr>
            <a:spLocks/>
          </p:cNvSpPr>
          <p:nvPr/>
        </p:nvSpPr>
        <p:spPr>
          <a:xfrm>
            <a:off x="502920" y="3913632"/>
            <a:ext cx="6327648" cy="16459"/>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perating principle"/>
          <p:cNvSpPr txBox="1"/>
          <p:nvPr/>
        </p:nvSpPr>
        <p:spPr>
          <a:xfrm>
            <a:off x="502920" y="4123944"/>
            <a:ext cx="6327648"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1" i="0">
                <a:solidFill>
                  <a:srgbClr val="FFFFFF"/>
                </a:solidFill>
                <a:latin typeface="Arial"/>
              </a:rPr>
              <a:t>ACCOUNT FIRST   ·   PRODUCT SIGNAL QUALIFIES   ·   CHANNELS AMPLIFY</a:t>
            </a:r>
          </a:p>
        </p:txBody>
      </p:sp>
      <p:sp>
        <p:nvSpPr>
          <p:cNvPr id="28" name="Main divider"/>
          <p:cNvSpPr>
            <a:spLocks/>
          </p:cNvSpPr>
          <p:nvPr/>
        </p:nvSpPr>
        <p:spPr>
          <a:xfrm>
            <a:off x="7214616" y="1261872"/>
            <a:ext cx="16459" cy="4005072"/>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Pipeline eyebrow"/>
          <p:cNvSpPr txBox="1"/>
          <p:nvPr/>
        </p:nvSpPr>
        <p:spPr>
          <a:xfrm>
            <a:off x="7571231" y="1298448"/>
            <a:ext cx="4114800" cy="147733"/>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A99CE0"/>
                </a:solidFill>
                <a:latin typeface="Arial"/>
              </a:rPr>
              <a:t>YEAR 1 PIPELINE AMBITION</a:t>
            </a:r>
          </a:p>
        </p:txBody>
      </p:sp>
      <p:sp>
        <p:nvSpPr>
          <p:cNvPr id="30" name="Pipeline hero"/>
          <p:cNvSpPr txBox="1"/>
          <p:nvPr/>
        </p:nvSpPr>
        <p:spPr>
          <a:xfrm>
            <a:off x="7571231" y="1627632"/>
            <a:ext cx="4114800" cy="569387"/>
          </a:xfrm>
          <a:prstGeom prst="rect">
            <a:avLst/>
          </a:prstGeom>
          <a:noFill/>
        </p:spPr>
        <p:txBody>
          <a:bodyPr wrap="square" lIns="0" tIns="0" rIns="0" bIns="0" anchor="ctr">
            <a:spAutoFit/>
          </a:bodyPr>
          <a:lstStyle/>
          <a:p>
            <a:pPr algn="l">
              <a:lnSpc>
                <a:spcPct val="100000"/>
              </a:lnSpc>
              <a:spcBef>
                <a:spcPts val="0"/>
              </a:spcBef>
              <a:spcAft>
                <a:spcPts val="0"/>
              </a:spcAft>
            </a:pPr>
            <a:r>
              <a:rPr lang="en-US" sz="3700" b="1" i="0">
                <a:solidFill>
                  <a:srgbClr val="FFFFFF"/>
                </a:solidFill>
                <a:latin typeface="Calibri"/>
              </a:rPr>
              <a:t>$3.24M</a:t>
            </a:r>
          </a:p>
        </p:txBody>
      </p:sp>
      <p:sp>
        <p:nvSpPr>
          <p:cNvPr id="31" name="Pipeline hero label"/>
          <p:cNvSpPr txBox="1"/>
          <p:nvPr/>
        </p:nvSpPr>
        <p:spPr>
          <a:xfrm>
            <a:off x="7571231" y="2227289"/>
            <a:ext cx="4114800" cy="161583"/>
          </a:xfrm>
          <a:prstGeom prst="rect">
            <a:avLst/>
          </a:prstGeom>
          <a:noFill/>
        </p:spPr>
        <p:txBody>
          <a:bodyPr wrap="square" lIns="0" tIns="0" rIns="0" bIns="0" anchor="ctr">
            <a:spAutoFit/>
          </a:bodyPr>
          <a:lstStyle/>
          <a:p>
            <a:pPr algn="l">
              <a:lnSpc>
                <a:spcPct val="100000"/>
              </a:lnSpc>
              <a:spcBef>
                <a:spcPts val="0"/>
              </a:spcBef>
              <a:spcAft>
                <a:spcPts val="0"/>
              </a:spcAft>
            </a:pPr>
            <a:r>
              <a:rPr lang="en-US" sz="1050" b="1" i="0">
                <a:solidFill>
                  <a:srgbClr val="A99CE0"/>
                </a:solidFill>
                <a:latin typeface="Calibri"/>
              </a:rPr>
              <a:t>SOURCED PIPELINE  ·  $45K ACV</a:t>
            </a:r>
          </a:p>
        </p:txBody>
      </p:sp>
      <p:sp>
        <p:nvSpPr>
          <p:cNvPr id="32" name="Stage number 1"/>
          <p:cNvSpPr txBox="1"/>
          <p:nvPr/>
        </p:nvSpPr>
        <p:spPr>
          <a:xfrm>
            <a:off x="7571231" y="2722540"/>
            <a:ext cx="365760"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A99CE0"/>
                </a:solidFill>
                <a:latin typeface="Arial"/>
              </a:rPr>
              <a:t>01</a:t>
            </a:r>
          </a:p>
        </p:txBody>
      </p:sp>
      <p:sp>
        <p:nvSpPr>
          <p:cNvPr id="33" name="Stage value 1"/>
          <p:cNvSpPr txBox="1"/>
          <p:nvPr/>
        </p:nvSpPr>
        <p:spPr>
          <a:xfrm>
            <a:off x="8046720" y="2688336"/>
            <a:ext cx="896112"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1800" b="1" i="0">
                <a:solidFill>
                  <a:srgbClr val="FFFFFF"/>
                </a:solidFill>
                <a:latin typeface="Calibri"/>
              </a:rPr>
              <a:t>1,500</a:t>
            </a:r>
          </a:p>
        </p:txBody>
      </p:sp>
      <p:sp>
        <p:nvSpPr>
          <p:cNvPr id="34" name="Stage label 1"/>
          <p:cNvSpPr txBox="1"/>
          <p:nvPr/>
        </p:nvSpPr>
        <p:spPr>
          <a:xfrm>
            <a:off x="8979408" y="2722540"/>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BFE8"/>
                </a:solidFill>
                <a:latin typeface="Arial"/>
              </a:rPr>
              <a:t>NAMED ACCOUNTS</a:t>
            </a:r>
          </a:p>
        </p:txBody>
      </p:sp>
      <p:sp>
        <p:nvSpPr>
          <p:cNvPr id="35" name="Stage rule 1"/>
          <p:cNvSpPr>
            <a:spLocks/>
          </p:cNvSpPr>
          <p:nvPr/>
        </p:nvSpPr>
        <p:spPr>
          <a:xfrm>
            <a:off x="7571231" y="3118104"/>
            <a:ext cx="4114800" cy="10972"/>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Stage number 2"/>
          <p:cNvSpPr txBox="1"/>
          <p:nvPr/>
        </p:nvSpPr>
        <p:spPr>
          <a:xfrm>
            <a:off x="7571231" y="3326044"/>
            <a:ext cx="365760"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A99CE0"/>
                </a:solidFill>
                <a:latin typeface="Arial"/>
              </a:rPr>
              <a:t>02</a:t>
            </a:r>
          </a:p>
        </p:txBody>
      </p:sp>
      <p:sp>
        <p:nvSpPr>
          <p:cNvPr id="37" name="Stage value 2"/>
          <p:cNvSpPr txBox="1"/>
          <p:nvPr/>
        </p:nvSpPr>
        <p:spPr>
          <a:xfrm>
            <a:off x="8046720" y="3291840"/>
            <a:ext cx="896112"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1800" b="1" i="0">
                <a:solidFill>
                  <a:srgbClr val="FFFFFF"/>
                </a:solidFill>
                <a:latin typeface="Calibri"/>
              </a:rPr>
              <a:t>360</a:t>
            </a:r>
          </a:p>
        </p:txBody>
      </p:sp>
      <p:sp>
        <p:nvSpPr>
          <p:cNvPr id="38" name="Stage label 2"/>
          <p:cNvSpPr txBox="1"/>
          <p:nvPr/>
        </p:nvSpPr>
        <p:spPr>
          <a:xfrm>
            <a:off x="8979408" y="3326044"/>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BFE8"/>
                </a:solidFill>
                <a:latin typeface="Arial"/>
              </a:rPr>
              <a:t>ENGAGED</a:t>
            </a:r>
          </a:p>
        </p:txBody>
      </p:sp>
      <p:sp>
        <p:nvSpPr>
          <p:cNvPr id="39" name="Stage rate 2"/>
          <p:cNvSpPr txBox="1"/>
          <p:nvPr/>
        </p:nvSpPr>
        <p:spPr>
          <a:xfrm>
            <a:off x="10991088" y="3326044"/>
            <a:ext cx="694944" cy="138499"/>
          </a:xfrm>
          <a:prstGeom prst="rect">
            <a:avLst/>
          </a:prstGeom>
          <a:noFill/>
        </p:spPr>
        <p:txBody>
          <a:bodyPr wrap="square" lIns="0" tIns="0" rIns="0" bIns="0" anchor="ctr">
            <a:spAutoFit/>
          </a:bodyPr>
          <a:lstStyle/>
          <a:p>
            <a:pPr algn="r">
              <a:lnSpc>
                <a:spcPct val="100000"/>
              </a:lnSpc>
              <a:spcBef>
                <a:spcPts val="0"/>
              </a:spcBef>
              <a:spcAft>
                <a:spcPts val="0"/>
              </a:spcAft>
            </a:pPr>
            <a:r>
              <a:rPr lang="en-US" sz="900" b="1" i="0">
                <a:solidFill>
                  <a:srgbClr val="A99CE0"/>
                </a:solidFill>
                <a:latin typeface="Arial"/>
              </a:rPr>
              <a:t>24%</a:t>
            </a:r>
          </a:p>
        </p:txBody>
      </p:sp>
      <p:sp>
        <p:nvSpPr>
          <p:cNvPr id="40" name="Stage rule 2"/>
          <p:cNvSpPr/>
          <p:nvPr/>
        </p:nvSpPr>
        <p:spPr>
          <a:xfrm>
            <a:off x="7571231" y="3721608"/>
            <a:ext cx="4114800" cy="10972"/>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Stage number 3"/>
          <p:cNvSpPr txBox="1"/>
          <p:nvPr/>
        </p:nvSpPr>
        <p:spPr>
          <a:xfrm>
            <a:off x="7571231" y="3931920"/>
            <a:ext cx="365760"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A99CE0"/>
                </a:solidFill>
                <a:latin typeface="Arial"/>
              </a:rPr>
              <a:t>03</a:t>
            </a:r>
          </a:p>
        </p:txBody>
      </p:sp>
      <p:sp>
        <p:nvSpPr>
          <p:cNvPr id="42" name="Stage value 3"/>
          <p:cNvSpPr txBox="1"/>
          <p:nvPr/>
        </p:nvSpPr>
        <p:spPr>
          <a:xfrm>
            <a:off x="8046720" y="3895344"/>
            <a:ext cx="896112" cy="320040"/>
          </a:xfrm>
          <a:prstGeom prst="rect">
            <a:avLst/>
          </a:prstGeom>
          <a:noFill/>
        </p:spPr>
        <p:txBody>
          <a:bodyPr wrap="square" lIns="0" tIns="0" rIns="0" bIns="0" anchor="ctr">
            <a:spAutoFit/>
          </a:bodyPr>
          <a:lstStyle/>
          <a:p>
            <a:pPr algn="l">
              <a:lnSpc>
                <a:spcPct val="100000"/>
              </a:lnSpc>
              <a:spcBef>
                <a:spcPts val="0"/>
              </a:spcBef>
              <a:spcAft>
                <a:spcPts val="0"/>
              </a:spcAft>
            </a:pPr>
            <a:r>
              <a:rPr sz="1800" b="1" i="0">
                <a:solidFill>
                  <a:srgbClr val="FFFFFF"/>
                </a:solidFill>
                <a:latin typeface="Calibri"/>
              </a:rPr>
              <a:t>144</a:t>
            </a:r>
          </a:p>
        </p:txBody>
      </p:sp>
      <p:sp>
        <p:nvSpPr>
          <p:cNvPr id="43" name="Stage label 3"/>
          <p:cNvSpPr txBox="1"/>
          <p:nvPr/>
        </p:nvSpPr>
        <p:spPr>
          <a:xfrm>
            <a:off x="8979408" y="3931920"/>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BFE8"/>
                </a:solidFill>
                <a:latin typeface="Arial"/>
              </a:rPr>
              <a:t>SALES-ACCEPTED</a:t>
            </a:r>
          </a:p>
        </p:txBody>
      </p:sp>
      <p:sp>
        <p:nvSpPr>
          <p:cNvPr id="44" name="Stage rate 3"/>
          <p:cNvSpPr txBox="1"/>
          <p:nvPr/>
        </p:nvSpPr>
        <p:spPr>
          <a:xfrm>
            <a:off x="10991088" y="3931920"/>
            <a:ext cx="694944" cy="138499"/>
          </a:xfrm>
          <a:prstGeom prst="rect">
            <a:avLst/>
          </a:prstGeom>
          <a:noFill/>
        </p:spPr>
        <p:txBody>
          <a:bodyPr wrap="square" lIns="0" tIns="0" rIns="0" bIns="0" anchor="ctr">
            <a:spAutoFit/>
          </a:bodyPr>
          <a:lstStyle/>
          <a:p>
            <a:pPr algn="r">
              <a:lnSpc>
                <a:spcPct val="100000"/>
              </a:lnSpc>
              <a:spcBef>
                <a:spcPts val="0"/>
              </a:spcBef>
              <a:spcAft>
                <a:spcPts val="0"/>
              </a:spcAft>
            </a:pPr>
            <a:r>
              <a:rPr lang="en-US" sz="900" b="1" i="0">
                <a:solidFill>
                  <a:srgbClr val="A99CE0"/>
                </a:solidFill>
                <a:latin typeface="Arial"/>
              </a:rPr>
              <a:t>40%</a:t>
            </a:r>
          </a:p>
        </p:txBody>
      </p:sp>
      <p:sp>
        <p:nvSpPr>
          <p:cNvPr id="45" name="Stage rule 3"/>
          <p:cNvSpPr/>
          <p:nvPr/>
        </p:nvSpPr>
        <p:spPr>
          <a:xfrm>
            <a:off x="7571231" y="4325112"/>
            <a:ext cx="4114800" cy="10972"/>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Stage number 4"/>
          <p:cNvSpPr txBox="1"/>
          <p:nvPr/>
        </p:nvSpPr>
        <p:spPr>
          <a:xfrm>
            <a:off x="7571231" y="4535424"/>
            <a:ext cx="365760"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A99CE0"/>
                </a:solidFill>
                <a:latin typeface="Arial"/>
              </a:rPr>
              <a:t>04</a:t>
            </a:r>
          </a:p>
        </p:txBody>
      </p:sp>
      <p:sp>
        <p:nvSpPr>
          <p:cNvPr id="47" name="Stage value 4"/>
          <p:cNvSpPr txBox="1"/>
          <p:nvPr/>
        </p:nvSpPr>
        <p:spPr>
          <a:xfrm>
            <a:off x="8046720" y="4498848"/>
            <a:ext cx="896112" cy="320040"/>
          </a:xfrm>
          <a:prstGeom prst="rect">
            <a:avLst/>
          </a:prstGeom>
          <a:noFill/>
        </p:spPr>
        <p:txBody>
          <a:bodyPr wrap="square" lIns="0" tIns="0" rIns="0" bIns="0" anchor="ctr">
            <a:spAutoFit/>
          </a:bodyPr>
          <a:lstStyle/>
          <a:p>
            <a:pPr algn="l">
              <a:lnSpc>
                <a:spcPct val="100000"/>
              </a:lnSpc>
              <a:spcBef>
                <a:spcPts val="0"/>
              </a:spcBef>
              <a:spcAft>
                <a:spcPts val="0"/>
              </a:spcAft>
            </a:pPr>
            <a:r>
              <a:rPr sz="1800" b="1" i="0">
                <a:solidFill>
                  <a:srgbClr val="FFFFFF"/>
                </a:solidFill>
                <a:latin typeface="Calibri"/>
              </a:rPr>
              <a:t>72</a:t>
            </a:r>
          </a:p>
        </p:txBody>
      </p:sp>
      <p:sp>
        <p:nvSpPr>
          <p:cNvPr id="48" name="Stage label 4"/>
          <p:cNvSpPr txBox="1"/>
          <p:nvPr/>
        </p:nvSpPr>
        <p:spPr>
          <a:xfrm>
            <a:off x="8979408" y="4535424"/>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BFE8"/>
                </a:solidFill>
                <a:latin typeface="Arial"/>
              </a:rPr>
              <a:t>QUALIFIED OPPORTUNITIES</a:t>
            </a:r>
          </a:p>
        </p:txBody>
      </p:sp>
      <p:sp>
        <p:nvSpPr>
          <p:cNvPr id="49" name="Stage rate 4"/>
          <p:cNvSpPr txBox="1"/>
          <p:nvPr/>
        </p:nvSpPr>
        <p:spPr>
          <a:xfrm>
            <a:off x="10991088" y="4535424"/>
            <a:ext cx="694944" cy="138499"/>
          </a:xfrm>
          <a:prstGeom prst="rect">
            <a:avLst/>
          </a:prstGeom>
          <a:noFill/>
        </p:spPr>
        <p:txBody>
          <a:bodyPr wrap="square" lIns="0" tIns="0" rIns="0" bIns="0" anchor="ctr">
            <a:spAutoFit/>
          </a:bodyPr>
          <a:lstStyle/>
          <a:p>
            <a:pPr algn="r">
              <a:lnSpc>
                <a:spcPct val="100000"/>
              </a:lnSpc>
              <a:spcBef>
                <a:spcPts val="0"/>
              </a:spcBef>
              <a:spcAft>
                <a:spcPts val="0"/>
              </a:spcAft>
            </a:pPr>
            <a:r>
              <a:rPr lang="en-US" sz="900" b="1" i="0">
                <a:solidFill>
                  <a:srgbClr val="A99CE0"/>
                </a:solidFill>
                <a:latin typeface="Arial"/>
              </a:rPr>
              <a:t>50%</a:t>
            </a:r>
          </a:p>
        </p:txBody>
      </p:sp>
      <p:sp>
        <p:nvSpPr>
          <p:cNvPr id="50" name="Proof rule"/>
          <p:cNvSpPr/>
          <p:nvPr/>
        </p:nvSpPr>
        <p:spPr>
          <a:xfrm>
            <a:off x="502920" y="5394960"/>
            <a:ext cx="11183112" cy="16459"/>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Proof eyebrow"/>
          <p:cNvSpPr txBox="1"/>
          <p:nvPr/>
        </p:nvSpPr>
        <p:spPr>
          <a:xfrm>
            <a:off x="502920" y="5559552"/>
            <a:ext cx="1920240" cy="182880"/>
          </a:xfrm>
          <a:prstGeom prst="rect">
            <a:avLst/>
          </a:prstGeom>
          <a:noFill/>
        </p:spPr>
        <p:txBody>
          <a:bodyPr wrap="square" lIns="0" tIns="0" rIns="0" bIns="0" anchor="ctr">
            <a:spAutoFit/>
          </a:bodyPr>
          <a:lstStyle/>
          <a:p>
            <a:pPr algn="l">
              <a:lnSpc>
                <a:spcPct val="100000"/>
              </a:lnSpc>
              <a:spcBef>
                <a:spcPts val="0"/>
              </a:spcBef>
              <a:spcAft>
                <a:spcPts val="0"/>
              </a:spcAft>
            </a:pPr>
            <a:r>
              <a:rPr sz="900" b="1" i="0">
                <a:solidFill>
                  <a:srgbClr val="A99CE0"/>
                </a:solidFill>
                <a:latin typeface="Arial"/>
              </a:rPr>
              <a:t>BUILT-IN DISTRIBUTION</a:t>
            </a:r>
          </a:p>
        </p:txBody>
      </p:sp>
      <p:sp>
        <p:nvSpPr>
          <p:cNvPr id="52" name="Proof value 1"/>
          <p:cNvSpPr txBox="1"/>
          <p:nvPr/>
        </p:nvSpPr>
        <p:spPr>
          <a:xfrm>
            <a:off x="2487168" y="5500003"/>
            <a:ext cx="1865376" cy="338554"/>
          </a:xfrm>
          <a:prstGeom prst="rect">
            <a:avLst/>
          </a:prstGeom>
          <a:noFill/>
        </p:spPr>
        <p:txBody>
          <a:bodyPr wrap="square" lIns="0" tIns="0" rIns="0" bIns="0" anchor="ctr">
            <a:spAutoFit/>
          </a:bodyPr>
          <a:lstStyle/>
          <a:p>
            <a:pPr algn="l">
              <a:lnSpc>
                <a:spcPct val="100000"/>
              </a:lnSpc>
              <a:spcBef>
                <a:spcPts val="0"/>
              </a:spcBef>
              <a:spcAft>
                <a:spcPts val="0"/>
              </a:spcAft>
            </a:pPr>
            <a:r>
              <a:rPr lang="en-US" sz="2200" b="1" i="0">
                <a:solidFill>
                  <a:srgbClr val="FFFFFF"/>
                </a:solidFill>
                <a:latin typeface="Calibri"/>
              </a:rPr>
              <a:t>400K+</a:t>
            </a:r>
          </a:p>
        </p:txBody>
      </p:sp>
      <p:sp>
        <p:nvSpPr>
          <p:cNvPr id="53" name="Proof label 1"/>
          <p:cNvSpPr txBox="1"/>
          <p:nvPr/>
        </p:nvSpPr>
        <p:spPr>
          <a:xfrm>
            <a:off x="2487168" y="5893363"/>
            <a:ext cx="20574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C7BFE8"/>
                </a:solidFill>
                <a:latin typeface="Arial"/>
              </a:rPr>
              <a:t>companies using HiHello</a:t>
            </a:r>
          </a:p>
        </p:txBody>
      </p:sp>
      <p:sp>
        <p:nvSpPr>
          <p:cNvPr id="54" name="Proof divider 2"/>
          <p:cNvSpPr/>
          <p:nvPr/>
        </p:nvSpPr>
        <p:spPr>
          <a:xfrm>
            <a:off x="4453128" y="5559552"/>
            <a:ext cx="10972" cy="557784"/>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Proof value 2"/>
          <p:cNvSpPr txBox="1"/>
          <p:nvPr/>
        </p:nvSpPr>
        <p:spPr>
          <a:xfrm>
            <a:off x="4672584" y="5500003"/>
            <a:ext cx="1865376" cy="338554"/>
          </a:xfrm>
          <a:prstGeom prst="rect">
            <a:avLst/>
          </a:prstGeom>
          <a:noFill/>
        </p:spPr>
        <p:txBody>
          <a:bodyPr wrap="square" lIns="0" tIns="0" rIns="0" bIns="0" anchor="ctr">
            <a:spAutoFit/>
          </a:bodyPr>
          <a:lstStyle/>
          <a:p>
            <a:pPr algn="l">
              <a:lnSpc>
                <a:spcPct val="100000"/>
              </a:lnSpc>
              <a:spcBef>
                <a:spcPts val="0"/>
              </a:spcBef>
              <a:spcAft>
                <a:spcPts val="0"/>
              </a:spcAft>
            </a:pPr>
            <a:r>
              <a:rPr lang="en-US" sz="2200" b="1" i="0">
                <a:solidFill>
                  <a:srgbClr val="FFFFFF"/>
                </a:solidFill>
                <a:latin typeface="Calibri"/>
              </a:rPr>
              <a:t>64M+</a:t>
            </a:r>
          </a:p>
        </p:txBody>
      </p:sp>
      <p:sp>
        <p:nvSpPr>
          <p:cNvPr id="56" name="Proof label 2"/>
          <p:cNvSpPr txBox="1"/>
          <p:nvPr/>
        </p:nvSpPr>
        <p:spPr>
          <a:xfrm>
            <a:off x="4672584" y="5893363"/>
            <a:ext cx="20574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C7BFE8"/>
                </a:solidFill>
                <a:latin typeface="Arial"/>
              </a:rPr>
              <a:t>digital cards shared</a:t>
            </a:r>
          </a:p>
        </p:txBody>
      </p:sp>
      <p:sp>
        <p:nvSpPr>
          <p:cNvPr id="57" name="Proof divider 3"/>
          <p:cNvSpPr/>
          <p:nvPr/>
        </p:nvSpPr>
        <p:spPr>
          <a:xfrm>
            <a:off x="6638544" y="5559552"/>
            <a:ext cx="10972" cy="557784"/>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Proof value 3"/>
          <p:cNvSpPr txBox="1"/>
          <p:nvPr/>
        </p:nvSpPr>
        <p:spPr>
          <a:xfrm>
            <a:off x="6858000" y="5500003"/>
            <a:ext cx="1865376" cy="338554"/>
          </a:xfrm>
          <a:prstGeom prst="rect">
            <a:avLst/>
          </a:prstGeom>
          <a:noFill/>
        </p:spPr>
        <p:txBody>
          <a:bodyPr wrap="square" lIns="0" tIns="0" rIns="0" bIns="0" anchor="ctr">
            <a:spAutoFit/>
          </a:bodyPr>
          <a:lstStyle/>
          <a:p>
            <a:pPr algn="l">
              <a:lnSpc>
                <a:spcPct val="100000"/>
              </a:lnSpc>
              <a:spcBef>
                <a:spcPts val="0"/>
              </a:spcBef>
              <a:spcAft>
                <a:spcPts val="0"/>
              </a:spcAft>
            </a:pPr>
            <a:r>
              <a:rPr lang="en-US" sz="2200" b="1" i="0">
                <a:solidFill>
                  <a:srgbClr val="FFFFFF"/>
                </a:solidFill>
                <a:latin typeface="Calibri"/>
              </a:rPr>
              <a:t>3.8B+</a:t>
            </a:r>
          </a:p>
        </p:txBody>
      </p:sp>
      <p:sp>
        <p:nvSpPr>
          <p:cNvPr id="59" name="Proof label 3"/>
          <p:cNvSpPr txBox="1"/>
          <p:nvPr/>
        </p:nvSpPr>
        <p:spPr>
          <a:xfrm>
            <a:off x="6858000" y="5893363"/>
            <a:ext cx="20574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C7BFE8"/>
                </a:solidFill>
                <a:latin typeface="Arial"/>
              </a:rPr>
              <a:t>emails sent with signatures</a:t>
            </a:r>
          </a:p>
        </p:txBody>
      </p:sp>
      <p:sp>
        <p:nvSpPr>
          <p:cNvPr id="60" name="Proof divider 4"/>
          <p:cNvSpPr/>
          <p:nvPr/>
        </p:nvSpPr>
        <p:spPr>
          <a:xfrm>
            <a:off x="8988552" y="5559552"/>
            <a:ext cx="10972" cy="557784"/>
          </a:xfrm>
          <a:prstGeom prst="rect">
            <a:avLst/>
          </a:prstGeom>
          <a:solidFill>
            <a:srgbClr val="5A5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Proof value 4"/>
          <p:cNvSpPr txBox="1"/>
          <p:nvPr/>
        </p:nvSpPr>
        <p:spPr>
          <a:xfrm>
            <a:off x="9208008" y="5500003"/>
            <a:ext cx="1865376" cy="338554"/>
          </a:xfrm>
          <a:prstGeom prst="rect">
            <a:avLst/>
          </a:prstGeom>
          <a:noFill/>
        </p:spPr>
        <p:txBody>
          <a:bodyPr wrap="square" lIns="0" tIns="0" rIns="0" bIns="0" anchor="ctr">
            <a:spAutoFit/>
          </a:bodyPr>
          <a:lstStyle/>
          <a:p>
            <a:pPr algn="l">
              <a:lnSpc>
                <a:spcPct val="100000"/>
              </a:lnSpc>
              <a:spcBef>
                <a:spcPts val="0"/>
              </a:spcBef>
              <a:spcAft>
                <a:spcPts val="0"/>
              </a:spcAft>
            </a:pPr>
            <a:r>
              <a:rPr lang="en-US" sz="2200" b="1" i="0">
                <a:solidFill>
                  <a:srgbClr val="FFFFFF"/>
                </a:solidFill>
                <a:latin typeface="Calibri"/>
              </a:rPr>
              <a:t>90%+</a:t>
            </a:r>
          </a:p>
        </p:txBody>
      </p:sp>
      <p:sp>
        <p:nvSpPr>
          <p:cNvPr id="62" name="Proof label 4"/>
          <p:cNvSpPr txBox="1"/>
          <p:nvPr/>
        </p:nvSpPr>
        <p:spPr>
          <a:xfrm>
            <a:off x="9208008" y="5893363"/>
            <a:ext cx="20574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C7BFE8"/>
                </a:solidFill>
                <a:latin typeface="Arial"/>
              </a:rPr>
              <a:t>of the Fortune 500</a:t>
            </a:r>
          </a:p>
        </p:txBody>
      </p:sp>
      <p:sp>
        <p:nvSpPr>
          <p:cNvPr id="63" name="Footer"/>
          <p:cNvSpPr txBox="1"/>
          <p:nvPr/>
        </p:nvSpPr>
        <p:spPr>
          <a:xfrm>
            <a:off x="502920" y="6339578"/>
            <a:ext cx="10332720" cy="369332"/>
          </a:xfrm>
          <a:prstGeom prst="rect">
            <a:avLst/>
          </a:prstGeom>
          <a:noFill/>
        </p:spPr>
        <p:txBody>
          <a:bodyPr wrap="square" lIns="0" tIns="0" rIns="0" bIns="0" anchor="ctr">
            <a:spAutoFit/>
          </a:bodyPr>
          <a:lstStyle/>
          <a:p>
            <a:pPr algn="l">
              <a:lnSpc>
                <a:spcPct val="100000"/>
              </a:lnSpc>
              <a:spcBef>
                <a:spcPts val="0"/>
              </a:spcBef>
              <a:spcAft>
                <a:spcPts val="0"/>
              </a:spcAft>
            </a:pPr>
            <a:r>
              <a:rPr lang="en-US" sz="800" b="0" i="0" dirty="0">
                <a:solidFill>
                  <a:srgbClr val="8078B0"/>
                </a:solidFill>
                <a:latin typeface="Arial"/>
              </a:rPr>
              <a:t>Author: Shivam Singh (SHIV)  |  August 2026</a:t>
            </a:r>
          </a:p>
          <a:p>
            <a:pPr algn="l">
              <a:lnSpc>
                <a:spcPct val="100000"/>
              </a:lnSpc>
              <a:spcBef>
                <a:spcPts val="0"/>
              </a:spcBef>
              <a:spcAft>
                <a:spcPts val="0"/>
              </a:spcAft>
            </a:pPr>
            <a:r>
              <a:rPr lang="en-US" sz="800" b="0" i="0" dirty="0">
                <a:solidFill>
                  <a:srgbClr val="8078B0"/>
                </a:solidFill>
                <a:latin typeface="Arial"/>
              </a:rPr>
              <a:t>ACV = average annual contract value · Sourced pipeline = sales opportunities directly created by this program · Qualified opportunity = Sales-validated potential deal</a:t>
            </a:r>
          </a:p>
          <a:p>
            <a:pPr algn="l">
              <a:lnSpc>
                <a:spcPct val="100000"/>
              </a:lnSpc>
              <a:spcBef>
                <a:spcPts val="0"/>
              </a:spcBef>
              <a:spcAft>
                <a:spcPts val="0"/>
              </a:spcAft>
            </a:pPr>
            <a:r>
              <a:rPr lang="en-US" sz="800" b="0" i="0" dirty="0">
                <a:solidFill>
                  <a:srgbClr val="8078B0"/>
                </a:solidFill>
                <a:latin typeface="Arial"/>
              </a:rPr>
              <a:t>Key assumptions: 1,500 named accounts at a $45K ACV convert through the stated 24% / 40% / 50% funnel to 72 qualified opportunities and $3.24M in sourced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a:spLocks/>
          </p:cNvSpPr>
          <p:nvPr/>
        </p:nvSpPr>
        <p:spPr>
          <a:xfrm>
            <a:off x="502920" y="274320"/>
            <a:ext cx="7315200" cy="201168"/>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8A8194"/>
                </a:solidFill>
                <a:latin typeface="Arial"/>
              </a:rPr>
              <a:t>TARGETING</a:t>
            </a:r>
          </a:p>
        </p:txBody>
      </p:sp>
      <p:sp>
        <p:nvSpPr>
          <p:cNvPr id="3" name="Title"/>
          <p:cNvSpPr txBox="1">
            <a:spLocks/>
          </p:cNvSpPr>
          <p:nvPr/>
        </p:nvSpPr>
        <p:spPr>
          <a:xfrm>
            <a:off x="502920" y="520871"/>
            <a:ext cx="11183112" cy="384721"/>
          </a:xfrm>
          <a:prstGeom prst="rect">
            <a:avLst/>
          </a:prstGeom>
          <a:noFill/>
        </p:spPr>
        <p:txBody>
          <a:bodyPr wrap="square" lIns="0" tIns="0" rIns="0" bIns="0" anchor="ctr">
            <a:spAutoFit/>
          </a:bodyPr>
          <a:lstStyle/>
          <a:p>
            <a:pPr algn="l">
              <a:lnSpc>
                <a:spcPct val="100000"/>
              </a:lnSpc>
              <a:spcBef>
                <a:spcPts val="0"/>
              </a:spcBef>
              <a:spcAft>
                <a:spcPts val="0"/>
              </a:spcAft>
            </a:pPr>
            <a:r>
              <a:rPr lang="en-US" sz="2500" b="1" i="0" dirty="0">
                <a:solidFill>
                  <a:srgbClr val="191847"/>
                </a:solidFill>
                <a:latin typeface="Calibri"/>
              </a:rPr>
              <a:t>Score each account. Let the score guide marketing spend and sales effort.</a:t>
            </a:r>
          </a:p>
        </p:txBody>
      </p:sp>
      <p:sp>
        <p:nvSpPr>
          <p:cNvPr id="4" name="Subtitle"/>
          <p:cNvSpPr txBox="1">
            <a:spLocks/>
          </p:cNvSpPr>
          <p:nvPr/>
        </p:nvSpPr>
        <p:spPr>
          <a:xfrm>
            <a:off x="502920" y="987552"/>
            <a:ext cx="11183112" cy="274320"/>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0" i="0">
                <a:solidFill>
                  <a:srgbClr val="4A5568"/>
                </a:solidFill>
                <a:latin typeface="Arial"/>
              </a:rPr>
              <a:t>Product-Qualified Accounts decide who gets 1:1 ABM, programmes, retargeting—or no incremental investment.</a:t>
            </a:r>
          </a:p>
        </p:txBody>
      </p:sp>
      <p:sp>
        <p:nvSpPr>
          <p:cNvPr id="5" name="Header rule"/>
          <p:cNvSpPr/>
          <p:nvPr/>
        </p:nvSpPr>
        <p:spPr>
          <a:xfrm>
            <a:off x="502920" y="1389888"/>
            <a:ext cx="11183112" cy="13716"/>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Score heading"/>
          <p:cNvSpPr txBox="1">
            <a:spLocks/>
          </p:cNvSpPr>
          <p:nvPr/>
        </p:nvSpPr>
        <p:spPr>
          <a:xfrm>
            <a:off x="502920" y="1636831"/>
            <a:ext cx="466344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01 · BUILD A 100-POINT PQA SCORE</a:t>
            </a:r>
          </a:p>
        </p:txBody>
      </p:sp>
      <p:sp>
        <p:nvSpPr>
          <p:cNvPr id="7" name="Score backdrop"/>
          <p:cNvSpPr/>
          <p:nvPr/>
        </p:nvSpPr>
        <p:spPr>
          <a:xfrm>
            <a:off x="502920" y="1920240"/>
            <a:ext cx="1234440" cy="3520440"/>
          </a:xfrm>
          <a:prstGeom prst="rect">
            <a:avLst/>
          </a:prstGeom>
          <a:solidFill>
            <a:srgbClr val="F4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Score total"/>
          <p:cNvSpPr txBox="1">
            <a:spLocks/>
          </p:cNvSpPr>
          <p:nvPr/>
        </p:nvSpPr>
        <p:spPr>
          <a:xfrm>
            <a:off x="612648" y="2176272"/>
            <a:ext cx="1005840" cy="646331"/>
          </a:xfrm>
          <a:prstGeom prst="rect">
            <a:avLst/>
          </a:prstGeom>
          <a:noFill/>
        </p:spPr>
        <p:txBody>
          <a:bodyPr wrap="square" lIns="0" tIns="0" rIns="0" bIns="0" anchor="t">
            <a:spAutoFit/>
          </a:bodyPr>
          <a:lstStyle/>
          <a:p>
            <a:pPr algn="ctr">
              <a:lnSpc>
                <a:spcPct val="100000"/>
              </a:lnSpc>
              <a:spcBef>
                <a:spcPts val="0"/>
              </a:spcBef>
              <a:spcAft>
                <a:spcPts val="0"/>
              </a:spcAft>
            </a:pPr>
            <a:r>
              <a:rPr lang="en-US" sz="4200" b="1" i="0">
                <a:solidFill>
                  <a:srgbClr val="6C32CD"/>
                </a:solidFill>
                <a:latin typeface="Calibri"/>
              </a:rPr>
              <a:t>100</a:t>
            </a:r>
          </a:p>
        </p:txBody>
      </p:sp>
      <p:sp>
        <p:nvSpPr>
          <p:cNvPr id="9" name="Score total label"/>
          <p:cNvSpPr txBox="1">
            <a:spLocks/>
          </p:cNvSpPr>
          <p:nvPr/>
        </p:nvSpPr>
        <p:spPr>
          <a:xfrm>
            <a:off x="612648" y="2889504"/>
            <a:ext cx="1005840" cy="292388"/>
          </a:xfrm>
          <a:prstGeom prst="rect">
            <a:avLst/>
          </a:prstGeom>
          <a:noFill/>
        </p:spPr>
        <p:txBody>
          <a:bodyPr wrap="square" lIns="0" tIns="0" rIns="0" bIns="0" anchor="t">
            <a:spAutoFit/>
          </a:bodyPr>
          <a:lstStyle/>
          <a:p>
            <a:pPr algn="ctr">
              <a:lnSpc>
                <a:spcPct val="100000"/>
              </a:lnSpc>
              <a:spcBef>
                <a:spcPts val="0"/>
              </a:spcBef>
              <a:spcAft>
                <a:spcPts val="0"/>
              </a:spcAft>
            </a:pPr>
            <a:r>
              <a:rPr lang="en-US" sz="950" b="1" i="0">
                <a:solidFill>
                  <a:srgbClr val="6C32CD"/>
                </a:solidFill>
                <a:latin typeface="Calibri"/>
              </a:rPr>
              <a:t>POINTS</a:t>
            </a:r>
            <a:br>
              <a:rPr lang="en-US"/>
            </a:br>
            <a:r>
              <a:rPr lang="en-US" sz="950" b="1" i="0">
                <a:solidFill>
                  <a:srgbClr val="6C32CD"/>
                </a:solidFill>
                <a:latin typeface="Calibri"/>
              </a:rPr>
              <a:t>TOTAL</a:t>
            </a:r>
          </a:p>
        </p:txBody>
      </p:sp>
      <p:sp>
        <p:nvSpPr>
          <p:cNvPr id="10" name="Points 1"/>
          <p:cNvSpPr txBox="1">
            <a:spLocks/>
          </p:cNvSpPr>
          <p:nvPr/>
        </p:nvSpPr>
        <p:spPr>
          <a:xfrm>
            <a:off x="1947672" y="2029968"/>
            <a:ext cx="530352" cy="276999"/>
          </a:xfrm>
          <a:prstGeom prst="rect">
            <a:avLst/>
          </a:prstGeom>
          <a:noFill/>
        </p:spPr>
        <p:txBody>
          <a:bodyPr wrap="square" lIns="0" tIns="0" rIns="0" bIns="0" anchor="ctr">
            <a:spAutoFit/>
          </a:bodyPr>
          <a:lstStyle/>
          <a:p>
            <a:pPr algn="ctr">
              <a:lnSpc>
                <a:spcPct val="100000"/>
              </a:lnSpc>
              <a:spcBef>
                <a:spcPts val="0"/>
              </a:spcBef>
              <a:spcAft>
                <a:spcPts val="0"/>
              </a:spcAft>
            </a:pPr>
            <a:r>
              <a:rPr lang="en-US" sz="1800" b="1" i="0">
                <a:solidFill>
                  <a:srgbClr val="191847"/>
                </a:solidFill>
                <a:latin typeface="Calibri"/>
              </a:rPr>
              <a:t>30</a:t>
            </a:r>
          </a:p>
        </p:txBody>
      </p:sp>
      <p:sp>
        <p:nvSpPr>
          <p:cNvPr id="11" name="Criterion 1"/>
          <p:cNvSpPr txBox="1">
            <a:spLocks/>
          </p:cNvSpPr>
          <p:nvPr/>
        </p:nvSpPr>
        <p:spPr>
          <a:xfrm>
            <a:off x="2596896" y="2048256"/>
            <a:ext cx="2606040" cy="2846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PRODUCT USAGE DENSITY</a:t>
            </a:r>
          </a:p>
          <a:p>
            <a:pPr algn="l">
              <a:lnSpc>
                <a:spcPct val="100000"/>
              </a:lnSpc>
              <a:spcBef>
                <a:spcPts val="0"/>
              </a:spcBef>
              <a:spcAft>
                <a:spcPts val="0"/>
              </a:spcAft>
            </a:pPr>
            <a:r>
              <a:rPr lang="en-US" sz="900" b="0" i="0" dirty="0">
                <a:solidFill>
                  <a:srgbClr val="4A5568"/>
                </a:solidFill>
                <a:latin typeface="Arial"/>
              </a:rPr>
              <a:t>10+ active users on one email domain</a:t>
            </a:r>
          </a:p>
        </p:txBody>
      </p:sp>
      <p:sp>
        <p:nvSpPr>
          <p:cNvPr id="12" name="Criterion rule 1"/>
          <p:cNvSpPr/>
          <p:nvPr/>
        </p:nvSpPr>
        <p:spPr>
          <a:xfrm>
            <a:off x="1947672" y="2642616"/>
            <a:ext cx="3255264"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Points 2"/>
          <p:cNvSpPr txBox="1">
            <a:spLocks/>
          </p:cNvSpPr>
          <p:nvPr/>
        </p:nvSpPr>
        <p:spPr>
          <a:xfrm>
            <a:off x="1947672" y="2715768"/>
            <a:ext cx="530352" cy="276999"/>
          </a:xfrm>
          <a:prstGeom prst="rect">
            <a:avLst/>
          </a:prstGeom>
          <a:noFill/>
        </p:spPr>
        <p:txBody>
          <a:bodyPr wrap="square" lIns="0" tIns="0" rIns="0" bIns="0" anchor="ctr">
            <a:spAutoFit/>
          </a:bodyPr>
          <a:lstStyle/>
          <a:p>
            <a:pPr algn="ctr">
              <a:lnSpc>
                <a:spcPct val="100000"/>
              </a:lnSpc>
              <a:spcBef>
                <a:spcPts val="0"/>
              </a:spcBef>
              <a:spcAft>
                <a:spcPts val="0"/>
              </a:spcAft>
            </a:pPr>
            <a:r>
              <a:rPr lang="en-US" sz="1800" b="1" i="0">
                <a:solidFill>
                  <a:srgbClr val="191847"/>
                </a:solidFill>
                <a:latin typeface="Calibri"/>
              </a:rPr>
              <a:t>25</a:t>
            </a:r>
          </a:p>
        </p:txBody>
      </p:sp>
      <p:sp>
        <p:nvSpPr>
          <p:cNvPr id="14" name="Criterion 2"/>
          <p:cNvSpPr txBox="1">
            <a:spLocks/>
          </p:cNvSpPr>
          <p:nvPr/>
        </p:nvSpPr>
        <p:spPr>
          <a:xfrm>
            <a:off x="2596896" y="2724912"/>
            <a:ext cx="2606040" cy="4231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INTENT EVENTS</a:t>
            </a:r>
            <a:r>
              <a:rPr lang="en-US" sz="950" b="1" i="0">
                <a:solidFill>
                  <a:srgbClr val="191847"/>
                </a:solidFill>
                <a:latin typeface="Arial"/>
              </a:rPr>
              <a:t> &amp; </a:t>
            </a:r>
            <a:r>
              <a:rPr lang="en-US" sz="950" b="1" i="0" dirty="0">
                <a:solidFill>
                  <a:srgbClr val="191847"/>
                </a:solidFill>
                <a:latin typeface="Arial"/>
              </a:rPr>
              <a:t>BUYING SIGNALS</a:t>
            </a:r>
          </a:p>
          <a:p>
            <a:pPr algn="l">
              <a:lnSpc>
                <a:spcPct val="100000"/>
              </a:lnSpc>
              <a:spcBef>
                <a:spcPts val="0"/>
              </a:spcBef>
              <a:spcAft>
                <a:spcPts val="0"/>
              </a:spcAft>
            </a:pPr>
            <a:r>
              <a:rPr lang="en-US" sz="900" b="0" i="0" dirty="0">
                <a:solidFill>
                  <a:srgbClr val="4A5568"/>
                </a:solidFill>
                <a:latin typeface="Arial"/>
              </a:rPr>
              <a:t>Pricing CTA, audit start, demo or webinar in the last 14 days</a:t>
            </a:r>
          </a:p>
        </p:txBody>
      </p:sp>
      <p:sp>
        <p:nvSpPr>
          <p:cNvPr id="15" name="Criterion rule 2"/>
          <p:cNvSpPr/>
          <p:nvPr/>
        </p:nvSpPr>
        <p:spPr>
          <a:xfrm>
            <a:off x="1947672" y="3328416"/>
            <a:ext cx="3255264"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Points 3"/>
          <p:cNvSpPr txBox="1">
            <a:spLocks/>
          </p:cNvSpPr>
          <p:nvPr/>
        </p:nvSpPr>
        <p:spPr>
          <a:xfrm>
            <a:off x="1947672" y="3401568"/>
            <a:ext cx="530352" cy="276999"/>
          </a:xfrm>
          <a:prstGeom prst="rect">
            <a:avLst/>
          </a:prstGeom>
          <a:noFill/>
        </p:spPr>
        <p:txBody>
          <a:bodyPr wrap="square" lIns="0" tIns="0" rIns="0" bIns="0" anchor="ctr">
            <a:spAutoFit/>
          </a:bodyPr>
          <a:lstStyle/>
          <a:p>
            <a:pPr algn="ctr">
              <a:lnSpc>
                <a:spcPct val="100000"/>
              </a:lnSpc>
              <a:spcBef>
                <a:spcPts val="0"/>
              </a:spcBef>
              <a:spcAft>
                <a:spcPts val="0"/>
              </a:spcAft>
            </a:pPr>
            <a:r>
              <a:rPr lang="en-US" sz="1800" b="1" i="0">
                <a:solidFill>
                  <a:srgbClr val="191847"/>
                </a:solidFill>
                <a:latin typeface="Calibri"/>
              </a:rPr>
              <a:t>20</a:t>
            </a:r>
          </a:p>
        </p:txBody>
      </p:sp>
      <p:sp>
        <p:nvSpPr>
          <p:cNvPr id="17" name="Criterion 3"/>
          <p:cNvSpPr txBox="1">
            <a:spLocks/>
          </p:cNvSpPr>
          <p:nvPr/>
        </p:nvSpPr>
        <p:spPr>
          <a:xfrm>
            <a:off x="2596896" y="3383280"/>
            <a:ext cx="2606040" cy="4231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TRIGGER</a:t>
            </a:r>
          </a:p>
          <a:p>
            <a:pPr algn="l">
              <a:lnSpc>
                <a:spcPct val="100000"/>
              </a:lnSpc>
              <a:spcBef>
                <a:spcPts val="0"/>
              </a:spcBef>
              <a:spcAft>
                <a:spcPts val="0"/>
              </a:spcAft>
            </a:pPr>
            <a:r>
              <a:rPr lang="en-US" sz="900" b="0" i="0" dirty="0">
                <a:solidFill>
                  <a:srgbClr val="4A5568"/>
                </a:solidFill>
                <a:latin typeface="Arial"/>
              </a:rPr>
              <a:t>Rebrand, M&amp;A, new CMO, funding round or a Tier 1 field event</a:t>
            </a:r>
          </a:p>
        </p:txBody>
      </p:sp>
      <p:sp>
        <p:nvSpPr>
          <p:cNvPr id="18" name="Criterion rule 3"/>
          <p:cNvSpPr/>
          <p:nvPr/>
        </p:nvSpPr>
        <p:spPr>
          <a:xfrm>
            <a:off x="1947672" y="4014216"/>
            <a:ext cx="3255264"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oints 4"/>
          <p:cNvSpPr txBox="1">
            <a:spLocks/>
          </p:cNvSpPr>
          <p:nvPr/>
        </p:nvSpPr>
        <p:spPr>
          <a:xfrm>
            <a:off x="1947672" y="4087368"/>
            <a:ext cx="530352" cy="276999"/>
          </a:xfrm>
          <a:prstGeom prst="rect">
            <a:avLst/>
          </a:prstGeom>
          <a:noFill/>
        </p:spPr>
        <p:txBody>
          <a:bodyPr wrap="square" lIns="0" tIns="0" rIns="0" bIns="0" anchor="ctr">
            <a:spAutoFit/>
          </a:bodyPr>
          <a:lstStyle/>
          <a:p>
            <a:pPr algn="ctr">
              <a:lnSpc>
                <a:spcPct val="100000"/>
              </a:lnSpc>
              <a:spcBef>
                <a:spcPts val="0"/>
              </a:spcBef>
              <a:spcAft>
                <a:spcPts val="0"/>
              </a:spcAft>
            </a:pPr>
            <a:r>
              <a:rPr lang="en-US" sz="1800" b="1" i="0">
                <a:solidFill>
                  <a:srgbClr val="191847"/>
                </a:solidFill>
                <a:latin typeface="Calibri"/>
              </a:rPr>
              <a:t>15</a:t>
            </a:r>
          </a:p>
        </p:txBody>
      </p:sp>
      <p:sp>
        <p:nvSpPr>
          <p:cNvPr id="20" name="Criterion 4"/>
          <p:cNvSpPr txBox="1">
            <a:spLocks/>
          </p:cNvSpPr>
          <p:nvPr/>
        </p:nvSpPr>
        <p:spPr>
          <a:xfrm>
            <a:off x="2596896" y="4078224"/>
            <a:ext cx="2606040" cy="4231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a:solidFill>
                  <a:srgbClr val="191847"/>
                </a:solidFill>
                <a:latin typeface="Arial"/>
              </a:rPr>
              <a:t>COMPANY</a:t>
            </a:r>
            <a:r>
              <a:rPr lang="en-US" sz="950" b="1" i="0" dirty="0">
                <a:solidFill>
                  <a:srgbClr val="191847"/>
                </a:solidFill>
                <a:latin typeface="Arial"/>
              </a:rPr>
              <a:t> FIT</a:t>
            </a:r>
          </a:p>
          <a:p>
            <a:pPr algn="l">
              <a:lnSpc>
                <a:spcPct val="100000"/>
              </a:lnSpc>
              <a:spcBef>
                <a:spcPts val="0"/>
              </a:spcBef>
              <a:spcAft>
                <a:spcPts val="0"/>
              </a:spcAft>
            </a:pPr>
            <a:r>
              <a:rPr lang="en-US" sz="900" b="0" i="0" dirty="0">
                <a:solidFill>
                  <a:srgbClr val="4A5568"/>
                </a:solidFill>
                <a:latin typeface="Arial"/>
              </a:rPr>
              <a:t>250+ employees; distributed, field-heavy or regulated</a:t>
            </a:r>
          </a:p>
        </p:txBody>
      </p:sp>
      <p:sp>
        <p:nvSpPr>
          <p:cNvPr id="21" name="Criterion rule 4"/>
          <p:cNvSpPr/>
          <p:nvPr/>
        </p:nvSpPr>
        <p:spPr>
          <a:xfrm>
            <a:off x="1947672" y="4700016"/>
            <a:ext cx="3255264"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Points 5"/>
          <p:cNvSpPr txBox="1">
            <a:spLocks/>
          </p:cNvSpPr>
          <p:nvPr/>
        </p:nvSpPr>
        <p:spPr>
          <a:xfrm>
            <a:off x="1947672" y="4773168"/>
            <a:ext cx="530352" cy="276999"/>
          </a:xfrm>
          <a:prstGeom prst="rect">
            <a:avLst/>
          </a:prstGeom>
          <a:noFill/>
        </p:spPr>
        <p:txBody>
          <a:bodyPr wrap="square" lIns="0" tIns="0" rIns="0" bIns="0" anchor="ctr">
            <a:spAutoFit/>
          </a:bodyPr>
          <a:lstStyle/>
          <a:p>
            <a:pPr algn="ctr">
              <a:lnSpc>
                <a:spcPct val="100000"/>
              </a:lnSpc>
              <a:spcBef>
                <a:spcPts val="0"/>
              </a:spcBef>
              <a:spcAft>
                <a:spcPts val="0"/>
              </a:spcAft>
            </a:pPr>
            <a:r>
              <a:rPr lang="en-US" sz="1800" b="1" i="0">
                <a:solidFill>
                  <a:srgbClr val="191847"/>
                </a:solidFill>
                <a:latin typeface="Calibri"/>
              </a:rPr>
              <a:t>10</a:t>
            </a:r>
          </a:p>
        </p:txBody>
      </p:sp>
      <p:sp>
        <p:nvSpPr>
          <p:cNvPr id="23" name="Criterion 5"/>
          <p:cNvSpPr txBox="1">
            <a:spLocks/>
          </p:cNvSpPr>
          <p:nvPr/>
        </p:nvSpPr>
        <p:spPr>
          <a:xfrm>
            <a:off x="2596896" y="4800600"/>
            <a:ext cx="2606040" cy="4231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RECENCY</a:t>
            </a:r>
          </a:p>
          <a:p>
            <a:pPr algn="l">
              <a:lnSpc>
                <a:spcPct val="100000"/>
              </a:lnSpc>
              <a:spcBef>
                <a:spcPts val="0"/>
              </a:spcBef>
              <a:spcAft>
                <a:spcPts val="0"/>
              </a:spcAft>
            </a:pPr>
            <a:r>
              <a:rPr lang="en-US" sz="900" b="0" i="0" dirty="0">
                <a:solidFill>
                  <a:srgbClr val="4A5568"/>
                </a:solidFill>
                <a:latin typeface="Arial"/>
              </a:rPr>
              <a:t>Any qualifying event</a:t>
            </a:r>
            <a:r>
              <a:rPr lang="en-US" sz="900" b="0" i="0">
                <a:solidFill>
                  <a:srgbClr val="4A5568"/>
                </a:solidFill>
                <a:latin typeface="Arial"/>
              </a:rPr>
              <a:t> (</a:t>
            </a:r>
            <a:r>
              <a:rPr lang="en-US" sz="900" b="0" i="0" dirty="0">
                <a:solidFill>
                  <a:srgbClr val="4A5568"/>
                </a:solidFill>
                <a:latin typeface="Arial"/>
              </a:rPr>
              <a:t>strong signal) in the last 7 days</a:t>
            </a:r>
          </a:p>
        </p:txBody>
      </p:sp>
      <p:sp>
        <p:nvSpPr>
          <p:cNvPr id="24" name="Refresh note"/>
          <p:cNvSpPr txBox="1">
            <a:spLocks/>
          </p:cNvSpPr>
          <p:nvPr/>
        </p:nvSpPr>
        <p:spPr>
          <a:xfrm>
            <a:off x="502920" y="5925312"/>
            <a:ext cx="4700016"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8A8194"/>
                </a:solidFill>
                <a:latin typeface="Arial"/>
              </a:rPr>
              <a:t>REFRESH WEEKLY  ·  Re-weight quarterly against Salesforce win/loss disposition.</a:t>
            </a:r>
          </a:p>
        </p:txBody>
      </p:sp>
      <p:sp>
        <p:nvSpPr>
          <p:cNvPr id="25" name="Main divider"/>
          <p:cNvSpPr/>
          <p:nvPr/>
        </p:nvSpPr>
        <p:spPr>
          <a:xfrm>
            <a:off x="5449824" y="1609344"/>
            <a:ext cx="10972" cy="44622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Wedge heading"/>
          <p:cNvSpPr txBox="1">
            <a:spLocks/>
          </p:cNvSpPr>
          <p:nvPr/>
        </p:nvSpPr>
        <p:spPr>
          <a:xfrm>
            <a:off x="5715000" y="1636831"/>
            <a:ext cx="5971032"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dirty="0">
                <a:solidFill>
                  <a:srgbClr val="6C32CD"/>
                </a:solidFill>
                <a:latin typeface="Arial"/>
              </a:rPr>
              <a:t>02 · START/ENTER THROUGH A TRIGGER-LED WEDGE</a:t>
            </a:r>
            <a:r>
              <a:rPr lang="en-US" sz="950" b="1" i="0">
                <a:solidFill>
                  <a:srgbClr val="6C32CD"/>
                </a:solidFill>
                <a:latin typeface="Arial"/>
              </a:rPr>
              <a:t> (</a:t>
            </a:r>
            <a:r>
              <a:rPr lang="en-US" sz="950" b="1" i="0" dirty="0">
                <a:solidFill>
                  <a:srgbClr val="6C32CD"/>
                </a:solidFill>
                <a:latin typeface="Arial"/>
              </a:rPr>
              <a:t>CLEAR BUYING TRIGGER)</a:t>
            </a:r>
          </a:p>
        </p:txBody>
      </p:sp>
      <p:sp>
        <p:nvSpPr>
          <p:cNvPr id="27" name="Wedge accent 1"/>
          <p:cNvSpPr/>
          <p:nvPr/>
        </p:nvSpPr>
        <p:spPr>
          <a:xfrm>
            <a:off x="5715000" y="1947672"/>
            <a:ext cx="1719072" cy="32004"/>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Wedge title 1"/>
          <p:cNvSpPr txBox="1">
            <a:spLocks/>
          </p:cNvSpPr>
          <p:nvPr/>
        </p:nvSpPr>
        <p:spPr>
          <a:xfrm>
            <a:off x="5715000" y="2075688"/>
            <a:ext cx="1719072" cy="323165"/>
          </a:xfrm>
          <a:prstGeom prst="rect">
            <a:avLst/>
          </a:prstGeom>
          <a:noFill/>
        </p:spPr>
        <p:txBody>
          <a:bodyPr wrap="square" lIns="0" tIns="0" rIns="0" bIns="0" anchor="t">
            <a:spAutoFit/>
          </a:bodyPr>
          <a:lstStyle/>
          <a:p>
            <a:pPr algn="l">
              <a:lnSpc>
                <a:spcPct val="100000"/>
              </a:lnSpc>
              <a:spcBef>
                <a:spcPts val="0"/>
              </a:spcBef>
              <a:spcAft>
                <a:spcPts val="0"/>
              </a:spcAft>
            </a:pPr>
            <a:r>
              <a:rPr lang="en-US" sz="1050" b="1" i="0">
                <a:solidFill>
                  <a:srgbClr val="6C32CD"/>
                </a:solidFill>
                <a:latin typeface="Arial"/>
              </a:rPr>
              <a:t>BRAND CHANGE</a:t>
            </a:r>
            <a:br>
              <a:rPr lang="en-US"/>
            </a:br>
            <a:r>
              <a:rPr lang="en-US" sz="1050" b="1" i="0">
                <a:solidFill>
                  <a:srgbClr val="6C32CD"/>
                </a:solidFill>
                <a:latin typeface="Arial"/>
              </a:rPr>
              <a:t>&amp; GOVERNANCE</a:t>
            </a:r>
          </a:p>
        </p:txBody>
      </p:sp>
      <p:sp>
        <p:nvSpPr>
          <p:cNvPr id="29" name="Wedge body 1"/>
          <p:cNvSpPr txBox="1">
            <a:spLocks/>
          </p:cNvSpPr>
          <p:nvPr/>
        </p:nvSpPr>
        <p:spPr>
          <a:xfrm>
            <a:off x="5715000" y="2691568"/>
            <a:ext cx="1719072" cy="276999"/>
          </a:xfrm>
          <a:prstGeom prst="rect">
            <a:avLst/>
          </a:prstGeom>
          <a:noFill/>
        </p:spPr>
        <p:txBody>
          <a:bodyPr wrap="square" lIns="0" tIns="0" rIns="0" bIns="0" anchor="ctr">
            <a:spAutoFit/>
          </a:bodyPr>
          <a:lstStyle/>
          <a:p>
            <a:pPr algn="l">
              <a:lnSpc>
                <a:spcPct val="100000"/>
              </a:lnSpc>
              <a:spcBef>
                <a:spcPts val="0"/>
              </a:spcBef>
              <a:spcAft>
                <a:spcPts val="0"/>
              </a:spcAft>
            </a:pPr>
            <a:r>
              <a:rPr lang="it-IT" sz="900" b="0" i="0">
                <a:solidFill>
                  <a:srgbClr val="1A1325"/>
                </a:solidFill>
                <a:latin typeface="Arial"/>
              </a:rPr>
              <a:t>Rebrand, M&amp;A, multi-brand portfolio</a:t>
            </a:r>
          </a:p>
        </p:txBody>
      </p:sp>
      <p:sp>
        <p:nvSpPr>
          <p:cNvPr id="30" name="Wedge buyer 1"/>
          <p:cNvSpPr txBox="1">
            <a:spLocks/>
          </p:cNvSpPr>
          <p:nvPr/>
        </p:nvSpPr>
        <p:spPr>
          <a:xfrm>
            <a:off x="5715000" y="3126578"/>
            <a:ext cx="17190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4A5568"/>
                </a:solidFill>
                <a:latin typeface="Arial"/>
              </a:rPr>
              <a:t>CMO / VP Brand</a:t>
            </a:r>
          </a:p>
        </p:txBody>
      </p:sp>
      <p:sp>
        <p:nvSpPr>
          <p:cNvPr id="31" name="Wedge accent 2"/>
          <p:cNvSpPr/>
          <p:nvPr/>
        </p:nvSpPr>
        <p:spPr>
          <a:xfrm>
            <a:off x="7744968" y="1947672"/>
            <a:ext cx="1719072" cy="32004"/>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Wedge title 2"/>
          <p:cNvSpPr txBox="1">
            <a:spLocks/>
          </p:cNvSpPr>
          <p:nvPr/>
        </p:nvSpPr>
        <p:spPr>
          <a:xfrm>
            <a:off x="7744968" y="2075688"/>
            <a:ext cx="1719072" cy="323165"/>
          </a:xfrm>
          <a:prstGeom prst="rect">
            <a:avLst/>
          </a:prstGeom>
          <a:noFill/>
        </p:spPr>
        <p:txBody>
          <a:bodyPr wrap="square" lIns="0" tIns="0" rIns="0" bIns="0" anchor="t">
            <a:spAutoFit/>
          </a:bodyPr>
          <a:lstStyle/>
          <a:p>
            <a:pPr algn="l">
              <a:lnSpc>
                <a:spcPct val="100000"/>
              </a:lnSpc>
              <a:spcBef>
                <a:spcPts val="0"/>
              </a:spcBef>
              <a:spcAft>
                <a:spcPts val="0"/>
              </a:spcAft>
            </a:pPr>
            <a:r>
              <a:rPr lang="en-US" sz="1050" b="1" i="0">
                <a:solidFill>
                  <a:srgbClr val="6C32CD"/>
                </a:solidFill>
                <a:latin typeface="Arial"/>
              </a:rPr>
              <a:t>REVENUE</a:t>
            </a:r>
            <a:br>
              <a:rPr lang="en-US"/>
            </a:br>
            <a:r>
              <a:rPr lang="en-US" sz="1050" b="1" i="0">
                <a:solidFill>
                  <a:srgbClr val="6C32CD"/>
                </a:solidFill>
                <a:latin typeface="Arial"/>
              </a:rPr>
              <a:t>MOMENTS</a:t>
            </a:r>
          </a:p>
        </p:txBody>
      </p:sp>
      <p:sp>
        <p:nvSpPr>
          <p:cNvPr id="33" name="Wedge body 2"/>
          <p:cNvSpPr txBox="1">
            <a:spLocks/>
          </p:cNvSpPr>
          <p:nvPr/>
        </p:nvSpPr>
        <p:spPr>
          <a:xfrm>
            <a:off x="7744968" y="2691568"/>
            <a:ext cx="1719072"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1A1325"/>
                </a:solidFill>
                <a:latin typeface="Arial"/>
              </a:rPr>
              <a:t>Field events, partner events, recruiting</a:t>
            </a:r>
          </a:p>
        </p:txBody>
      </p:sp>
      <p:sp>
        <p:nvSpPr>
          <p:cNvPr id="34" name="Wedge buyer 2"/>
          <p:cNvSpPr txBox="1">
            <a:spLocks/>
          </p:cNvSpPr>
          <p:nvPr/>
        </p:nvSpPr>
        <p:spPr>
          <a:xfrm>
            <a:off x="7744968" y="3126578"/>
            <a:ext cx="17190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4A5568"/>
                </a:solidFill>
                <a:latin typeface="Arial"/>
              </a:rPr>
              <a:t>Field Marketing / RevOps</a:t>
            </a:r>
          </a:p>
        </p:txBody>
      </p:sp>
      <p:sp>
        <p:nvSpPr>
          <p:cNvPr id="35" name="Wedge accent 3"/>
          <p:cNvSpPr/>
          <p:nvPr/>
        </p:nvSpPr>
        <p:spPr>
          <a:xfrm>
            <a:off x="9774936" y="1947672"/>
            <a:ext cx="1719072" cy="32004"/>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Wedge title 3"/>
          <p:cNvSpPr txBox="1">
            <a:spLocks/>
          </p:cNvSpPr>
          <p:nvPr/>
        </p:nvSpPr>
        <p:spPr>
          <a:xfrm>
            <a:off x="9774936" y="2075688"/>
            <a:ext cx="1719072" cy="323165"/>
          </a:xfrm>
          <a:prstGeom prst="rect">
            <a:avLst/>
          </a:prstGeom>
          <a:noFill/>
        </p:spPr>
        <p:txBody>
          <a:bodyPr wrap="square" lIns="0" tIns="0" rIns="0" bIns="0" anchor="t">
            <a:spAutoFit/>
          </a:bodyPr>
          <a:lstStyle/>
          <a:p>
            <a:pPr algn="l">
              <a:lnSpc>
                <a:spcPct val="100000"/>
              </a:lnSpc>
              <a:spcBef>
                <a:spcPts val="0"/>
              </a:spcBef>
              <a:spcAft>
                <a:spcPts val="0"/>
              </a:spcAft>
            </a:pPr>
            <a:r>
              <a:rPr lang="en-US" sz="1050" b="1" i="0">
                <a:solidFill>
                  <a:srgbClr val="6C32CD"/>
                </a:solidFill>
                <a:latin typeface="Arial"/>
              </a:rPr>
              <a:t>REGULATED OR</a:t>
            </a:r>
            <a:br>
              <a:rPr lang="en-US"/>
            </a:br>
            <a:r>
              <a:rPr lang="en-US" sz="1050" b="1" i="0">
                <a:solidFill>
                  <a:srgbClr val="6C32CD"/>
                </a:solidFill>
                <a:latin typeface="Arial"/>
              </a:rPr>
              <a:t>DISTRIBUTED TEAMS</a:t>
            </a:r>
          </a:p>
        </p:txBody>
      </p:sp>
      <p:sp>
        <p:nvSpPr>
          <p:cNvPr id="37" name="Wedge body 3"/>
          <p:cNvSpPr txBox="1">
            <a:spLocks/>
          </p:cNvSpPr>
          <p:nvPr/>
        </p:nvSpPr>
        <p:spPr>
          <a:xfrm>
            <a:off x="9774936" y="2691568"/>
            <a:ext cx="1719072"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1A1325"/>
                </a:solidFill>
                <a:latin typeface="Arial"/>
              </a:rPr>
              <a:t>Financial services, insurance, real estate, healthcare</a:t>
            </a:r>
          </a:p>
        </p:txBody>
      </p:sp>
      <p:sp>
        <p:nvSpPr>
          <p:cNvPr id="38" name="Wedge buyer 3"/>
          <p:cNvSpPr txBox="1">
            <a:spLocks/>
          </p:cNvSpPr>
          <p:nvPr/>
        </p:nvSpPr>
        <p:spPr>
          <a:xfrm>
            <a:off x="9774936" y="3126578"/>
            <a:ext cx="17190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4A5568"/>
                </a:solidFill>
                <a:latin typeface="Arial"/>
              </a:rPr>
              <a:t>IT / Security + Marketing</a:t>
            </a:r>
          </a:p>
        </p:txBody>
      </p:sp>
      <p:sp>
        <p:nvSpPr>
          <p:cNvPr id="39" name="Wedge tier divider"/>
          <p:cNvSpPr/>
          <p:nvPr/>
        </p:nvSpPr>
        <p:spPr>
          <a:xfrm>
            <a:off x="5715000" y="3493008"/>
            <a:ext cx="5971032" cy="13716"/>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Tier heading"/>
          <p:cNvSpPr txBox="1">
            <a:spLocks/>
          </p:cNvSpPr>
          <p:nvPr/>
        </p:nvSpPr>
        <p:spPr>
          <a:xfrm>
            <a:off x="5715000" y="3666799"/>
            <a:ext cx="5971032"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29744C"/>
                </a:solidFill>
                <a:latin typeface="Arial"/>
              </a:rPr>
              <a:t>03 · MATCH SALES TREATMENT TO SCORE</a:t>
            </a:r>
          </a:p>
        </p:txBody>
      </p:sp>
      <p:sp>
        <p:nvSpPr>
          <p:cNvPr id="41" name="Tier labels"/>
          <p:cNvSpPr txBox="1">
            <a:spLocks/>
          </p:cNvSpPr>
          <p:nvPr/>
        </p:nvSpPr>
        <p:spPr>
          <a:xfrm>
            <a:off x="5916168" y="3952951"/>
            <a:ext cx="1755648" cy="130759"/>
          </a:xfrm>
          <a:prstGeom prst="rect">
            <a:avLst/>
          </a:prstGeom>
          <a:noFill/>
        </p:spPr>
        <p:txBody>
          <a:bodyPr wrap="square" lIns="0" tIns="0" rIns="0" bIns="0" anchor="ctr">
            <a:spAutoFit/>
          </a:bodyPr>
          <a:lstStyle/>
          <a:p>
            <a:pPr algn="l">
              <a:lnSpc>
                <a:spcPct val="100000"/>
              </a:lnSpc>
              <a:spcBef>
                <a:spcPts val="0"/>
              </a:spcBef>
              <a:spcAft>
                <a:spcPts val="0"/>
              </a:spcAft>
            </a:pPr>
            <a:r>
              <a:rPr lang="en-US" sz="850" b="1" i="0">
                <a:solidFill>
                  <a:srgbClr val="8A8194"/>
                </a:solidFill>
                <a:latin typeface="Arial"/>
              </a:rPr>
              <a:t>TIER / SCALE</a:t>
            </a:r>
          </a:p>
        </p:txBody>
      </p:sp>
      <p:sp>
        <p:nvSpPr>
          <p:cNvPr id="42" name="Tier accent 1"/>
          <p:cNvSpPr/>
          <p:nvPr/>
        </p:nvSpPr>
        <p:spPr>
          <a:xfrm>
            <a:off x="5715000" y="4169663"/>
            <a:ext cx="54864" cy="438912"/>
          </a:xfrm>
          <a:prstGeom prst="rect">
            <a:avLst/>
          </a:prstGeom>
          <a:solidFill>
            <a:srgbClr val="2974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Tier name 1"/>
          <p:cNvSpPr txBox="1">
            <a:spLocks/>
          </p:cNvSpPr>
          <p:nvPr/>
        </p:nvSpPr>
        <p:spPr>
          <a:xfrm>
            <a:off x="5916168" y="4200049"/>
            <a:ext cx="713232"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1" i="0">
                <a:solidFill>
                  <a:srgbClr val="29744C"/>
                </a:solidFill>
                <a:latin typeface="Arial"/>
              </a:rPr>
              <a:t>Tier 1</a:t>
            </a:r>
          </a:p>
        </p:txBody>
      </p:sp>
      <p:sp>
        <p:nvSpPr>
          <p:cNvPr id="44" name="Tier count 1"/>
          <p:cNvSpPr txBox="1">
            <a:spLocks/>
          </p:cNvSpPr>
          <p:nvPr/>
        </p:nvSpPr>
        <p:spPr>
          <a:xfrm>
            <a:off x="6629400" y="4169663"/>
            <a:ext cx="1042415" cy="246888"/>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191847"/>
                </a:solidFill>
                <a:latin typeface="Arial"/>
              </a:rPr>
              <a:t>150 accounts</a:t>
            </a:r>
          </a:p>
        </p:txBody>
      </p:sp>
      <p:sp>
        <p:nvSpPr>
          <p:cNvPr id="45" name="Tier score 1"/>
          <p:cNvSpPr txBox="1">
            <a:spLocks/>
          </p:cNvSpPr>
          <p:nvPr/>
        </p:nvSpPr>
        <p:spPr>
          <a:xfrm>
            <a:off x="7818120" y="4169663"/>
            <a:ext cx="603504" cy="246888"/>
          </a:xfrm>
          <a:prstGeom prst="rect">
            <a:avLst/>
          </a:prstGeom>
          <a:noFill/>
        </p:spPr>
        <p:txBody>
          <a:bodyPr wrap="square" lIns="0" tIns="0" rIns="0" bIns="0" anchor="ctr">
            <a:spAutoFit/>
          </a:bodyPr>
          <a:lstStyle/>
          <a:p>
            <a:pPr algn="ctr">
              <a:lnSpc>
                <a:spcPct val="100000"/>
              </a:lnSpc>
              <a:spcBef>
                <a:spcPts val="0"/>
              </a:spcBef>
              <a:spcAft>
                <a:spcPts val="0"/>
              </a:spcAft>
            </a:pPr>
            <a:r>
              <a:rPr lang="en-US" sz="1600" b="1" i="0">
                <a:solidFill>
                  <a:srgbClr val="191847"/>
                </a:solidFill>
                <a:latin typeface="Calibri"/>
              </a:rPr>
              <a:t>75+</a:t>
            </a:r>
          </a:p>
        </p:txBody>
      </p:sp>
      <p:sp>
        <p:nvSpPr>
          <p:cNvPr id="46" name="Tier treatment 1"/>
          <p:cNvSpPr txBox="1">
            <a:spLocks/>
          </p:cNvSpPr>
          <p:nvPr/>
        </p:nvSpPr>
        <p:spPr>
          <a:xfrm>
            <a:off x="8641080" y="4169663"/>
            <a:ext cx="3044952" cy="284693"/>
          </a:xfrm>
          <a:prstGeom prst="rect">
            <a:avLst/>
          </a:prstGeom>
          <a:noFill/>
        </p:spPr>
        <p:txBody>
          <a:bodyPr wrap="square" lIns="0" tIns="0" rIns="0" bIns="0" anchor="t">
            <a:spAutoFit/>
          </a:bodyPr>
          <a:lstStyle/>
          <a:p>
            <a:pPr algn="l">
              <a:lnSpc>
                <a:spcPct val="100000"/>
              </a:lnSpc>
              <a:spcBef>
                <a:spcPts val="0"/>
              </a:spcBef>
              <a:spcAft>
                <a:spcPts val="0"/>
              </a:spcAft>
            </a:pPr>
            <a:r>
              <a:rPr lang="nn-NO" sz="950" b="1" i="0">
                <a:solidFill>
                  <a:srgbClr val="191847"/>
                </a:solidFill>
                <a:latin typeface="Arial"/>
              </a:rPr>
              <a:t>1:1 ABM · custom Audit · SDR fast lane</a:t>
            </a:r>
          </a:p>
          <a:p>
            <a:pPr algn="l">
              <a:lnSpc>
                <a:spcPct val="100000"/>
              </a:lnSpc>
              <a:spcBef>
                <a:spcPts val="0"/>
              </a:spcBef>
              <a:spcAft>
                <a:spcPts val="0"/>
              </a:spcAft>
            </a:pPr>
            <a:r>
              <a:rPr lang="nn-NO" sz="900" b="1" i="0">
                <a:solidFill>
                  <a:srgbClr val="29744C"/>
                </a:solidFill>
                <a:latin typeface="Arial"/>
              </a:rPr>
              <a:t>4-HOUR RESPONSE SLA</a:t>
            </a:r>
          </a:p>
        </p:txBody>
      </p:sp>
      <p:sp>
        <p:nvSpPr>
          <p:cNvPr id="47" name="Tier rule 1"/>
          <p:cNvSpPr/>
          <p:nvPr/>
        </p:nvSpPr>
        <p:spPr>
          <a:xfrm>
            <a:off x="5715000" y="4700016"/>
            <a:ext cx="5971032"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Tier accent 2"/>
          <p:cNvSpPr/>
          <p:nvPr/>
        </p:nvSpPr>
        <p:spPr>
          <a:xfrm>
            <a:off x="5715000" y="4764024"/>
            <a:ext cx="54864" cy="438912"/>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Tier name 2"/>
          <p:cNvSpPr txBox="1">
            <a:spLocks/>
          </p:cNvSpPr>
          <p:nvPr/>
        </p:nvSpPr>
        <p:spPr>
          <a:xfrm>
            <a:off x="5916168" y="4794410"/>
            <a:ext cx="713232"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1" i="0">
                <a:solidFill>
                  <a:srgbClr val="6C32CD"/>
                </a:solidFill>
                <a:latin typeface="Arial"/>
              </a:rPr>
              <a:t>Tier 2</a:t>
            </a:r>
          </a:p>
        </p:txBody>
      </p:sp>
      <p:sp>
        <p:nvSpPr>
          <p:cNvPr id="50" name="Tier count 2"/>
          <p:cNvSpPr txBox="1">
            <a:spLocks/>
          </p:cNvSpPr>
          <p:nvPr/>
        </p:nvSpPr>
        <p:spPr>
          <a:xfrm>
            <a:off x="6629400" y="4764024"/>
            <a:ext cx="1042415" cy="246888"/>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191847"/>
                </a:solidFill>
                <a:latin typeface="Arial"/>
              </a:rPr>
              <a:t>350 accounts</a:t>
            </a:r>
          </a:p>
        </p:txBody>
      </p:sp>
      <p:sp>
        <p:nvSpPr>
          <p:cNvPr id="51" name="Tier score 2"/>
          <p:cNvSpPr txBox="1">
            <a:spLocks/>
          </p:cNvSpPr>
          <p:nvPr/>
        </p:nvSpPr>
        <p:spPr>
          <a:xfrm>
            <a:off x="7818120" y="4764024"/>
            <a:ext cx="603504" cy="246888"/>
          </a:xfrm>
          <a:prstGeom prst="rect">
            <a:avLst/>
          </a:prstGeom>
          <a:noFill/>
        </p:spPr>
        <p:txBody>
          <a:bodyPr wrap="square" lIns="0" tIns="0" rIns="0" bIns="0" anchor="ctr">
            <a:spAutoFit/>
          </a:bodyPr>
          <a:lstStyle/>
          <a:p>
            <a:pPr algn="ctr">
              <a:lnSpc>
                <a:spcPct val="100000"/>
              </a:lnSpc>
              <a:spcBef>
                <a:spcPts val="0"/>
              </a:spcBef>
              <a:spcAft>
                <a:spcPts val="0"/>
              </a:spcAft>
            </a:pPr>
            <a:r>
              <a:rPr lang="en-US" sz="1600" b="1" i="0">
                <a:solidFill>
                  <a:srgbClr val="191847"/>
                </a:solidFill>
                <a:latin typeface="Calibri"/>
              </a:rPr>
              <a:t>50–74</a:t>
            </a:r>
          </a:p>
        </p:txBody>
      </p:sp>
      <p:sp>
        <p:nvSpPr>
          <p:cNvPr id="52" name="Tier treatment 2"/>
          <p:cNvSpPr txBox="1"/>
          <p:nvPr/>
        </p:nvSpPr>
        <p:spPr>
          <a:xfrm>
            <a:off x="8641080" y="4764024"/>
            <a:ext cx="3044952" cy="2846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Industry/Vertical specific webinars and campaigns</a:t>
            </a:r>
          </a:p>
          <a:p>
            <a:pPr algn="l">
              <a:lnSpc>
                <a:spcPct val="100000"/>
              </a:lnSpc>
              <a:spcBef>
                <a:spcPts val="0"/>
              </a:spcBef>
              <a:spcAft>
                <a:spcPts val="0"/>
              </a:spcAft>
            </a:pPr>
            <a:r>
              <a:rPr lang="en-US" sz="900" b="1" i="0" dirty="0">
                <a:solidFill>
                  <a:srgbClr val="6C32CD"/>
                </a:solidFill>
                <a:latin typeface="Arial"/>
              </a:rPr>
              <a:t>2-DAY RESPONSE SLA</a:t>
            </a:r>
          </a:p>
        </p:txBody>
      </p:sp>
      <p:sp>
        <p:nvSpPr>
          <p:cNvPr id="53" name="Tier rule 2"/>
          <p:cNvSpPr/>
          <p:nvPr/>
        </p:nvSpPr>
        <p:spPr>
          <a:xfrm>
            <a:off x="5715000" y="5294376"/>
            <a:ext cx="5971032"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ier accent 3"/>
          <p:cNvSpPr/>
          <p:nvPr/>
        </p:nvSpPr>
        <p:spPr>
          <a:xfrm>
            <a:off x="5715000" y="5358384"/>
            <a:ext cx="54864" cy="438912"/>
          </a:xfrm>
          <a:prstGeom prst="rect">
            <a:avLst/>
          </a:prstGeom>
          <a:solidFill>
            <a:srgbClr val="C75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ier name 3"/>
          <p:cNvSpPr txBox="1">
            <a:spLocks/>
          </p:cNvSpPr>
          <p:nvPr/>
        </p:nvSpPr>
        <p:spPr>
          <a:xfrm>
            <a:off x="5916168" y="5388770"/>
            <a:ext cx="713232"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1" i="0">
                <a:solidFill>
                  <a:srgbClr val="C75F18"/>
                </a:solidFill>
                <a:latin typeface="Arial"/>
              </a:rPr>
              <a:t>Tier 3</a:t>
            </a:r>
          </a:p>
        </p:txBody>
      </p:sp>
      <p:sp>
        <p:nvSpPr>
          <p:cNvPr id="56" name="Tier count 3"/>
          <p:cNvSpPr txBox="1"/>
          <p:nvPr/>
        </p:nvSpPr>
        <p:spPr>
          <a:xfrm>
            <a:off x="6629400" y="5358384"/>
            <a:ext cx="1042415" cy="246888"/>
          </a:xfrm>
          <a:prstGeom prst="rect">
            <a:avLst/>
          </a:prstGeom>
          <a:noFill/>
        </p:spPr>
        <p:txBody>
          <a:bodyPr wrap="square" lIns="0" tIns="0" rIns="0" bIns="0" anchor="ctr">
            <a:spAutoFit/>
          </a:bodyPr>
          <a:lstStyle/>
          <a:p>
            <a:pPr algn="l">
              <a:lnSpc>
                <a:spcPct val="100000"/>
              </a:lnSpc>
              <a:spcBef>
                <a:spcPts val="0"/>
              </a:spcBef>
              <a:spcAft>
                <a:spcPts val="0"/>
              </a:spcAft>
            </a:pPr>
            <a:r>
              <a:rPr sz="950" b="1" i="0">
                <a:solidFill>
                  <a:srgbClr val="191847"/>
                </a:solidFill>
                <a:latin typeface="Arial"/>
              </a:rPr>
              <a:t>1,000 accounts</a:t>
            </a:r>
          </a:p>
        </p:txBody>
      </p:sp>
      <p:sp>
        <p:nvSpPr>
          <p:cNvPr id="57" name="Tier score 3"/>
          <p:cNvSpPr txBox="1"/>
          <p:nvPr/>
        </p:nvSpPr>
        <p:spPr>
          <a:xfrm>
            <a:off x="7818120" y="5358384"/>
            <a:ext cx="603504" cy="246888"/>
          </a:xfrm>
          <a:prstGeom prst="rect">
            <a:avLst/>
          </a:prstGeom>
          <a:noFill/>
        </p:spPr>
        <p:txBody>
          <a:bodyPr wrap="square" lIns="0" tIns="0" rIns="0" bIns="0" anchor="ctr">
            <a:spAutoFit/>
          </a:bodyPr>
          <a:lstStyle/>
          <a:p>
            <a:pPr algn="ctr">
              <a:lnSpc>
                <a:spcPct val="100000"/>
              </a:lnSpc>
              <a:spcBef>
                <a:spcPts val="0"/>
              </a:spcBef>
              <a:spcAft>
                <a:spcPts val="0"/>
              </a:spcAft>
            </a:pPr>
            <a:r>
              <a:rPr lang="en-US" sz="1600" b="1" i="0">
                <a:solidFill>
                  <a:srgbClr val="191847"/>
                </a:solidFill>
                <a:latin typeface="Calibri"/>
              </a:rPr>
              <a:t>30–49</a:t>
            </a:r>
          </a:p>
        </p:txBody>
      </p:sp>
      <p:sp>
        <p:nvSpPr>
          <p:cNvPr id="58" name="Tier treatment 3"/>
          <p:cNvSpPr txBox="1"/>
          <p:nvPr/>
        </p:nvSpPr>
        <p:spPr>
          <a:xfrm>
            <a:off x="8641080" y="5358384"/>
            <a:ext cx="3044952" cy="284693"/>
          </a:xfrm>
          <a:prstGeom prst="rect">
            <a:avLst/>
          </a:prstGeom>
          <a:noFill/>
        </p:spPr>
        <p:txBody>
          <a:bodyPr wrap="square" lIns="0" tIns="0" rIns="0" bIns="0" anchor="t">
            <a:spAutoFit/>
          </a:bodyPr>
          <a:lstStyle/>
          <a:p>
            <a:pPr algn="l">
              <a:lnSpc>
                <a:spcPct val="100000"/>
              </a:lnSpc>
              <a:spcBef>
                <a:spcPts val="0"/>
              </a:spcBef>
              <a:spcAft>
                <a:spcPts val="0"/>
              </a:spcAft>
            </a:pPr>
            <a:r>
              <a:rPr lang="en-US" sz="950" b="1" i="0" dirty="0">
                <a:solidFill>
                  <a:srgbClr val="191847"/>
                </a:solidFill>
                <a:latin typeface="Arial"/>
              </a:rPr>
              <a:t>Retargeting, partner content and email nurture</a:t>
            </a:r>
          </a:p>
          <a:p>
            <a:pPr algn="l">
              <a:lnSpc>
                <a:spcPct val="100000"/>
              </a:lnSpc>
              <a:spcBef>
                <a:spcPts val="0"/>
              </a:spcBef>
              <a:spcAft>
                <a:spcPts val="0"/>
              </a:spcAft>
            </a:pPr>
            <a:r>
              <a:rPr lang="en-US" sz="900" b="1" i="0" dirty="0">
                <a:solidFill>
                  <a:srgbClr val="C75F18"/>
                </a:solidFill>
                <a:latin typeface="Arial"/>
              </a:rPr>
              <a:t>NO SDR TIME</a:t>
            </a:r>
          </a:p>
        </p:txBody>
      </p:sp>
      <p:sp>
        <p:nvSpPr>
          <p:cNvPr id="59" name="Decision rule"/>
          <p:cNvSpPr txBox="1"/>
          <p:nvPr/>
        </p:nvSpPr>
        <p:spPr>
          <a:xfrm>
            <a:off x="5715000" y="5925312"/>
            <a:ext cx="597103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dirty="0">
                <a:solidFill>
                  <a:srgbClr val="8A8194"/>
                </a:solidFill>
                <a:latin typeface="Arial"/>
              </a:rPr>
              <a:t>The score determines how much we spend and how quickly Sales responds.</a:t>
            </a:r>
          </a:p>
        </p:txBody>
      </p:sp>
      <p:sp>
        <p:nvSpPr>
          <p:cNvPr id="60" name="Page marker"/>
          <p:cNvSpPr txBox="1"/>
          <p:nvPr/>
        </p:nvSpPr>
        <p:spPr>
          <a:xfrm>
            <a:off x="11247120" y="6463413"/>
            <a:ext cx="438912" cy="130805"/>
          </a:xfrm>
          <a:prstGeom prst="rect">
            <a:avLst/>
          </a:prstGeom>
          <a:noFill/>
        </p:spPr>
        <p:txBody>
          <a:bodyPr wrap="square" lIns="0" tIns="0" rIns="0" bIns="0" anchor="ctr">
            <a:spAutoFit/>
          </a:bodyPr>
          <a:lstStyle/>
          <a:p>
            <a:pPr algn="r">
              <a:lnSpc>
                <a:spcPct val="100000"/>
              </a:lnSpc>
              <a:spcBef>
                <a:spcPts val="0"/>
              </a:spcBef>
              <a:spcAft>
                <a:spcPts val="0"/>
              </a:spcAft>
            </a:pPr>
            <a:r>
              <a:rPr sz="850" b="0" i="0">
                <a:solidFill>
                  <a:srgbClr val="8A8194"/>
                </a:solidFill>
                <a:latin typeface="Arial"/>
              </a:rPr>
              <a:t>4</a:t>
            </a:r>
            <a:endParaRPr lang="en-US" sz="850" b="0" i="0">
              <a:solidFill>
                <a:srgbClr val="8A8194"/>
              </a:solidFill>
              <a:latin typeface="Arial"/>
            </a:endParaRPr>
          </a:p>
        </p:txBody>
      </p:sp>
      <p:sp>
        <p:nvSpPr>
          <p:cNvPr id="61" name="Tier header threshold"/>
          <p:cNvSpPr txBox="1"/>
          <p:nvPr/>
        </p:nvSpPr>
        <p:spPr>
          <a:xfrm>
            <a:off x="7708392" y="3952951"/>
            <a:ext cx="822960" cy="130759"/>
          </a:xfrm>
          <a:prstGeom prst="rect">
            <a:avLst/>
          </a:prstGeom>
          <a:noFill/>
        </p:spPr>
        <p:txBody>
          <a:bodyPr wrap="square" lIns="0" tIns="0" rIns="0" bIns="0" anchor="ctr">
            <a:spAutoFit/>
          </a:bodyPr>
          <a:lstStyle/>
          <a:p>
            <a:pPr algn="ctr">
              <a:lnSpc>
                <a:spcPct val="100000"/>
              </a:lnSpc>
              <a:spcBef>
                <a:spcPts val="0"/>
              </a:spcBef>
              <a:spcAft>
                <a:spcPts val="0"/>
              </a:spcAft>
            </a:pPr>
            <a:r>
              <a:rPr sz="850" b="1" i="0">
                <a:solidFill>
                  <a:srgbClr val="8A8194"/>
                </a:solidFill>
                <a:latin typeface="Arial"/>
              </a:rPr>
              <a:t>THRESHOLD</a:t>
            </a:r>
          </a:p>
        </p:txBody>
      </p:sp>
      <p:sp>
        <p:nvSpPr>
          <p:cNvPr id="62" name="Tier header treatment"/>
          <p:cNvSpPr txBox="1"/>
          <p:nvPr/>
        </p:nvSpPr>
        <p:spPr>
          <a:xfrm>
            <a:off x="8641080" y="3952951"/>
            <a:ext cx="3044952" cy="130759"/>
          </a:xfrm>
          <a:prstGeom prst="rect">
            <a:avLst/>
          </a:prstGeom>
          <a:noFill/>
        </p:spPr>
        <p:txBody>
          <a:bodyPr wrap="square" lIns="0" tIns="0" rIns="0" bIns="0" anchor="ctr">
            <a:spAutoFit/>
          </a:bodyPr>
          <a:lstStyle/>
          <a:p>
            <a:pPr algn="l">
              <a:lnSpc>
                <a:spcPct val="100000"/>
              </a:lnSpc>
              <a:spcBef>
                <a:spcPts val="0"/>
              </a:spcBef>
              <a:spcAft>
                <a:spcPts val="0"/>
              </a:spcAft>
            </a:pPr>
            <a:r>
              <a:rPr sz="850" b="1" i="0">
                <a:solidFill>
                  <a:srgbClr val="8A8194"/>
                </a:solidFill>
                <a:latin typeface="Arial"/>
              </a:rPr>
              <a:t>SALES TREATMENT</a:t>
            </a:r>
          </a:p>
        </p:txBody>
      </p:sp>
      <p:sp>
        <p:nvSpPr>
          <p:cNvPr id="63" name="Key assumption footer 2"/>
          <p:cNvSpPr txBox="1"/>
          <p:nvPr/>
        </p:nvSpPr>
        <p:spPr>
          <a:xfrm>
            <a:off x="502920" y="6387418"/>
            <a:ext cx="10332720" cy="246221"/>
          </a:xfrm>
          <a:prstGeom prst="rect">
            <a:avLst/>
          </a:prstGeom>
          <a:noFill/>
        </p:spPr>
        <p:txBody>
          <a:bodyPr wrap="square" lIns="0" tIns="0" rIns="0" bIns="0" anchor="ctr">
            <a:spAutoFit/>
          </a:bodyPr>
          <a:lstStyle/>
          <a:p>
            <a:pPr algn="l">
              <a:lnSpc>
                <a:spcPct val="100000"/>
              </a:lnSpc>
              <a:spcBef>
                <a:spcPts val="0"/>
              </a:spcBef>
              <a:spcAft>
                <a:spcPts val="0"/>
              </a:spcAft>
            </a:pPr>
            <a:r>
              <a:rPr sz="800" b="0" i="0" dirty="0">
                <a:solidFill>
                  <a:srgbClr val="8A8194"/>
                </a:solidFill>
                <a:latin typeface="Arial"/>
              </a:rPr>
              <a:t>Key assumption: PQA weights and thresholds predict buying readiness and are re-weighted quarterly using Salesforce outcomes.</a:t>
            </a:r>
            <a:endParaRPr lang="en-US" sz="800" b="0" i="0" dirty="0">
              <a:solidFill>
                <a:srgbClr val="8A8194"/>
              </a:solidFill>
              <a:latin typeface="Arial"/>
            </a:endParaRPr>
          </a:p>
          <a:p>
            <a:pPr algn="l">
              <a:lnSpc>
                <a:spcPct val="100000"/>
              </a:lnSpc>
              <a:spcBef>
                <a:spcPts val="0"/>
              </a:spcBef>
              <a:spcAft>
                <a:spcPts val="0"/>
              </a:spcAft>
            </a:pPr>
            <a:r>
              <a:rPr lang="en-US" sz="800" b="0" i="0" dirty="0">
                <a:solidFill>
                  <a:srgbClr val="8A8194"/>
                </a:solidFill>
                <a:latin typeface="Arial"/>
              </a:rPr>
              <a:t>PQA = Product-Qualified Account · ABM = marketing to specific companies · SDR = sales qualification rep · SLA = response-time commitment · Trigger-led wedge = timely reason to approach an account</a:t>
            </a:r>
            <a:endParaRPr sz="800" b="0" i="0" dirty="0">
              <a:solidFill>
                <a:srgbClr val="8A8194"/>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a:spLocks/>
          </p:cNvSpPr>
          <p:nvPr/>
        </p:nvSpPr>
        <p:spPr>
          <a:xfrm>
            <a:off x="502920" y="274320"/>
            <a:ext cx="7772400" cy="201168"/>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8A8194"/>
                </a:solidFill>
                <a:latin typeface="Arial"/>
              </a:rPr>
              <a:t>POSITIONING, OFFER AND OPERATING MODEL</a:t>
            </a:r>
          </a:p>
        </p:txBody>
      </p:sp>
      <p:sp>
        <p:nvSpPr>
          <p:cNvPr id="3" name="Title"/>
          <p:cNvSpPr txBox="1">
            <a:spLocks/>
          </p:cNvSpPr>
          <p:nvPr/>
        </p:nvSpPr>
        <p:spPr>
          <a:xfrm>
            <a:off x="502920" y="502920"/>
            <a:ext cx="11183112" cy="420624"/>
          </a:xfrm>
          <a:prstGeom prst="rect">
            <a:avLst/>
          </a:prstGeom>
          <a:noFill/>
        </p:spPr>
        <p:txBody>
          <a:bodyPr wrap="square" lIns="0" tIns="0" rIns="0" bIns="0" anchor="ctr">
            <a:spAutoFit/>
          </a:bodyPr>
          <a:lstStyle/>
          <a:p>
            <a:pPr algn="l">
              <a:lnSpc>
                <a:spcPct val="100000"/>
              </a:lnSpc>
              <a:spcBef>
                <a:spcPts val="0"/>
              </a:spcBef>
              <a:spcAft>
                <a:spcPts val="0"/>
              </a:spcAft>
            </a:pPr>
            <a:r>
              <a:rPr lang="en-US" sz="2500" b="1" i="0">
                <a:solidFill>
                  <a:srgbClr val="191847"/>
                </a:solidFill>
                <a:latin typeface="Calibri"/>
              </a:rPr>
              <a:t>Three buyer problems. One Audit. One path to revenue.</a:t>
            </a:r>
          </a:p>
        </p:txBody>
      </p:sp>
      <p:sp>
        <p:nvSpPr>
          <p:cNvPr id="4" name="Category thesis"/>
          <p:cNvSpPr txBox="1">
            <a:spLocks/>
          </p:cNvSpPr>
          <p:nvPr/>
        </p:nvSpPr>
        <p:spPr>
          <a:xfrm>
            <a:off x="502920" y="1007121"/>
            <a:ext cx="11183112" cy="207749"/>
          </a:xfrm>
          <a:prstGeom prst="rect">
            <a:avLst/>
          </a:prstGeom>
          <a:noFill/>
        </p:spPr>
        <p:txBody>
          <a:bodyPr wrap="square" lIns="0" tIns="0" rIns="0" bIns="0" anchor="ctr">
            <a:spAutoFit/>
          </a:bodyPr>
          <a:lstStyle/>
          <a:p>
            <a:pPr algn="l">
              <a:lnSpc>
                <a:spcPct val="100000"/>
              </a:lnSpc>
              <a:spcBef>
                <a:spcPts val="0"/>
              </a:spcBef>
              <a:spcAft>
                <a:spcPts val="0"/>
              </a:spcAft>
            </a:pPr>
            <a:r>
              <a:rPr lang="en-US" sz="1350" b="1" i="0" dirty="0">
                <a:solidFill>
                  <a:srgbClr val="191847"/>
                </a:solidFill>
                <a:latin typeface="Arial"/>
              </a:rPr>
              <a:t>Professional Presence turns every employee interaction into a brand and growth opportunity.</a:t>
            </a:r>
          </a:p>
        </p:txBody>
      </p:sp>
      <p:sp>
        <p:nvSpPr>
          <p:cNvPr id="5" name="Narrative subtitle"/>
          <p:cNvSpPr txBox="1"/>
          <p:nvPr/>
        </p:nvSpPr>
        <p:spPr>
          <a:xfrm>
            <a:off x="502920" y="1305974"/>
            <a:ext cx="11183112"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0" i="0">
                <a:solidFill>
                  <a:srgbClr val="4A5568"/>
                </a:solidFill>
                <a:latin typeface="Arial"/>
              </a:rPr>
              <a:t>Surface the buyer leak, diagnose it through one Audit, then route every response into the account operating loop.</a:t>
            </a:r>
          </a:p>
        </p:txBody>
      </p:sp>
      <p:sp>
        <p:nvSpPr>
          <p:cNvPr id="6" name="Header rule"/>
          <p:cNvSpPr/>
          <p:nvPr/>
        </p:nvSpPr>
        <p:spPr>
          <a:xfrm>
            <a:off x="502920" y="1627632"/>
            <a:ext cx="11183112" cy="13716"/>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Column divider 1"/>
          <p:cNvSpPr/>
          <p:nvPr/>
        </p:nvSpPr>
        <p:spPr>
          <a:xfrm>
            <a:off x="3941063" y="1920240"/>
            <a:ext cx="10972" cy="3255264"/>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lumn divider 2"/>
          <p:cNvSpPr/>
          <p:nvPr/>
        </p:nvSpPr>
        <p:spPr>
          <a:xfrm>
            <a:off x="7735824" y="1920240"/>
            <a:ext cx="10972" cy="3255264"/>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tep 1 heading"/>
          <p:cNvSpPr txBox="1"/>
          <p:nvPr/>
        </p:nvSpPr>
        <p:spPr>
          <a:xfrm>
            <a:off x="502920" y="1883719"/>
            <a:ext cx="3218688"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01 · SURFACE THE BUYER LEAK</a:t>
            </a:r>
          </a:p>
        </p:txBody>
      </p:sp>
      <p:sp>
        <p:nvSpPr>
          <p:cNvPr id="10" name="Buyer rule 1"/>
          <p:cNvSpPr/>
          <p:nvPr/>
        </p:nvSpPr>
        <p:spPr>
          <a:xfrm>
            <a:off x="502920" y="2194560"/>
            <a:ext cx="310896" cy="22860"/>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Buyer problem 1"/>
          <p:cNvSpPr txBox="1"/>
          <p:nvPr/>
        </p:nvSpPr>
        <p:spPr>
          <a:xfrm>
            <a:off x="502920" y="2267712"/>
            <a:ext cx="3218688" cy="607859"/>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4A5568"/>
                </a:solidFill>
                <a:latin typeface="Arial"/>
              </a:rPr>
              <a:t>CMO / VP BRAND</a:t>
            </a:r>
          </a:p>
          <a:p>
            <a:pPr algn="l">
              <a:lnSpc>
                <a:spcPct val="100000"/>
              </a:lnSpc>
              <a:spcBef>
                <a:spcPts val="0"/>
              </a:spcBef>
              <a:spcAft>
                <a:spcPts val="0"/>
              </a:spcAft>
            </a:pPr>
            <a:r>
              <a:rPr lang="en-US" sz="1150" b="1" i="0" dirty="0">
                <a:solidFill>
                  <a:srgbClr val="191847"/>
                </a:solidFill>
                <a:latin typeface="Arial"/>
              </a:rPr>
              <a:t>Brand moments are unmanaged.</a:t>
            </a:r>
          </a:p>
          <a:p>
            <a:pPr algn="l">
              <a:lnSpc>
                <a:spcPct val="100000"/>
              </a:lnSpc>
              <a:spcBef>
                <a:spcPts val="0"/>
              </a:spcBef>
              <a:spcAft>
                <a:spcPts val="0"/>
              </a:spcAft>
            </a:pPr>
            <a:r>
              <a:rPr lang="en-US" sz="950" b="0" i="0" dirty="0">
                <a:solidFill>
                  <a:srgbClr val="4A5568"/>
                </a:solidFill>
                <a:latin typeface="Arial"/>
              </a:rPr>
              <a:t>Are all our employees presenting the brand consistently?</a:t>
            </a:r>
          </a:p>
          <a:p>
            <a:pPr algn="l">
              <a:lnSpc>
                <a:spcPct val="100000"/>
              </a:lnSpc>
              <a:spcBef>
                <a:spcPts val="0"/>
              </a:spcBef>
              <a:spcAft>
                <a:spcPts val="0"/>
              </a:spcAft>
            </a:pPr>
            <a:r>
              <a:rPr lang="en-US" sz="950" b="0" i="0" dirty="0">
                <a:solidFill>
                  <a:srgbClr val="4A5568"/>
                </a:solidFill>
                <a:latin typeface="Arial"/>
              </a:rPr>
              <a:t>Proof: check email signatures for inconsistent branding</a:t>
            </a:r>
          </a:p>
        </p:txBody>
      </p:sp>
      <p:sp>
        <p:nvSpPr>
          <p:cNvPr id="12" name="Buyer rule 2"/>
          <p:cNvSpPr/>
          <p:nvPr/>
        </p:nvSpPr>
        <p:spPr>
          <a:xfrm>
            <a:off x="502920" y="3108960"/>
            <a:ext cx="310896" cy="22860"/>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Buyer problem 2"/>
          <p:cNvSpPr txBox="1"/>
          <p:nvPr/>
        </p:nvSpPr>
        <p:spPr>
          <a:xfrm>
            <a:off x="502920" y="3182112"/>
            <a:ext cx="3218688" cy="754053"/>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4A5568"/>
                </a:solidFill>
                <a:latin typeface="Arial"/>
              </a:rPr>
              <a:t>REVOPS / MARKETING OPS</a:t>
            </a:r>
          </a:p>
          <a:p>
            <a:pPr algn="l">
              <a:lnSpc>
                <a:spcPct val="100000"/>
              </a:lnSpc>
              <a:spcBef>
                <a:spcPts val="0"/>
              </a:spcBef>
              <a:spcAft>
                <a:spcPts val="0"/>
              </a:spcAft>
            </a:pPr>
            <a:r>
              <a:rPr lang="en-US" sz="1150" b="1" i="0" dirty="0">
                <a:solidFill>
                  <a:srgbClr val="191847"/>
                </a:solidFill>
                <a:latin typeface="Arial"/>
              </a:rPr>
              <a:t>Leads arrive without source context.</a:t>
            </a:r>
          </a:p>
          <a:p>
            <a:pPr algn="l">
              <a:lnSpc>
                <a:spcPct val="100000"/>
              </a:lnSpc>
              <a:spcBef>
                <a:spcPts val="0"/>
              </a:spcBef>
              <a:spcAft>
                <a:spcPts val="0"/>
              </a:spcAft>
            </a:pPr>
            <a:r>
              <a:rPr lang="en-US" sz="950" b="0" i="0" dirty="0">
                <a:solidFill>
                  <a:srgbClr val="4A5568"/>
                </a:solidFill>
                <a:latin typeface="Arial"/>
              </a:rPr>
              <a:t>When someone interacts with an employee, can we tell where that interest came from?</a:t>
            </a:r>
          </a:p>
          <a:p>
            <a:pPr algn="l"/>
            <a:r>
              <a:rPr lang="en-US" sz="950" b="0" i="0">
                <a:solidFill>
                  <a:srgbClr val="4A5568"/>
                </a:solidFill>
                <a:latin typeface="Arial"/>
              </a:rPr>
              <a:t>Proof: interaction events traceable to Salesforce stage</a:t>
            </a:r>
          </a:p>
        </p:txBody>
      </p:sp>
      <p:sp>
        <p:nvSpPr>
          <p:cNvPr id="14" name="Buyer rule 3"/>
          <p:cNvSpPr/>
          <p:nvPr/>
        </p:nvSpPr>
        <p:spPr>
          <a:xfrm>
            <a:off x="502920" y="4023360"/>
            <a:ext cx="310896" cy="22860"/>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Buyer problem 3"/>
          <p:cNvSpPr txBox="1">
            <a:spLocks/>
          </p:cNvSpPr>
          <p:nvPr/>
        </p:nvSpPr>
        <p:spPr>
          <a:xfrm>
            <a:off x="502920" y="4096512"/>
            <a:ext cx="3218688" cy="900246"/>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4A5568"/>
                </a:solidFill>
                <a:latin typeface="Arial"/>
              </a:rPr>
              <a:t>IT / SECURITY</a:t>
            </a:r>
          </a:p>
          <a:p>
            <a:pPr algn="l">
              <a:lnSpc>
                <a:spcPct val="100000"/>
              </a:lnSpc>
              <a:spcBef>
                <a:spcPts val="0"/>
              </a:spcBef>
              <a:spcAft>
                <a:spcPts val="0"/>
              </a:spcAft>
            </a:pPr>
            <a:r>
              <a:rPr lang="en-US" sz="1150" b="1" i="0" dirty="0">
                <a:solidFill>
                  <a:srgbClr val="191847"/>
                </a:solidFill>
                <a:latin typeface="Arial"/>
              </a:rPr>
              <a:t>Contact data leaves with the employee.</a:t>
            </a:r>
          </a:p>
          <a:p>
            <a:pPr algn="l">
              <a:lnSpc>
                <a:spcPct val="100000"/>
              </a:lnSpc>
              <a:spcBef>
                <a:spcPts val="0"/>
              </a:spcBef>
              <a:spcAft>
                <a:spcPts val="0"/>
              </a:spcAft>
            </a:pPr>
            <a:r>
              <a:rPr lang="en-US" sz="950" b="0" i="0" dirty="0">
                <a:solidFill>
                  <a:srgbClr val="4A5568"/>
                </a:solidFill>
                <a:latin typeface="Arial"/>
              </a:rPr>
              <a:t>Can we control company contact information when employees join or leave?</a:t>
            </a:r>
          </a:p>
          <a:p>
            <a:pPr algn="l"/>
            <a:r>
              <a:rPr lang="en-US" sz="950" b="0" i="0">
                <a:solidFill>
                  <a:srgbClr val="4A5568"/>
                </a:solidFill>
                <a:latin typeface="Arial"/>
              </a:rPr>
              <a:t>Proof: SSO, SCIM, deprovisioning and retention controls</a:t>
            </a:r>
          </a:p>
          <a:p>
            <a:pPr algn="l">
              <a:lnSpc>
                <a:spcPct val="100000"/>
              </a:lnSpc>
              <a:spcBef>
                <a:spcPts val="0"/>
              </a:spcBef>
              <a:spcAft>
                <a:spcPts val="0"/>
              </a:spcAft>
            </a:pPr>
            <a:endParaRPr lang="en-US" sz="950" b="0" i="0" dirty="0">
              <a:solidFill>
                <a:srgbClr val="4A5568"/>
              </a:solidFill>
              <a:latin typeface="Arial"/>
            </a:endParaRPr>
          </a:p>
        </p:txBody>
      </p:sp>
      <p:sp>
        <p:nvSpPr>
          <p:cNvPr id="16" name="Copy standard"/>
          <p:cNvSpPr txBox="1"/>
          <p:nvPr/>
        </p:nvSpPr>
        <p:spPr>
          <a:xfrm>
            <a:off x="502920" y="5027805"/>
            <a:ext cx="3337560" cy="130805"/>
          </a:xfrm>
          <a:prstGeom prst="rect">
            <a:avLst/>
          </a:prstGeom>
          <a:noFill/>
        </p:spPr>
        <p:txBody>
          <a:bodyPr wrap="square" lIns="0" tIns="0" rIns="0" bIns="0" anchor="ctr">
            <a:spAutoFit/>
          </a:bodyPr>
          <a:lstStyle/>
          <a:p>
            <a:pPr algn="l">
              <a:lnSpc>
                <a:spcPct val="100000"/>
              </a:lnSpc>
              <a:spcBef>
                <a:spcPts val="0"/>
              </a:spcBef>
              <a:spcAft>
                <a:spcPts val="0"/>
              </a:spcAft>
            </a:pPr>
            <a:r>
              <a:rPr lang="en-US" sz="850" b="1" i="0">
                <a:solidFill>
                  <a:srgbClr val="8A8194"/>
                </a:solidFill>
                <a:latin typeface="Arial"/>
              </a:rPr>
              <a:t>COPY STANDARD  ·  ONE PAIN  ·  ONE PROOF  ·  ONE CTA</a:t>
            </a:r>
          </a:p>
        </p:txBody>
      </p:sp>
      <p:sp>
        <p:nvSpPr>
          <p:cNvPr id="17" name="Step 2 heading"/>
          <p:cNvSpPr txBox="1">
            <a:spLocks/>
          </p:cNvSpPr>
          <p:nvPr/>
        </p:nvSpPr>
        <p:spPr>
          <a:xfrm>
            <a:off x="4224528" y="1883719"/>
            <a:ext cx="324612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02 · QUALIFY WITH ONE AUDIT</a:t>
            </a:r>
          </a:p>
        </p:txBody>
      </p:sp>
      <p:sp>
        <p:nvSpPr>
          <p:cNvPr id="18" name="Audit score circle"/>
          <p:cNvSpPr/>
          <p:nvPr/>
        </p:nvSpPr>
        <p:spPr>
          <a:xfrm>
            <a:off x="4983480" y="2194560"/>
            <a:ext cx="1737360" cy="1737360"/>
          </a:xfrm>
          <a:prstGeom prst="ellipse">
            <a:avLst/>
          </a:prstGeom>
          <a:solidFill>
            <a:srgbClr val="F4EE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Audit score"/>
          <p:cNvSpPr txBox="1">
            <a:spLocks/>
          </p:cNvSpPr>
          <p:nvPr/>
        </p:nvSpPr>
        <p:spPr>
          <a:xfrm>
            <a:off x="5212080" y="2678966"/>
            <a:ext cx="987552" cy="677108"/>
          </a:xfrm>
          <a:prstGeom prst="rect">
            <a:avLst/>
          </a:prstGeom>
          <a:noFill/>
        </p:spPr>
        <p:txBody>
          <a:bodyPr wrap="square" lIns="0" tIns="0" rIns="0" bIns="0" anchor="ctr">
            <a:spAutoFit/>
          </a:bodyPr>
          <a:lstStyle/>
          <a:p>
            <a:pPr algn="ctr">
              <a:lnSpc>
                <a:spcPct val="100000"/>
              </a:lnSpc>
              <a:spcBef>
                <a:spcPts val="0"/>
              </a:spcBef>
              <a:spcAft>
                <a:spcPts val="0"/>
              </a:spcAft>
            </a:pPr>
            <a:r>
              <a:rPr lang="en-US" sz="4400" b="1" i="0">
                <a:solidFill>
                  <a:srgbClr val="6C32CD"/>
                </a:solidFill>
                <a:latin typeface="Calibri"/>
              </a:rPr>
              <a:t>64</a:t>
            </a:r>
          </a:p>
        </p:txBody>
      </p:sp>
      <p:sp>
        <p:nvSpPr>
          <p:cNvPr id="20" name="Audit denominator"/>
          <p:cNvSpPr txBox="1">
            <a:spLocks/>
          </p:cNvSpPr>
          <p:nvPr/>
        </p:nvSpPr>
        <p:spPr>
          <a:xfrm>
            <a:off x="6053328" y="3008376"/>
            <a:ext cx="438912" cy="14630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8A8194"/>
                </a:solidFill>
                <a:latin typeface="Arial"/>
              </a:rPr>
              <a:t>/100</a:t>
            </a:r>
          </a:p>
        </p:txBody>
      </p:sp>
      <p:sp>
        <p:nvSpPr>
          <p:cNvPr id="21" name="Audit name"/>
          <p:cNvSpPr txBox="1">
            <a:spLocks/>
          </p:cNvSpPr>
          <p:nvPr/>
        </p:nvSpPr>
        <p:spPr>
          <a:xfrm>
            <a:off x="4224528" y="4001780"/>
            <a:ext cx="3246120" cy="207749"/>
          </a:xfrm>
          <a:prstGeom prst="rect">
            <a:avLst/>
          </a:prstGeom>
          <a:noFill/>
        </p:spPr>
        <p:txBody>
          <a:bodyPr wrap="square" lIns="0" tIns="0" rIns="0" bIns="0" anchor="ctr">
            <a:spAutoFit/>
          </a:bodyPr>
          <a:lstStyle/>
          <a:p>
            <a:pPr algn="ctr">
              <a:lnSpc>
                <a:spcPct val="100000"/>
              </a:lnSpc>
              <a:spcBef>
                <a:spcPts val="0"/>
              </a:spcBef>
              <a:spcAft>
                <a:spcPts val="0"/>
              </a:spcAft>
            </a:pPr>
            <a:r>
              <a:rPr lang="en-US" sz="1350" b="1" i="0">
                <a:solidFill>
                  <a:srgbClr val="191847"/>
                </a:solidFill>
                <a:latin typeface="Arial"/>
              </a:rPr>
              <a:t>Professional Presence Audit</a:t>
            </a:r>
          </a:p>
        </p:txBody>
      </p:sp>
      <p:sp>
        <p:nvSpPr>
          <p:cNvPr id="22" name="Audit instruction"/>
          <p:cNvSpPr txBox="1">
            <a:spLocks/>
          </p:cNvSpPr>
          <p:nvPr/>
        </p:nvSpPr>
        <p:spPr>
          <a:xfrm>
            <a:off x="4407408" y="4356446"/>
            <a:ext cx="2880360" cy="138499"/>
          </a:xfrm>
          <a:prstGeom prst="rect">
            <a:avLst/>
          </a:prstGeom>
          <a:noFill/>
        </p:spPr>
        <p:txBody>
          <a:bodyPr wrap="square" lIns="0" tIns="0" rIns="0" bIns="0" anchor="ctr">
            <a:spAutoFit/>
          </a:bodyPr>
          <a:lstStyle/>
          <a:p>
            <a:pPr algn="ctr">
              <a:lnSpc>
                <a:spcPct val="100000"/>
              </a:lnSpc>
              <a:spcBef>
                <a:spcPts val="0"/>
              </a:spcBef>
              <a:spcAft>
                <a:spcPts val="0"/>
              </a:spcAft>
            </a:pPr>
            <a:r>
              <a:rPr lang="en-US" sz="900" b="1" i="0">
                <a:solidFill>
                  <a:srgbClr val="6C32CD"/>
                </a:solidFill>
                <a:latin typeface="Arial"/>
              </a:rPr>
              <a:t>SCORES THREE REVENUE LEAKS</a:t>
            </a:r>
          </a:p>
        </p:txBody>
      </p:sp>
      <p:sp>
        <p:nvSpPr>
          <p:cNvPr id="23" name="Audit leak 1"/>
          <p:cNvSpPr txBox="1"/>
          <p:nvPr/>
        </p:nvSpPr>
        <p:spPr>
          <a:xfrm>
            <a:off x="4315968" y="4636063"/>
            <a:ext cx="306324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1A1325"/>
                </a:solidFill>
                <a:latin typeface="Arial"/>
              </a:rPr>
              <a:t>01  Brand drift across signatures</a:t>
            </a:r>
          </a:p>
        </p:txBody>
      </p:sp>
      <p:sp>
        <p:nvSpPr>
          <p:cNvPr id="24" name="Audit leak 2"/>
          <p:cNvSpPr txBox="1">
            <a:spLocks/>
          </p:cNvSpPr>
          <p:nvPr/>
        </p:nvSpPr>
        <p:spPr>
          <a:xfrm>
            <a:off x="4315968" y="4864663"/>
            <a:ext cx="306324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1A1325"/>
                </a:solidFill>
                <a:latin typeface="Arial"/>
              </a:rPr>
              <a:t>02  Event leads missing source context</a:t>
            </a:r>
          </a:p>
        </p:txBody>
      </p:sp>
      <p:sp>
        <p:nvSpPr>
          <p:cNvPr id="25" name="Audit leak 3"/>
          <p:cNvSpPr txBox="1"/>
          <p:nvPr/>
        </p:nvSpPr>
        <p:spPr>
          <a:xfrm>
            <a:off x="4315968" y="5093263"/>
            <a:ext cx="306324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0" i="0">
                <a:solidFill>
                  <a:srgbClr val="1A1325"/>
                </a:solidFill>
                <a:latin typeface="Arial"/>
              </a:rPr>
              <a:t>03  Meeting surfaces misaligned to live campaigns</a:t>
            </a:r>
          </a:p>
        </p:txBody>
      </p:sp>
      <p:sp>
        <p:nvSpPr>
          <p:cNvPr id="26" name="Step 3 heading"/>
          <p:cNvSpPr txBox="1"/>
          <p:nvPr/>
        </p:nvSpPr>
        <p:spPr>
          <a:xfrm>
            <a:off x="8028431" y="1883719"/>
            <a:ext cx="36576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29744C"/>
                </a:solidFill>
                <a:latin typeface="Arial"/>
              </a:rPr>
              <a:t>03 · ROUTE THE SIGNAL</a:t>
            </a:r>
          </a:p>
        </p:txBody>
      </p:sp>
      <p:sp>
        <p:nvSpPr>
          <p:cNvPr id="27" name="Route number 1"/>
          <p:cNvSpPr txBox="1">
            <a:spLocks/>
          </p:cNvSpPr>
          <p:nvPr/>
        </p:nvSpPr>
        <p:spPr>
          <a:xfrm>
            <a:off x="8028431" y="2283434"/>
            <a:ext cx="384048" cy="215444"/>
          </a:xfrm>
          <a:prstGeom prst="rect">
            <a:avLst/>
          </a:prstGeom>
          <a:noFill/>
        </p:spPr>
        <p:txBody>
          <a:bodyPr wrap="square" lIns="0" tIns="0" rIns="0" bIns="0" anchor="ctr">
            <a:spAutoFit/>
          </a:bodyPr>
          <a:lstStyle/>
          <a:p>
            <a:pPr algn="l">
              <a:lnSpc>
                <a:spcPct val="100000"/>
              </a:lnSpc>
              <a:spcBef>
                <a:spcPts val="0"/>
              </a:spcBef>
              <a:spcAft>
                <a:spcPts val="0"/>
              </a:spcAft>
            </a:pPr>
            <a:r>
              <a:rPr lang="en-US" sz="1400" b="1" i="0">
                <a:solidFill>
                  <a:srgbClr val="29744C"/>
                </a:solidFill>
                <a:latin typeface="Calibri"/>
              </a:rPr>
              <a:t>01</a:t>
            </a:r>
          </a:p>
        </p:txBody>
      </p:sp>
      <p:sp>
        <p:nvSpPr>
          <p:cNvPr id="28" name="Route stage 1"/>
          <p:cNvSpPr txBox="1"/>
          <p:nvPr/>
        </p:nvSpPr>
        <p:spPr>
          <a:xfrm>
            <a:off x="8458200" y="2267712"/>
            <a:ext cx="3227832" cy="323165"/>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a:solidFill>
                  <a:srgbClr val="29744C"/>
                </a:solidFill>
                <a:latin typeface="Arial"/>
              </a:rPr>
              <a:t>AUDIT PAGE</a:t>
            </a:r>
          </a:p>
          <a:p>
            <a:pPr algn="l">
              <a:lnSpc>
                <a:spcPct val="100000"/>
              </a:lnSpc>
              <a:spcBef>
                <a:spcPts val="0"/>
              </a:spcBef>
              <a:spcAft>
                <a:spcPts val="0"/>
              </a:spcAft>
            </a:pPr>
            <a:r>
              <a:rPr lang="en-US" sz="950" b="0" i="0">
                <a:solidFill>
                  <a:srgbClr val="4A5568"/>
                </a:solidFill>
                <a:latin typeface="Arial"/>
              </a:rPr>
              <a:t>Webflow</a:t>
            </a:r>
          </a:p>
        </p:txBody>
      </p:sp>
      <p:sp>
        <p:nvSpPr>
          <p:cNvPr id="29" name="Route rule 1"/>
          <p:cNvSpPr/>
          <p:nvPr/>
        </p:nvSpPr>
        <p:spPr>
          <a:xfrm>
            <a:off x="8458200" y="2926080"/>
            <a:ext cx="3227832"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te number 2"/>
          <p:cNvSpPr txBox="1">
            <a:spLocks/>
          </p:cNvSpPr>
          <p:nvPr/>
        </p:nvSpPr>
        <p:spPr>
          <a:xfrm>
            <a:off x="8028431" y="3033242"/>
            <a:ext cx="384048" cy="215444"/>
          </a:xfrm>
          <a:prstGeom prst="rect">
            <a:avLst/>
          </a:prstGeom>
          <a:noFill/>
        </p:spPr>
        <p:txBody>
          <a:bodyPr wrap="square" lIns="0" tIns="0" rIns="0" bIns="0" anchor="ctr">
            <a:spAutoFit/>
          </a:bodyPr>
          <a:lstStyle/>
          <a:p>
            <a:pPr algn="l">
              <a:lnSpc>
                <a:spcPct val="100000"/>
              </a:lnSpc>
              <a:spcBef>
                <a:spcPts val="0"/>
              </a:spcBef>
              <a:spcAft>
                <a:spcPts val="0"/>
              </a:spcAft>
            </a:pPr>
            <a:r>
              <a:rPr lang="en-US" sz="1400" b="1" i="0">
                <a:solidFill>
                  <a:srgbClr val="29744C"/>
                </a:solidFill>
                <a:latin typeface="Calibri"/>
              </a:rPr>
              <a:t>02</a:t>
            </a:r>
          </a:p>
        </p:txBody>
      </p:sp>
      <p:sp>
        <p:nvSpPr>
          <p:cNvPr id="31" name="Route stage 2"/>
          <p:cNvSpPr txBox="1"/>
          <p:nvPr/>
        </p:nvSpPr>
        <p:spPr>
          <a:xfrm>
            <a:off x="8458200" y="3017520"/>
            <a:ext cx="3227832" cy="480388"/>
          </a:xfrm>
          <a:prstGeom prst="rect">
            <a:avLst/>
          </a:prstGeom>
          <a:noFill/>
        </p:spPr>
        <p:txBody>
          <a:bodyPr wrap="square" lIns="0" tIns="0" rIns="0" bIns="0" anchor="t">
            <a:spAutoFit/>
          </a:bodyPr>
          <a:lstStyle/>
          <a:p>
            <a:pPr algn="l">
              <a:lnSpc>
                <a:spcPct val="100000"/>
              </a:lnSpc>
              <a:spcBef>
                <a:spcPts val="0"/>
              </a:spcBef>
              <a:spcAft>
                <a:spcPts val="200"/>
              </a:spcAft>
            </a:pPr>
            <a:r>
              <a:rPr lang="en-US" sz="1150" b="1" i="0" dirty="0">
                <a:solidFill>
                  <a:srgbClr val="29744C"/>
                </a:solidFill>
                <a:latin typeface="Arial"/>
              </a:rPr>
              <a:t>TRACK</a:t>
            </a:r>
          </a:p>
          <a:p>
            <a:pPr algn="l">
              <a:lnSpc>
                <a:spcPct val="95000"/>
              </a:lnSpc>
              <a:spcBef>
                <a:spcPts val="0"/>
              </a:spcBef>
              <a:spcAft>
                <a:spcPts val="0"/>
              </a:spcAft>
            </a:pPr>
            <a:r>
              <a:rPr lang="en-US" sz="950" b="0" i="0" dirty="0">
                <a:solidFill>
                  <a:srgbClr val="4A5568"/>
                </a:solidFill>
                <a:latin typeface="Arial"/>
              </a:rPr>
              <a:t>Google Tag Manager (GTM) + Google Analytics (GA4)</a:t>
            </a:r>
            <a:endParaRPr lang="en-US" sz="919" dirty="0">
              <a:solidFill>
                <a:srgbClr val="4A5568"/>
              </a:solidFill>
              <a:latin typeface="Arial"/>
            </a:endParaRPr>
          </a:p>
          <a:p>
            <a:pPr algn="l">
              <a:lnSpc>
                <a:spcPct val="95000"/>
              </a:lnSpc>
              <a:spcBef>
                <a:spcPts val="0"/>
              </a:spcBef>
              <a:spcAft>
                <a:spcPts val="0"/>
              </a:spcAft>
            </a:pPr>
            <a:r>
              <a:rPr lang="en-US" sz="950" b="0" i="0" dirty="0">
                <a:solidFill>
                  <a:srgbClr val="4A5568"/>
                </a:solidFill>
                <a:latin typeface="Arial"/>
              </a:rPr>
              <a:t>Amplitude · experiments + session replay</a:t>
            </a:r>
          </a:p>
        </p:txBody>
      </p:sp>
      <p:sp>
        <p:nvSpPr>
          <p:cNvPr id="32" name="Route rule 2"/>
          <p:cNvSpPr/>
          <p:nvPr/>
        </p:nvSpPr>
        <p:spPr>
          <a:xfrm>
            <a:off x="8458200" y="3675887"/>
            <a:ext cx="3227832"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te number 3"/>
          <p:cNvSpPr txBox="1">
            <a:spLocks/>
          </p:cNvSpPr>
          <p:nvPr/>
        </p:nvSpPr>
        <p:spPr>
          <a:xfrm>
            <a:off x="8028431" y="3783050"/>
            <a:ext cx="384048" cy="215444"/>
          </a:xfrm>
          <a:prstGeom prst="rect">
            <a:avLst/>
          </a:prstGeom>
          <a:noFill/>
        </p:spPr>
        <p:txBody>
          <a:bodyPr wrap="square" lIns="0" tIns="0" rIns="0" bIns="0" anchor="ctr">
            <a:spAutoFit/>
          </a:bodyPr>
          <a:lstStyle/>
          <a:p>
            <a:pPr algn="l">
              <a:lnSpc>
                <a:spcPct val="100000"/>
              </a:lnSpc>
              <a:spcBef>
                <a:spcPts val="0"/>
              </a:spcBef>
              <a:spcAft>
                <a:spcPts val="0"/>
              </a:spcAft>
            </a:pPr>
            <a:r>
              <a:rPr lang="en-US" sz="1400" b="1" i="0">
                <a:solidFill>
                  <a:srgbClr val="29744C"/>
                </a:solidFill>
                <a:latin typeface="Calibri"/>
              </a:rPr>
              <a:t>03</a:t>
            </a:r>
          </a:p>
        </p:txBody>
      </p:sp>
      <p:sp>
        <p:nvSpPr>
          <p:cNvPr id="34" name="Route stage 3"/>
          <p:cNvSpPr txBox="1"/>
          <p:nvPr/>
        </p:nvSpPr>
        <p:spPr>
          <a:xfrm>
            <a:off x="8458200" y="3767328"/>
            <a:ext cx="3227832" cy="469359"/>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a:solidFill>
                  <a:srgbClr val="29744C"/>
                </a:solidFill>
                <a:latin typeface="Arial"/>
              </a:rPr>
              <a:t>ROUTE</a:t>
            </a:r>
          </a:p>
          <a:p>
            <a:pPr algn="l">
              <a:lnSpc>
                <a:spcPct val="100000"/>
              </a:lnSpc>
              <a:spcBef>
                <a:spcPts val="0"/>
              </a:spcBef>
              <a:spcAft>
                <a:spcPts val="0"/>
              </a:spcAft>
            </a:pPr>
            <a:r>
              <a:rPr lang="en-US" sz="950" b="0" i="0">
                <a:solidFill>
                  <a:srgbClr val="4A5568"/>
                </a:solidFill>
                <a:latin typeface="Arial"/>
              </a:rPr>
              <a:t>Signals SDK (views, clicks, scans) → HubSpot scoring + routing</a:t>
            </a:r>
          </a:p>
        </p:txBody>
      </p:sp>
      <p:sp>
        <p:nvSpPr>
          <p:cNvPr id="35" name="Route rule 3"/>
          <p:cNvSpPr/>
          <p:nvPr/>
        </p:nvSpPr>
        <p:spPr>
          <a:xfrm>
            <a:off x="8458200" y="4425696"/>
            <a:ext cx="3227832"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te number 4"/>
          <p:cNvSpPr txBox="1">
            <a:spLocks/>
          </p:cNvSpPr>
          <p:nvPr/>
        </p:nvSpPr>
        <p:spPr>
          <a:xfrm>
            <a:off x="8028431" y="4532858"/>
            <a:ext cx="384048" cy="215444"/>
          </a:xfrm>
          <a:prstGeom prst="rect">
            <a:avLst/>
          </a:prstGeom>
          <a:noFill/>
        </p:spPr>
        <p:txBody>
          <a:bodyPr wrap="square" lIns="0" tIns="0" rIns="0" bIns="0" anchor="ctr">
            <a:spAutoFit/>
          </a:bodyPr>
          <a:lstStyle/>
          <a:p>
            <a:pPr algn="l">
              <a:lnSpc>
                <a:spcPct val="100000"/>
              </a:lnSpc>
              <a:spcBef>
                <a:spcPts val="0"/>
              </a:spcBef>
              <a:spcAft>
                <a:spcPts val="0"/>
              </a:spcAft>
            </a:pPr>
            <a:r>
              <a:rPr lang="en-US" sz="1400" b="1" i="0">
                <a:solidFill>
                  <a:srgbClr val="29744C"/>
                </a:solidFill>
                <a:latin typeface="Calibri"/>
              </a:rPr>
              <a:t>04</a:t>
            </a:r>
          </a:p>
        </p:txBody>
      </p:sp>
      <p:sp>
        <p:nvSpPr>
          <p:cNvPr id="37" name="Route stage 4"/>
          <p:cNvSpPr txBox="1"/>
          <p:nvPr/>
        </p:nvSpPr>
        <p:spPr>
          <a:xfrm>
            <a:off x="8458200" y="4517136"/>
            <a:ext cx="3227832" cy="323165"/>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a:solidFill>
                  <a:srgbClr val="29744C"/>
                </a:solidFill>
                <a:latin typeface="Arial"/>
              </a:rPr>
              <a:t>ACT</a:t>
            </a:r>
          </a:p>
          <a:p>
            <a:pPr algn="l">
              <a:lnSpc>
                <a:spcPct val="100000"/>
              </a:lnSpc>
              <a:spcBef>
                <a:spcPts val="0"/>
              </a:spcBef>
              <a:spcAft>
                <a:spcPts val="0"/>
              </a:spcAft>
            </a:pPr>
            <a:r>
              <a:rPr lang="en-US" sz="950" b="0" i="0">
                <a:solidFill>
                  <a:srgbClr val="4A5568"/>
                </a:solidFill>
                <a:latin typeface="Arial"/>
              </a:rPr>
              <a:t>Salesforce opportunity stage + win/loss disposition</a:t>
            </a:r>
          </a:p>
        </p:txBody>
      </p:sp>
      <p:sp>
        <p:nvSpPr>
          <p:cNvPr id="38" name="Loop rule"/>
          <p:cNvSpPr/>
          <p:nvPr/>
        </p:nvSpPr>
        <p:spPr>
          <a:xfrm>
            <a:off x="502920" y="5413248"/>
            <a:ext cx="11183112" cy="18288"/>
          </a:xfrm>
          <a:prstGeom prst="rect">
            <a:avLst/>
          </a:prstGeom>
          <a:solidFill>
            <a:srgbClr val="6C32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Loop heading"/>
          <p:cNvSpPr txBox="1">
            <a:spLocks/>
          </p:cNvSpPr>
          <p:nvPr/>
        </p:nvSpPr>
        <p:spPr>
          <a:xfrm>
            <a:off x="502920" y="5628187"/>
            <a:ext cx="1847088"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WEEKLY OPERATING LOOP</a:t>
            </a:r>
          </a:p>
        </p:txBody>
      </p:sp>
      <p:sp>
        <p:nvSpPr>
          <p:cNvPr id="40" name="Loop flow"/>
          <p:cNvSpPr txBox="1"/>
          <p:nvPr/>
        </p:nvSpPr>
        <p:spPr>
          <a:xfrm>
            <a:off x="2395728" y="5607278"/>
            <a:ext cx="9290304" cy="215444"/>
          </a:xfrm>
          <a:prstGeom prst="rect">
            <a:avLst/>
          </a:prstGeom>
          <a:noFill/>
        </p:spPr>
        <p:txBody>
          <a:bodyPr wrap="square" lIns="0" tIns="0" rIns="0" bIns="0" anchor="ctr">
            <a:spAutoFit/>
          </a:bodyPr>
          <a:lstStyle/>
          <a:p>
            <a:pPr algn="ctr">
              <a:lnSpc>
                <a:spcPct val="100000"/>
              </a:lnSpc>
              <a:spcBef>
                <a:spcPts val="0"/>
              </a:spcBef>
              <a:spcAft>
                <a:spcPts val="0"/>
              </a:spcAft>
            </a:pPr>
            <a:r>
              <a:rPr lang="en-US" sz="1400" b="1" i="0">
                <a:solidFill>
                  <a:srgbClr val="191847"/>
                </a:solidFill>
                <a:latin typeface="Calibri"/>
              </a:rPr>
              <a:t>Market signal  →  message  →  budget  →  sales outcome  →  re-scored account list</a:t>
            </a:r>
          </a:p>
        </p:txBody>
      </p:sp>
      <p:sp>
        <p:nvSpPr>
          <p:cNvPr id="41" name="Loop note"/>
          <p:cNvSpPr txBox="1"/>
          <p:nvPr/>
        </p:nvSpPr>
        <p:spPr>
          <a:xfrm>
            <a:off x="2395728" y="5984078"/>
            <a:ext cx="9290304" cy="138499"/>
          </a:xfrm>
          <a:prstGeom prst="rect">
            <a:avLst/>
          </a:prstGeom>
          <a:noFill/>
        </p:spPr>
        <p:txBody>
          <a:bodyPr wrap="square" lIns="0" tIns="0" rIns="0" bIns="0" anchor="ctr">
            <a:spAutoFit/>
          </a:bodyPr>
          <a:lstStyle/>
          <a:p>
            <a:pPr algn="ctr">
              <a:lnSpc>
                <a:spcPct val="100000"/>
              </a:lnSpc>
              <a:spcBef>
                <a:spcPts val="0"/>
              </a:spcBef>
              <a:spcAft>
                <a:spcPts val="0"/>
              </a:spcAft>
            </a:pPr>
            <a:r>
              <a:rPr lang="en-US" sz="900" b="0" i="0" dirty="0">
                <a:solidFill>
                  <a:srgbClr val="8A8194"/>
                </a:solidFill>
                <a:latin typeface="Arial"/>
              </a:rPr>
              <a:t>Prove the problem before asking for a demo. Then use the results to improve targeting and spend.</a:t>
            </a:r>
          </a:p>
        </p:txBody>
      </p:sp>
      <p:sp>
        <p:nvSpPr>
          <p:cNvPr id="42" name="Page marker"/>
          <p:cNvSpPr txBox="1"/>
          <p:nvPr/>
        </p:nvSpPr>
        <p:spPr>
          <a:xfrm>
            <a:off x="11247120" y="6463413"/>
            <a:ext cx="438912" cy="130805"/>
          </a:xfrm>
          <a:prstGeom prst="rect">
            <a:avLst/>
          </a:prstGeom>
          <a:noFill/>
        </p:spPr>
        <p:txBody>
          <a:bodyPr wrap="square" lIns="0" tIns="0" rIns="0" bIns="0" anchor="ctr">
            <a:spAutoFit/>
          </a:bodyPr>
          <a:lstStyle/>
          <a:p>
            <a:pPr algn="r">
              <a:lnSpc>
                <a:spcPct val="100000"/>
              </a:lnSpc>
              <a:spcBef>
                <a:spcPts val="0"/>
              </a:spcBef>
              <a:spcAft>
                <a:spcPts val="0"/>
              </a:spcAft>
            </a:pPr>
            <a:r>
              <a:rPr sz="850" b="0" i="0">
                <a:solidFill>
                  <a:srgbClr val="8A8194"/>
                </a:solidFill>
                <a:latin typeface="Arial"/>
              </a:rPr>
              <a:t>5</a:t>
            </a:r>
            <a:endParaRPr lang="en-US" sz="850" b="0" i="0">
              <a:solidFill>
                <a:srgbClr val="8A8194"/>
              </a:solidFill>
              <a:latin typeface="Arial"/>
            </a:endParaRPr>
          </a:p>
        </p:txBody>
      </p:sp>
      <p:sp>
        <p:nvSpPr>
          <p:cNvPr id="43" name="Key assumption footer 3"/>
          <p:cNvSpPr txBox="1"/>
          <p:nvPr/>
        </p:nvSpPr>
        <p:spPr>
          <a:xfrm>
            <a:off x="502920" y="6387418"/>
            <a:ext cx="10332720" cy="246221"/>
          </a:xfrm>
          <a:prstGeom prst="rect">
            <a:avLst/>
          </a:prstGeom>
          <a:noFill/>
        </p:spPr>
        <p:txBody>
          <a:bodyPr wrap="square" lIns="0" tIns="0" rIns="0" bIns="0" anchor="ctr">
            <a:spAutoFit/>
          </a:bodyPr>
          <a:lstStyle/>
          <a:p>
            <a:pPr algn="l">
              <a:lnSpc>
                <a:spcPct val="100000"/>
              </a:lnSpc>
              <a:spcBef>
                <a:spcPts val="0"/>
              </a:spcBef>
              <a:spcAft>
                <a:spcPts val="0"/>
              </a:spcAft>
            </a:pPr>
            <a:r>
              <a:rPr sz="800" b="0" i="0" dirty="0">
                <a:solidFill>
                  <a:srgbClr val="8A8194"/>
                </a:solidFill>
                <a:latin typeface="Arial"/>
              </a:rPr>
              <a:t>Key assumption: one Professional Presence Audit reliably surfaces the three buyer leaks, and its signals can be tracked through to Salesforce outcomes.</a:t>
            </a:r>
            <a:endParaRPr lang="en-US" sz="800" b="0" i="0" dirty="0">
              <a:solidFill>
                <a:srgbClr val="8A8194"/>
              </a:solidFill>
              <a:latin typeface="Arial"/>
            </a:endParaRPr>
          </a:p>
          <a:p>
            <a:pPr algn="l">
              <a:lnSpc>
                <a:spcPct val="100000"/>
              </a:lnSpc>
              <a:spcBef>
                <a:spcPts val="0"/>
              </a:spcBef>
              <a:spcAft>
                <a:spcPts val="0"/>
              </a:spcAft>
            </a:pPr>
            <a:r>
              <a:rPr lang="en-US" sz="800" b="0" i="0" dirty="0">
                <a:solidFill>
                  <a:srgbClr val="8A8194"/>
                </a:solidFill>
                <a:latin typeface="Arial"/>
              </a:rPr>
              <a:t>SSO = single sign-on · SCIM = automated user access management · SDK = software toolkit · Signature estate = company-wide email signatures</a:t>
            </a:r>
            <a:endParaRPr sz="800" b="0" i="0" dirty="0">
              <a:solidFill>
                <a:srgbClr val="8A8194"/>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aphicFrame>
        <p:nvGraphicFramePr>
          <p:cNvPr id="25" name="Chart 0"/>
          <p:cNvGraphicFramePr/>
          <p:nvPr>
            <p:extLst>
              <p:ext uri="{D42A27DB-BD31-4B8C-83A1-F6EECF244321}">
                <p14:modId xmlns:p14="http://schemas.microsoft.com/office/powerpoint/2010/main" val="706273316"/>
              </p:ext>
            </p:extLst>
          </p:nvPr>
        </p:nvGraphicFramePr>
        <p:xfrm>
          <a:off x="6144768" y="1865376"/>
          <a:ext cx="5541264" cy="2249424"/>
        </p:xfrm>
        <a:graphic>
          <a:graphicData uri="http://schemas.openxmlformats.org/drawingml/2006/chart">
            <c:chart xmlns:c="http://schemas.openxmlformats.org/drawingml/2006/chart" xmlns:r="http://schemas.openxmlformats.org/officeDocument/2006/relationships" r:id="rId3"/>
          </a:graphicData>
        </a:graphic>
      </p:graphicFrame>
      <p:sp>
        <p:nvSpPr>
          <p:cNvPr id="41" name="Text 38"/>
          <p:cNvSpPr/>
          <p:nvPr/>
        </p:nvSpPr>
        <p:spPr>
          <a:xfrm>
            <a:off x="502920" y="6300216"/>
            <a:ext cx="10332720" cy="420624"/>
          </a:xfrm>
          <a:prstGeom prst="rect">
            <a:avLst/>
          </a:prstGeom>
          <a:noFill/>
          <a:ln/>
        </p:spPr>
        <p:txBody>
          <a:bodyPr wrap="square" lIns="0" tIns="0" rIns="0" bIns="0" rtlCol="0" anchor="ctr"/>
          <a:lstStyle/>
          <a:p>
            <a:r>
              <a:rPr lang="en-US" sz="800" dirty="0">
                <a:solidFill>
                  <a:srgbClr val="8A8194"/>
                </a:solidFill>
                <a:latin typeface="Arial"/>
              </a:rPr>
              <a:t>Key assumptions: $360K working budget is reallocated weekly only when account movement and incremental lift are demonstrated. </a:t>
            </a:r>
            <a:r>
              <a:rPr lang="en-US" sz="800" i="0" dirty="0">
                <a:solidFill>
                  <a:srgbClr val="8A8194"/>
                </a:solidFill>
                <a:latin typeface="Arial" pitchFamily="34" charset="0"/>
                <a:ea typeface="Arial" pitchFamily="34" charset="-122"/>
                <a:cs typeface="Arial" pitchFamily="34" charset="-120"/>
              </a:rPr>
              <a:t>$45K ACV; conversion rates and ACV reset against </a:t>
            </a:r>
            <a:r>
              <a:rPr lang="en-US" sz="800" i="0" dirty="0" err="1">
                <a:solidFill>
                  <a:srgbClr val="8A8194"/>
                </a:solidFill>
                <a:latin typeface="Arial" pitchFamily="34" charset="0"/>
                <a:ea typeface="Arial" pitchFamily="34" charset="-122"/>
                <a:cs typeface="Arial" pitchFamily="34" charset="-120"/>
              </a:rPr>
              <a:t>HiHello</a:t>
            </a:r>
            <a:r>
              <a:rPr lang="en-US" sz="800" i="0" dirty="0">
                <a:solidFill>
                  <a:srgbClr val="8A8194"/>
                </a:solidFill>
                <a:latin typeface="Arial" pitchFamily="34" charset="0"/>
                <a:ea typeface="Arial" pitchFamily="34" charset="-122"/>
                <a:cs typeface="Arial" pitchFamily="34" charset="-120"/>
              </a:rPr>
              <a:t> actuals. </a:t>
            </a:r>
          </a:p>
          <a:p>
            <a:pPr marL="0" indent="0" algn="l">
              <a:lnSpc>
                <a:spcPct val="100000"/>
              </a:lnSpc>
              <a:spcBef>
                <a:spcPts val="0"/>
              </a:spcBef>
              <a:spcAft>
                <a:spcPts val="0"/>
              </a:spcAft>
              <a:buNone/>
            </a:pPr>
            <a:r>
              <a:rPr lang="en-US" sz="800" i="0" dirty="0">
                <a:solidFill>
                  <a:srgbClr val="8A8194"/>
                </a:solidFill>
                <a:latin typeface="Arial" pitchFamily="34" charset="0"/>
                <a:ea typeface="Arial" pitchFamily="34" charset="-122"/>
                <a:cs typeface="Arial" pitchFamily="34" charset="-120"/>
              </a:rPr>
              <a:t>Owned surfaces = channels </a:t>
            </a:r>
            <a:r>
              <a:rPr lang="en-US" sz="800" i="0" dirty="0" err="1">
                <a:solidFill>
                  <a:srgbClr val="8A8194"/>
                </a:solidFill>
                <a:latin typeface="Arial" pitchFamily="34" charset="0"/>
                <a:ea typeface="Arial" pitchFamily="34" charset="-122"/>
                <a:cs typeface="Arial" pitchFamily="34" charset="-120"/>
              </a:rPr>
              <a:t>HiHello</a:t>
            </a:r>
            <a:r>
              <a:rPr lang="en-US" sz="800" i="0" dirty="0">
                <a:solidFill>
                  <a:srgbClr val="8A8194"/>
                </a:solidFill>
                <a:latin typeface="Arial" pitchFamily="34" charset="0"/>
                <a:ea typeface="Arial" pitchFamily="34" charset="-122"/>
                <a:cs typeface="Arial" pitchFamily="34" charset="-120"/>
              </a:rPr>
              <a:t> controls · Matched audiences = ads shown to selected accounts · Holdout/geo test = compare exposed vs unexposed groups · Pipeline-to-spend = sales pipeline generated per $1 spent</a:t>
            </a:r>
          </a:p>
        </p:txBody>
      </p:sp>
      <p:sp>
        <p:nvSpPr>
          <p:cNvPr id="42" name="Text 39"/>
          <p:cNvSpPr/>
          <p:nvPr/>
        </p:nvSpPr>
        <p:spPr>
          <a:xfrm>
            <a:off x="11247120" y="6419088"/>
            <a:ext cx="438912" cy="219456"/>
          </a:xfrm>
          <a:prstGeom prst="rect">
            <a:avLst/>
          </a:prstGeom>
          <a:noFill/>
          <a:ln/>
        </p:spPr>
        <p:txBody>
          <a:bodyPr wrap="square" lIns="0" tIns="0" rIns="0" bIns="0" rtlCol="0" anchor="ctr"/>
          <a:lstStyle/>
          <a:p>
            <a:pPr marL="0" indent="0" algn="r">
              <a:lnSpc>
                <a:spcPct val="100000"/>
              </a:lnSpc>
              <a:spcBef>
                <a:spcPts val="0"/>
              </a:spcBef>
              <a:spcAft>
                <a:spcPts val="0"/>
              </a:spcAft>
              <a:buNone/>
            </a:pPr>
            <a:r>
              <a:rPr lang="en-US" sz="850" b="0" i="0">
                <a:solidFill>
                  <a:srgbClr val="8A8194"/>
                </a:solidFill>
                <a:latin typeface="Arial" pitchFamily="34" charset="0"/>
                <a:ea typeface="Arial" pitchFamily="34" charset="-122"/>
                <a:cs typeface="Arial" pitchFamily="34" charset="-120"/>
              </a:rPr>
              <a:t>6</a:t>
            </a:r>
            <a:endParaRPr lang="en-US" sz="850"/>
          </a:p>
        </p:txBody>
      </p:sp>
      <p:sp>
        <p:nvSpPr>
          <p:cNvPr id="43" name="Slide eyebrow"/>
          <p:cNvSpPr txBox="1">
            <a:spLocks/>
          </p:cNvSpPr>
          <p:nvPr/>
        </p:nvSpPr>
        <p:spPr>
          <a:xfrm>
            <a:off x="502920" y="274320"/>
            <a:ext cx="7315200" cy="201168"/>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8A8194"/>
                </a:solidFill>
                <a:latin typeface="Arial"/>
              </a:rPr>
              <a:t>CHANNEL PLAN AND ECONOMICS</a:t>
            </a:r>
          </a:p>
        </p:txBody>
      </p:sp>
      <p:sp>
        <p:nvSpPr>
          <p:cNvPr id="44" name="Slide title"/>
          <p:cNvSpPr txBox="1">
            <a:spLocks/>
          </p:cNvSpPr>
          <p:nvPr/>
        </p:nvSpPr>
        <p:spPr>
          <a:xfrm>
            <a:off x="502920" y="520871"/>
            <a:ext cx="11183112" cy="384721"/>
          </a:xfrm>
          <a:prstGeom prst="rect">
            <a:avLst/>
          </a:prstGeom>
          <a:noFill/>
        </p:spPr>
        <p:txBody>
          <a:bodyPr wrap="square" lIns="0" tIns="0" rIns="0" bIns="0" anchor="ctr">
            <a:spAutoFit/>
          </a:bodyPr>
          <a:lstStyle/>
          <a:p>
            <a:pPr algn="l">
              <a:lnSpc>
                <a:spcPct val="100000"/>
              </a:lnSpc>
              <a:spcBef>
                <a:spcPts val="0"/>
              </a:spcBef>
              <a:spcAft>
                <a:spcPts val="0"/>
              </a:spcAft>
            </a:pPr>
            <a:r>
              <a:rPr lang="en-US" sz="2500" b="1" i="0">
                <a:solidFill>
                  <a:srgbClr val="191847"/>
                </a:solidFill>
                <a:latin typeface="Calibri"/>
              </a:rPr>
              <a:t>Prove on owned surfaces. Scale the winners. Reallocate every week.</a:t>
            </a:r>
          </a:p>
        </p:txBody>
      </p:sp>
      <p:sp>
        <p:nvSpPr>
          <p:cNvPr id="45" name="Slide subtitle"/>
          <p:cNvSpPr txBox="1">
            <a:spLocks/>
          </p:cNvSpPr>
          <p:nvPr/>
        </p:nvSpPr>
        <p:spPr>
          <a:xfrm>
            <a:off x="502920" y="978408"/>
            <a:ext cx="11183112" cy="292608"/>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0" i="0">
                <a:solidFill>
                  <a:srgbClr val="4A5568"/>
                </a:solidFill>
                <a:latin typeface="Arial"/>
              </a:rPr>
              <a:t>The $360K working budget follows measured account movement—not click volume—and remains adjustable by design.</a:t>
            </a:r>
          </a:p>
        </p:txBody>
      </p:sp>
      <p:sp>
        <p:nvSpPr>
          <p:cNvPr id="46" name="Main vertical divider"/>
          <p:cNvSpPr/>
          <p:nvPr/>
        </p:nvSpPr>
        <p:spPr>
          <a:xfrm>
            <a:off x="5833872" y="1444752"/>
            <a:ext cx="10972" cy="3090672"/>
          </a:xfrm>
          <a:prstGeom prst="rect">
            <a:avLst/>
          </a:prstGeom>
          <a:solidFill>
            <a:srgbClr val="DDD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Owned section heading"/>
          <p:cNvSpPr txBox="1">
            <a:spLocks/>
          </p:cNvSpPr>
          <p:nvPr/>
        </p:nvSpPr>
        <p:spPr>
          <a:xfrm>
            <a:off x="502920" y="1490527"/>
            <a:ext cx="507492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dirty="0">
                <a:solidFill>
                  <a:srgbClr val="6C32CD"/>
                </a:solidFill>
                <a:latin typeface="Arial"/>
              </a:rPr>
              <a:t>01 · PROVE ON OWNED SURFACES</a:t>
            </a:r>
          </a:p>
        </p:txBody>
      </p:sp>
      <p:sp>
        <p:nvSpPr>
          <p:cNvPr id="48" name="Paid section heading"/>
          <p:cNvSpPr txBox="1">
            <a:spLocks/>
          </p:cNvSpPr>
          <p:nvPr/>
        </p:nvSpPr>
        <p:spPr>
          <a:xfrm>
            <a:off x="6144768" y="1490527"/>
            <a:ext cx="5541264"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29744C"/>
                </a:solidFill>
                <a:latin typeface="Arial"/>
              </a:rPr>
              <a:t>02 · SCALE PAID WINNERS · $360K</a:t>
            </a:r>
          </a:p>
        </p:txBody>
      </p:sp>
      <p:sp>
        <p:nvSpPr>
          <p:cNvPr id="49" name="Owned tactic 1"/>
          <p:cNvSpPr txBox="1">
            <a:spLocks/>
          </p:cNvSpPr>
          <p:nvPr/>
        </p:nvSpPr>
        <p:spPr>
          <a:xfrm>
            <a:off x="502920" y="1865376"/>
            <a:ext cx="5074920" cy="500137"/>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Signature estate (Email signature banners)</a:t>
            </a:r>
          </a:p>
          <a:p>
            <a:pPr algn="l">
              <a:lnSpc>
                <a:spcPct val="100000"/>
              </a:lnSpc>
              <a:spcBef>
                <a:spcPts val="0"/>
              </a:spcBef>
              <a:spcAft>
                <a:spcPts val="0"/>
              </a:spcAft>
            </a:pPr>
            <a:r>
              <a:rPr lang="en-US" sz="1050" b="0" i="0" dirty="0">
                <a:solidFill>
                  <a:srgbClr val="1A1325"/>
                </a:solidFill>
                <a:latin typeface="Arial"/>
              </a:rPr>
              <a:t>Show different email-signature messages depending on how close the buyer is to purchasing/by audience stage, not by calendar.</a:t>
            </a:r>
          </a:p>
        </p:txBody>
      </p:sp>
      <p:sp>
        <p:nvSpPr>
          <p:cNvPr id="50" name="Owned tactic 2"/>
          <p:cNvSpPr txBox="1">
            <a:spLocks/>
          </p:cNvSpPr>
          <p:nvPr/>
        </p:nvSpPr>
        <p:spPr>
          <a:xfrm>
            <a:off x="502920" y="2523744"/>
            <a:ext cx="5074920" cy="500137"/>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Company cadence </a:t>
            </a:r>
            <a:r>
              <a:rPr lang="en-US" sz="1150" b="1" i="0">
                <a:solidFill>
                  <a:srgbClr val="191847"/>
                </a:solidFill>
                <a:latin typeface="Arial"/>
              </a:rPr>
              <a:t>(</a:t>
            </a:r>
            <a:r>
              <a:rPr lang="en-US" sz="1150" b="1" i="0" dirty="0" err="1">
                <a:solidFill>
                  <a:srgbClr val="191847"/>
                </a:solidFill>
                <a:latin typeface="Arial"/>
              </a:rPr>
              <a:t>HiHello’s</a:t>
            </a:r>
            <a:r>
              <a:rPr lang="en-US" sz="1150" b="1" i="0" dirty="0">
                <a:solidFill>
                  <a:srgbClr val="191847"/>
                </a:solidFill>
                <a:latin typeface="Arial"/>
              </a:rPr>
              <a:t> own social posts)</a:t>
            </a:r>
          </a:p>
          <a:p>
            <a:pPr algn="l">
              <a:lnSpc>
                <a:spcPct val="100000"/>
              </a:lnSpc>
              <a:spcBef>
                <a:spcPts val="0"/>
              </a:spcBef>
              <a:spcAft>
                <a:spcPts val="0"/>
              </a:spcAft>
            </a:pPr>
            <a:r>
              <a:rPr lang="en-US" sz="1050" b="0" i="0" dirty="0">
                <a:solidFill>
                  <a:srgbClr val="1A1325"/>
                </a:solidFill>
                <a:latin typeface="Arial"/>
              </a:rPr>
              <a:t>Post useful company content on a consistent weekly schedule.</a:t>
            </a:r>
          </a:p>
          <a:p>
            <a:pPr algn="l">
              <a:lnSpc>
                <a:spcPct val="100000"/>
              </a:lnSpc>
              <a:spcBef>
                <a:spcPts val="0"/>
              </a:spcBef>
              <a:spcAft>
                <a:spcPts val="0"/>
              </a:spcAft>
            </a:pPr>
            <a:r>
              <a:rPr lang="en-US" sz="1050" b="0" i="0" dirty="0">
                <a:solidFill>
                  <a:srgbClr val="1A1325"/>
                </a:solidFill>
                <a:latin typeface="Arial"/>
              </a:rPr>
              <a:t>Eg: Tue product-in-action clip · Wed customer proof · Thu category point of view.</a:t>
            </a:r>
          </a:p>
        </p:txBody>
      </p:sp>
      <p:sp>
        <p:nvSpPr>
          <p:cNvPr id="51" name="Owned tactic 3"/>
          <p:cNvSpPr txBox="1">
            <a:spLocks/>
          </p:cNvSpPr>
          <p:nvPr/>
        </p:nvSpPr>
        <p:spPr>
          <a:xfrm>
            <a:off x="502920" y="3182111"/>
            <a:ext cx="5074920" cy="500137"/>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Employee Social Posts kit</a:t>
            </a:r>
          </a:p>
          <a:p>
            <a:pPr algn="l">
              <a:lnSpc>
                <a:spcPct val="100000"/>
              </a:lnSpc>
              <a:spcBef>
                <a:spcPts val="0"/>
              </a:spcBef>
              <a:spcAft>
                <a:spcPts val="0"/>
              </a:spcAft>
            </a:pPr>
            <a:r>
              <a:rPr lang="en-US" sz="1050" b="0" i="0" dirty="0">
                <a:solidFill>
                  <a:srgbClr val="1A1325"/>
                </a:solidFill>
                <a:latin typeface="Arial"/>
              </a:rPr>
              <a:t>Give employees ready-made content to post (weekly copy, visuals and hooks) </a:t>
            </a:r>
            <a:r>
              <a:rPr lang="en-US" sz="1050" dirty="0">
                <a:solidFill>
                  <a:srgbClr val="1A1325"/>
                </a:solidFill>
                <a:latin typeface="Arial"/>
              </a:rPr>
              <a:t>L</a:t>
            </a:r>
            <a:r>
              <a:rPr lang="en-US" sz="1050" b="0" i="0" dirty="0">
                <a:solidFill>
                  <a:srgbClr val="1A1325"/>
                </a:solidFill>
                <a:latin typeface="Arial"/>
              </a:rPr>
              <a:t>eaders post first, then the company page amplifies.</a:t>
            </a:r>
          </a:p>
        </p:txBody>
      </p:sp>
      <p:sp>
        <p:nvSpPr>
          <p:cNvPr id="52" name="Owned tactic 4"/>
          <p:cNvSpPr txBox="1">
            <a:spLocks/>
          </p:cNvSpPr>
          <p:nvPr/>
        </p:nvSpPr>
        <p:spPr>
          <a:xfrm>
            <a:off x="502920" y="3840479"/>
            <a:ext cx="5074920" cy="338554"/>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Video slicing (Reuse video content)</a:t>
            </a:r>
          </a:p>
          <a:p>
            <a:pPr algn="l">
              <a:lnSpc>
                <a:spcPct val="100000"/>
              </a:lnSpc>
              <a:spcBef>
                <a:spcPts val="0"/>
              </a:spcBef>
              <a:spcAft>
                <a:spcPts val="0"/>
              </a:spcAft>
            </a:pPr>
            <a:r>
              <a:rPr lang="en-US" sz="1050" b="0" i="0" dirty="0">
                <a:solidFill>
                  <a:srgbClr val="1A1325"/>
                </a:solidFill>
                <a:latin typeface="Arial"/>
              </a:rPr>
              <a:t>Cut every webinar and customer interview into 15–30 second native clips.</a:t>
            </a:r>
          </a:p>
        </p:txBody>
      </p:sp>
      <p:sp>
        <p:nvSpPr>
          <p:cNvPr id="53" name="Paid activation note"/>
          <p:cNvSpPr txBox="1">
            <a:spLocks/>
          </p:cNvSpPr>
          <p:nvPr/>
        </p:nvSpPr>
        <p:spPr>
          <a:xfrm>
            <a:off x="6144768" y="4174178"/>
            <a:ext cx="5541264" cy="484748"/>
          </a:xfrm>
          <a:prstGeom prst="rect">
            <a:avLst/>
          </a:prstGeom>
          <a:noFill/>
        </p:spPr>
        <p:txBody>
          <a:bodyPr wrap="square" lIns="0" tIns="0" rIns="0" bIns="0" anchor="ctr">
            <a:spAutoFit/>
          </a:bodyPr>
          <a:lstStyle/>
          <a:p>
            <a:pPr algn="l">
              <a:lnSpc>
                <a:spcPct val="100000"/>
              </a:lnSpc>
              <a:spcBef>
                <a:spcPts val="0"/>
              </a:spcBef>
              <a:spcAft>
                <a:spcPts val="0"/>
              </a:spcAft>
            </a:pPr>
            <a:r>
              <a:rPr lang="en-US" sz="1050" b="1" i="0" dirty="0">
                <a:solidFill>
                  <a:srgbClr val="4A5568"/>
                </a:solidFill>
                <a:latin typeface="Arial"/>
              </a:rPr>
              <a:t>Activation: </a:t>
            </a:r>
            <a:r>
              <a:rPr lang="en-US" sz="1050" b="0" i="0" dirty="0">
                <a:solidFill>
                  <a:srgbClr val="4A5568"/>
                </a:solidFill>
                <a:latin typeface="Arial"/>
              </a:rPr>
              <a:t>Matched audiences + job-title layers · Category and competitor intent · Review-site retargeting · </a:t>
            </a:r>
            <a:r>
              <a:rPr lang="en-US" sz="1050" b="0" i="0">
                <a:solidFill>
                  <a:srgbClr val="4A5568"/>
                </a:solidFill>
                <a:latin typeface="Arial"/>
              </a:rPr>
              <a:t>C</a:t>
            </a:r>
            <a:r>
              <a:rPr lang="en-US" sz="1050" b="0" i="0" dirty="0">
                <a:solidFill>
                  <a:srgbClr val="4A5568"/>
                </a:solidFill>
                <a:latin typeface="Arial"/>
              </a:rPr>
              <a:t>apture search intent </a:t>
            </a:r>
          </a:p>
          <a:p>
            <a:pPr algn="l">
              <a:lnSpc>
                <a:spcPct val="100000"/>
              </a:lnSpc>
              <a:spcBef>
                <a:spcPts val="0"/>
              </a:spcBef>
              <a:spcAft>
                <a:spcPts val="0"/>
              </a:spcAft>
            </a:pPr>
            <a:r>
              <a:rPr lang="en-US" sz="1050" b="0" i="0">
                <a:solidFill>
                  <a:srgbClr val="4A5568"/>
                </a:solidFill>
                <a:latin typeface="Arial"/>
              </a:rPr>
              <a:t>U</a:t>
            </a:r>
            <a:r>
              <a:rPr lang="en-US" sz="1050" b="0" i="0" dirty="0">
                <a:solidFill>
                  <a:srgbClr val="4A5568"/>
                </a:solidFill>
                <a:latin typeface="Arial"/>
              </a:rPr>
              <a:t>se events and webinars for priority accounts</a:t>
            </a:r>
          </a:p>
        </p:txBody>
      </p:sp>
      <p:sp>
        <p:nvSpPr>
          <p:cNvPr id="54" name="Rules heading"/>
          <p:cNvSpPr txBox="1">
            <a:spLocks/>
          </p:cNvSpPr>
          <p:nvPr/>
        </p:nvSpPr>
        <p:spPr>
          <a:xfrm>
            <a:off x="502920" y="4709215"/>
            <a:ext cx="11183112"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03 · REALLOCATE WEEKLY · 9.0x PIPELINE-TO-SPEND · $5.0K COST PER QUALIFIED OPPORTUNITY</a:t>
            </a:r>
          </a:p>
        </p:txBody>
      </p:sp>
      <p:sp>
        <p:nvSpPr>
          <p:cNvPr id="55" name="Rules band"/>
          <p:cNvSpPr/>
          <p:nvPr/>
        </p:nvSpPr>
        <p:spPr>
          <a:xfrm>
            <a:off x="502920" y="4983480"/>
            <a:ext cx="11183112" cy="1234440"/>
          </a:xfrm>
          <a:prstGeom prst="rect">
            <a:avLst/>
          </a:prstGeom>
          <a:solidFill>
            <a:srgbClr val="F7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Rule divider"/>
          <p:cNvSpPr/>
          <p:nvPr/>
        </p:nvSpPr>
        <p:spPr>
          <a:xfrm>
            <a:off x="3273552" y="5148072"/>
            <a:ext cx="10972" cy="914400"/>
          </a:xfrm>
          <a:prstGeom prst="rect">
            <a:avLst/>
          </a:prstGeom>
          <a:solidFill>
            <a:srgbClr val="DDD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Rule divider"/>
          <p:cNvSpPr/>
          <p:nvPr/>
        </p:nvSpPr>
        <p:spPr>
          <a:xfrm>
            <a:off x="6044184" y="5148072"/>
            <a:ext cx="10972" cy="914400"/>
          </a:xfrm>
          <a:prstGeom prst="rect">
            <a:avLst/>
          </a:prstGeom>
          <a:solidFill>
            <a:srgbClr val="DDD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Rule divider"/>
          <p:cNvSpPr/>
          <p:nvPr/>
        </p:nvSpPr>
        <p:spPr>
          <a:xfrm>
            <a:off x="8814816" y="5148072"/>
            <a:ext cx="10972" cy="914400"/>
          </a:xfrm>
          <a:prstGeom prst="rect">
            <a:avLst/>
          </a:prstGeom>
          <a:solidFill>
            <a:srgbClr val="DDD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ule 1"/>
          <p:cNvSpPr txBox="1"/>
          <p:nvPr/>
        </p:nvSpPr>
        <p:spPr>
          <a:xfrm>
            <a:off x="658368" y="5056632"/>
            <a:ext cx="2542032" cy="1042415"/>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29744C"/>
                </a:solidFill>
                <a:latin typeface="Arial"/>
              </a:rPr>
              <a:t>Scale</a:t>
            </a:r>
            <a:endParaRPr lang="en-US" sz="1150" b="1" i="0">
              <a:solidFill>
                <a:srgbClr val="29744C"/>
              </a:solidFill>
              <a:latin typeface="Arial"/>
            </a:endParaRPr>
          </a:p>
          <a:p>
            <a:pPr algn="l">
              <a:lnSpc>
                <a:spcPct val="100000"/>
              </a:lnSpc>
              <a:spcBef>
                <a:spcPts val="0"/>
              </a:spcBef>
              <a:spcAft>
                <a:spcPts val="0"/>
              </a:spcAft>
            </a:pPr>
            <a:r>
              <a:rPr lang="en-US" sz="950" b="0" i="0">
                <a:solidFill>
                  <a:srgbClr val="1A1325"/>
                </a:solidFill>
                <a:latin typeface="Arial"/>
              </a:rPr>
              <a:t>PQA-to-opportunity rate and sales acceptance improve two weeks running.</a:t>
            </a:r>
          </a:p>
        </p:txBody>
      </p:sp>
      <p:sp>
        <p:nvSpPr>
          <p:cNvPr id="60" name="Rule 2"/>
          <p:cNvSpPr txBox="1"/>
          <p:nvPr/>
        </p:nvSpPr>
        <p:spPr>
          <a:xfrm>
            <a:off x="3429000" y="5056632"/>
            <a:ext cx="2542032" cy="1042415"/>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29744C"/>
                </a:solidFill>
                <a:latin typeface="Arial"/>
              </a:rPr>
              <a:t>Protect</a:t>
            </a:r>
            <a:endParaRPr lang="en-US" sz="1150" b="1" i="0">
              <a:solidFill>
                <a:srgbClr val="29744C"/>
              </a:solidFill>
              <a:latin typeface="Arial"/>
            </a:endParaRPr>
          </a:p>
          <a:p>
            <a:pPr algn="l">
              <a:lnSpc>
                <a:spcPct val="100000"/>
              </a:lnSpc>
              <a:spcBef>
                <a:spcPts val="0"/>
              </a:spcBef>
              <a:spcAft>
                <a:spcPts val="0"/>
              </a:spcAft>
            </a:pPr>
            <a:r>
              <a:rPr lang="en-US" sz="950" b="0" i="0">
                <a:solidFill>
                  <a:srgbClr val="1A1325"/>
                </a:solidFill>
                <a:latin typeface="Arial"/>
              </a:rPr>
              <a:t>Holdout or geo testing confirms incremental lift, even at mid-range cost.</a:t>
            </a:r>
          </a:p>
        </p:txBody>
      </p:sp>
      <p:sp>
        <p:nvSpPr>
          <p:cNvPr id="61" name="Rule 3"/>
          <p:cNvSpPr txBox="1"/>
          <p:nvPr/>
        </p:nvSpPr>
        <p:spPr>
          <a:xfrm>
            <a:off x="6199632" y="5056632"/>
            <a:ext cx="2542032" cy="1042415"/>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C75F18"/>
                </a:solidFill>
                <a:latin typeface="Arial"/>
              </a:rPr>
              <a:t>Reallocate</a:t>
            </a:r>
            <a:endParaRPr lang="en-US" sz="1150" b="1" i="0">
              <a:solidFill>
                <a:srgbClr val="C75F18"/>
              </a:solidFill>
              <a:latin typeface="Arial"/>
            </a:endParaRPr>
          </a:p>
          <a:p>
            <a:pPr algn="l">
              <a:lnSpc>
                <a:spcPct val="100000"/>
              </a:lnSpc>
              <a:spcBef>
                <a:spcPts val="0"/>
              </a:spcBef>
              <a:spcAft>
                <a:spcPts val="0"/>
              </a:spcAft>
            </a:pPr>
            <a:r>
              <a:rPr lang="en-US" sz="950" b="0" i="0">
                <a:solidFill>
                  <a:srgbClr val="1A1325"/>
                </a:solidFill>
                <a:latin typeface="Arial"/>
              </a:rPr>
              <a:t>Cost per qualified opportunity exceeds the $5.0K target for two weeks.</a:t>
            </a:r>
          </a:p>
        </p:txBody>
      </p:sp>
      <p:sp>
        <p:nvSpPr>
          <p:cNvPr id="62" name="Rule 4"/>
          <p:cNvSpPr txBox="1"/>
          <p:nvPr/>
        </p:nvSpPr>
        <p:spPr>
          <a:xfrm>
            <a:off x="8970264" y="5056632"/>
            <a:ext cx="2542032" cy="1042415"/>
          </a:xfrm>
          <a:prstGeom prst="rect">
            <a:avLst/>
          </a:prstGeom>
          <a:noFill/>
        </p:spPr>
        <p:txBody>
          <a:bodyPr wrap="square" lIns="0" tIns="0" rIns="0" bIns="0" anchor="ctr">
            <a:spAutoFit/>
          </a:bodyPr>
          <a:lstStyle/>
          <a:p>
            <a:pPr algn="l">
              <a:lnSpc>
                <a:spcPct val="100000"/>
              </a:lnSpc>
              <a:spcBef>
                <a:spcPts val="0"/>
              </a:spcBef>
              <a:spcAft>
                <a:spcPts val="0"/>
              </a:spcAft>
            </a:pPr>
            <a:r>
              <a:rPr sz="1150" b="1" i="0">
                <a:solidFill>
                  <a:srgbClr val="B72E80"/>
                </a:solidFill>
                <a:latin typeface="Arial"/>
              </a:rPr>
              <a:t>Pause</a:t>
            </a:r>
            <a:endParaRPr lang="en-US" sz="1150" b="1" i="0">
              <a:solidFill>
                <a:srgbClr val="B72E80"/>
              </a:solidFill>
              <a:latin typeface="Arial"/>
            </a:endParaRPr>
          </a:p>
          <a:p>
            <a:pPr algn="l">
              <a:lnSpc>
                <a:spcPct val="100000"/>
              </a:lnSpc>
              <a:spcBef>
                <a:spcPts val="0"/>
              </a:spcBef>
              <a:spcAft>
                <a:spcPts val="0"/>
              </a:spcAft>
            </a:pPr>
            <a:r>
              <a:rPr lang="en-US" sz="950" b="0" i="0">
                <a:solidFill>
                  <a:srgbClr val="1A1325"/>
                </a:solidFill>
                <a:latin typeface="Arial"/>
              </a:rPr>
              <a:t>High click-through produces no account movement across three campaign flights.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a:spLocks/>
          </p:cNvSpPr>
          <p:nvPr/>
        </p:nvSpPr>
        <p:spPr>
          <a:xfrm>
            <a:off x="502920" y="274320"/>
            <a:ext cx="7772400" cy="201168"/>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8A8194"/>
                </a:solidFill>
                <a:latin typeface="Arial"/>
              </a:rPr>
              <a:t>APPENDIX · GOVERNANCE AND SYNDICATION</a:t>
            </a:r>
          </a:p>
        </p:txBody>
      </p:sp>
      <p:sp>
        <p:nvSpPr>
          <p:cNvPr id="3" name="Title"/>
          <p:cNvSpPr txBox="1">
            <a:spLocks/>
          </p:cNvSpPr>
          <p:nvPr/>
        </p:nvSpPr>
        <p:spPr>
          <a:xfrm>
            <a:off x="502920" y="502920"/>
            <a:ext cx="11183112" cy="420624"/>
          </a:xfrm>
          <a:prstGeom prst="rect">
            <a:avLst/>
          </a:prstGeom>
          <a:noFill/>
        </p:spPr>
        <p:txBody>
          <a:bodyPr wrap="square" lIns="0" tIns="0" rIns="0" bIns="0" anchor="ctr">
            <a:spAutoFit/>
          </a:bodyPr>
          <a:lstStyle/>
          <a:p>
            <a:pPr algn="l">
              <a:lnSpc>
                <a:spcPct val="100000"/>
              </a:lnSpc>
              <a:spcBef>
                <a:spcPts val="0"/>
              </a:spcBef>
              <a:spcAft>
                <a:spcPts val="0"/>
              </a:spcAft>
            </a:pPr>
            <a:r>
              <a:rPr lang="en-US" sz="2500" b="1" i="0">
                <a:solidFill>
                  <a:srgbClr val="191847"/>
                </a:solidFill>
                <a:latin typeface="Calibri"/>
              </a:rPr>
              <a:t>Run the cadence. Fix the failure. Gate the lead.</a:t>
            </a:r>
          </a:p>
        </p:txBody>
      </p:sp>
      <p:sp>
        <p:nvSpPr>
          <p:cNvPr id="4" name="Subtitle"/>
          <p:cNvSpPr txBox="1">
            <a:spLocks/>
          </p:cNvSpPr>
          <p:nvPr/>
        </p:nvSpPr>
        <p:spPr>
          <a:xfrm>
            <a:off x="502920" y="1036226"/>
            <a:ext cx="11183112" cy="176972"/>
          </a:xfrm>
          <a:prstGeom prst="rect">
            <a:avLst/>
          </a:prstGeom>
          <a:noFill/>
        </p:spPr>
        <p:txBody>
          <a:bodyPr wrap="square" lIns="0" tIns="0" rIns="0" bIns="0" anchor="ctr">
            <a:spAutoFit/>
          </a:bodyPr>
          <a:lstStyle/>
          <a:p>
            <a:pPr algn="l">
              <a:lnSpc>
                <a:spcPct val="100000"/>
              </a:lnSpc>
              <a:spcBef>
                <a:spcPts val="0"/>
              </a:spcBef>
              <a:spcAft>
                <a:spcPts val="0"/>
              </a:spcAft>
            </a:pPr>
            <a:r>
              <a:rPr lang="en-US" sz="1150" b="0" i="0" dirty="0">
                <a:solidFill>
                  <a:srgbClr val="4A5568"/>
                </a:solidFill>
                <a:latin typeface="Arial"/>
              </a:rPr>
              <a:t>Regular reviews and clear lead-quality rules make sure we only scale what works.</a:t>
            </a:r>
          </a:p>
        </p:txBody>
      </p:sp>
      <p:sp>
        <p:nvSpPr>
          <p:cNvPr id="5" name="Header rule"/>
          <p:cNvSpPr/>
          <p:nvPr/>
        </p:nvSpPr>
        <p:spPr>
          <a:xfrm>
            <a:off x="502920" y="1389888"/>
            <a:ext cx="11183112" cy="13716"/>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Cadence heading"/>
          <p:cNvSpPr txBox="1">
            <a:spLocks/>
          </p:cNvSpPr>
          <p:nvPr/>
        </p:nvSpPr>
        <p:spPr>
          <a:xfrm>
            <a:off x="502920" y="1636831"/>
            <a:ext cx="38862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6C32CD"/>
                </a:solidFill>
                <a:latin typeface="Arial"/>
              </a:rPr>
              <a:t>01 · RUN A FIXED OPERATING CADENCE</a:t>
            </a:r>
          </a:p>
        </p:txBody>
      </p:sp>
      <p:sp>
        <p:nvSpPr>
          <p:cNvPr id="7" name="Cadence frequency 1"/>
          <p:cNvSpPr txBox="1">
            <a:spLocks/>
          </p:cNvSpPr>
          <p:nvPr/>
        </p:nvSpPr>
        <p:spPr>
          <a:xfrm>
            <a:off x="502920" y="2015582"/>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6C32CD"/>
                </a:solidFill>
                <a:latin typeface="Arial"/>
              </a:rPr>
              <a:t>WEEKLY</a:t>
            </a:r>
          </a:p>
        </p:txBody>
      </p:sp>
      <p:sp>
        <p:nvSpPr>
          <p:cNvPr id="8" name="Cadence item 1"/>
          <p:cNvSpPr txBox="1">
            <a:spLocks/>
          </p:cNvSpPr>
          <p:nvPr/>
        </p:nvSpPr>
        <p:spPr>
          <a:xfrm>
            <a:off x="1389888" y="1975104"/>
            <a:ext cx="2999232" cy="453970"/>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Funnel review</a:t>
            </a:r>
          </a:p>
          <a:p>
            <a:pPr algn="l">
              <a:lnSpc>
                <a:spcPct val="100000"/>
              </a:lnSpc>
              <a:spcBef>
                <a:spcPts val="0"/>
              </a:spcBef>
              <a:spcAft>
                <a:spcPts val="0"/>
              </a:spcAft>
            </a:pPr>
            <a:r>
              <a:rPr lang="en-US" sz="900" b="0" i="0" dirty="0">
                <a:solidFill>
                  <a:srgbClr val="1A1325"/>
                </a:solidFill>
                <a:latin typeface="Arial"/>
              </a:rPr>
              <a:t>Account movement · cost per qualified opportunity · SLA breaches · experiment readouts (test results)</a:t>
            </a:r>
          </a:p>
        </p:txBody>
      </p:sp>
      <p:sp>
        <p:nvSpPr>
          <p:cNvPr id="9" name="Cadence rule 1"/>
          <p:cNvSpPr/>
          <p:nvPr/>
        </p:nvSpPr>
        <p:spPr>
          <a:xfrm>
            <a:off x="502920" y="2688336"/>
            <a:ext cx="388620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Cadence frequency 2"/>
          <p:cNvSpPr txBox="1">
            <a:spLocks/>
          </p:cNvSpPr>
          <p:nvPr/>
        </p:nvSpPr>
        <p:spPr>
          <a:xfrm>
            <a:off x="502920" y="2820254"/>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6C32CD"/>
                </a:solidFill>
                <a:latin typeface="Arial"/>
              </a:rPr>
              <a:t>MONTHLY</a:t>
            </a:r>
          </a:p>
        </p:txBody>
      </p:sp>
      <p:sp>
        <p:nvSpPr>
          <p:cNvPr id="11" name="Cadence item 2"/>
          <p:cNvSpPr txBox="1">
            <a:spLocks/>
          </p:cNvSpPr>
          <p:nvPr/>
        </p:nvSpPr>
        <p:spPr>
          <a:xfrm>
            <a:off x="1389888" y="2779776"/>
            <a:ext cx="2999232" cy="453970"/>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a:solidFill>
                  <a:srgbClr val="191847"/>
                </a:solidFill>
                <a:latin typeface="Arial"/>
              </a:rPr>
              <a:t>Budget reallocation</a:t>
            </a:r>
          </a:p>
          <a:p>
            <a:pPr algn="l">
              <a:lnSpc>
                <a:spcPct val="100000"/>
              </a:lnSpc>
              <a:spcBef>
                <a:spcPts val="0"/>
              </a:spcBef>
              <a:spcAft>
                <a:spcPts val="0"/>
              </a:spcAft>
            </a:pPr>
            <a:r>
              <a:rPr lang="en-US" sz="900" b="0" i="0">
                <a:solidFill>
                  <a:srgbClr val="1A1325"/>
                </a:solidFill>
                <a:latin typeface="Arial"/>
              </a:rPr>
              <a:t>Shift spend against the four reallocation rules—no annual lock-in</a:t>
            </a:r>
          </a:p>
        </p:txBody>
      </p:sp>
      <p:sp>
        <p:nvSpPr>
          <p:cNvPr id="12" name="Cadence rule 2"/>
          <p:cNvSpPr/>
          <p:nvPr/>
        </p:nvSpPr>
        <p:spPr>
          <a:xfrm>
            <a:off x="502920" y="3493008"/>
            <a:ext cx="388620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Cadence frequency 3"/>
          <p:cNvSpPr txBox="1">
            <a:spLocks/>
          </p:cNvSpPr>
          <p:nvPr/>
        </p:nvSpPr>
        <p:spPr>
          <a:xfrm>
            <a:off x="502920" y="3624926"/>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6C32CD"/>
                </a:solidFill>
                <a:latin typeface="Arial"/>
              </a:rPr>
              <a:t>QUARTERLY</a:t>
            </a:r>
          </a:p>
        </p:txBody>
      </p:sp>
      <p:sp>
        <p:nvSpPr>
          <p:cNvPr id="14" name="Cadence item 3"/>
          <p:cNvSpPr txBox="1">
            <a:spLocks/>
          </p:cNvSpPr>
          <p:nvPr/>
        </p:nvSpPr>
        <p:spPr>
          <a:xfrm>
            <a:off x="1389888" y="3584448"/>
            <a:ext cx="2999232" cy="453970"/>
          </a:xfrm>
          <a:prstGeom prst="rect">
            <a:avLst/>
          </a:prstGeom>
          <a:noFill/>
        </p:spPr>
        <p:txBody>
          <a:bodyPr wrap="square" lIns="0" tIns="0" rIns="0" bIns="0" anchor="t">
            <a:spAutoFit/>
          </a:bodyPr>
          <a:lstStyle/>
          <a:p>
            <a:pPr algn="l">
              <a:lnSpc>
                <a:spcPct val="100000"/>
              </a:lnSpc>
              <a:spcBef>
                <a:spcPts val="0"/>
              </a:spcBef>
              <a:spcAft>
                <a:spcPts val="0"/>
              </a:spcAft>
            </a:pPr>
            <a:r>
              <a:rPr lang="en-US" sz="1150" b="1" i="0" dirty="0">
                <a:solidFill>
                  <a:srgbClr val="191847"/>
                </a:solidFill>
                <a:latin typeface="Arial"/>
              </a:rPr>
              <a:t>Market-insight sync</a:t>
            </a:r>
            <a:endParaRPr lang="en-US" sz="900" b="0" i="0" dirty="0">
              <a:solidFill>
                <a:srgbClr val="1A1325"/>
              </a:solidFill>
              <a:latin typeface="Arial"/>
            </a:endParaRPr>
          </a:p>
          <a:p>
            <a:pPr algn="l">
              <a:lnSpc>
                <a:spcPct val="100000"/>
              </a:lnSpc>
              <a:spcBef>
                <a:spcPts val="0"/>
              </a:spcBef>
              <a:spcAft>
                <a:spcPts val="0"/>
              </a:spcAft>
            </a:pPr>
            <a:r>
              <a:rPr lang="en-US" sz="900" b="0" i="0" dirty="0">
                <a:solidFill>
                  <a:srgbClr val="1A1325"/>
                </a:solidFill>
                <a:latin typeface="Arial"/>
              </a:rPr>
              <a:t>Share customer requests, integration gaps and lost-deal reasons with Product and Engineering.</a:t>
            </a:r>
          </a:p>
        </p:txBody>
      </p:sp>
      <p:sp>
        <p:nvSpPr>
          <p:cNvPr id="15" name="Signals divider"/>
          <p:cNvSpPr/>
          <p:nvPr/>
        </p:nvSpPr>
        <p:spPr>
          <a:xfrm>
            <a:off x="502920" y="4425696"/>
            <a:ext cx="3886200" cy="13716"/>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Signals heading"/>
          <p:cNvSpPr txBox="1">
            <a:spLocks/>
          </p:cNvSpPr>
          <p:nvPr/>
        </p:nvSpPr>
        <p:spPr>
          <a:xfrm>
            <a:off x="502920" y="4626919"/>
            <a:ext cx="388620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29744C"/>
                </a:solidFill>
                <a:latin typeface="Arial"/>
              </a:rPr>
              <a:t>VOICE-OF-MARKET INPUTS</a:t>
            </a:r>
          </a:p>
        </p:txBody>
      </p:sp>
      <p:sp>
        <p:nvSpPr>
          <p:cNvPr id="17" name="Signal label 1"/>
          <p:cNvSpPr txBox="1">
            <a:spLocks/>
          </p:cNvSpPr>
          <p:nvPr/>
        </p:nvSpPr>
        <p:spPr>
          <a:xfrm>
            <a:off x="502920" y="4932518"/>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29744C"/>
                </a:solidFill>
                <a:latin typeface="Arial"/>
              </a:rPr>
              <a:t>CAMPAIGN</a:t>
            </a:r>
          </a:p>
        </p:txBody>
      </p:sp>
      <p:sp>
        <p:nvSpPr>
          <p:cNvPr id="18" name="Signal body 1"/>
          <p:cNvSpPr txBox="1">
            <a:spLocks/>
          </p:cNvSpPr>
          <p:nvPr/>
        </p:nvSpPr>
        <p:spPr>
          <a:xfrm>
            <a:off x="1389888" y="4932518"/>
            <a:ext cx="299923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1A1325"/>
                </a:solidFill>
                <a:latin typeface="Arial"/>
              </a:rPr>
              <a:t>CTR · form-start · CTA · content engagement</a:t>
            </a:r>
          </a:p>
        </p:txBody>
      </p:sp>
      <p:sp>
        <p:nvSpPr>
          <p:cNvPr id="19" name="Signal label 2"/>
          <p:cNvSpPr txBox="1">
            <a:spLocks/>
          </p:cNvSpPr>
          <p:nvPr/>
        </p:nvSpPr>
        <p:spPr>
          <a:xfrm>
            <a:off x="502920" y="5234270"/>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29744C"/>
                </a:solidFill>
                <a:latin typeface="Arial"/>
              </a:rPr>
              <a:t>SALES</a:t>
            </a:r>
          </a:p>
        </p:txBody>
      </p:sp>
      <p:sp>
        <p:nvSpPr>
          <p:cNvPr id="20" name="Signal body 2"/>
          <p:cNvSpPr txBox="1">
            <a:spLocks/>
          </p:cNvSpPr>
          <p:nvPr/>
        </p:nvSpPr>
        <p:spPr>
          <a:xfrm>
            <a:off x="1389888" y="5234270"/>
            <a:ext cx="299923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1A1325"/>
                </a:solidFill>
                <a:latin typeface="Arial"/>
              </a:rPr>
              <a:t>Accepted · rejected · stalled · won/lost reason</a:t>
            </a:r>
          </a:p>
        </p:txBody>
      </p:sp>
      <p:sp>
        <p:nvSpPr>
          <p:cNvPr id="21" name="Signal label 3"/>
          <p:cNvSpPr txBox="1">
            <a:spLocks/>
          </p:cNvSpPr>
          <p:nvPr/>
        </p:nvSpPr>
        <p:spPr>
          <a:xfrm>
            <a:off x="502920" y="5536022"/>
            <a:ext cx="80467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29744C"/>
                </a:solidFill>
                <a:latin typeface="Arial"/>
              </a:rPr>
              <a:t>PRODUCT</a:t>
            </a:r>
          </a:p>
        </p:txBody>
      </p:sp>
      <p:sp>
        <p:nvSpPr>
          <p:cNvPr id="22" name="Signal body 3"/>
          <p:cNvSpPr txBox="1">
            <a:spLocks/>
          </p:cNvSpPr>
          <p:nvPr/>
        </p:nvSpPr>
        <p:spPr>
          <a:xfrm>
            <a:off x="1389888" y="5536022"/>
            <a:ext cx="299923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1A1325"/>
                </a:solidFill>
                <a:latin typeface="Arial"/>
              </a:rPr>
              <a:t>Feature requests · integration gaps</a:t>
            </a:r>
          </a:p>
        </p:txBody>
      </p:sp>
      <p:sp>
        <p:nvSpPr>
          <p:cNvPr id="23" name="Main divider"/>
          <p:cNvSpPr/>
          <p:nvPr/>
        </p:nvSpPr>
        <p:spPr>
          <a:xfrm>
            <a:off x="4645152" y="1609344"/>
            <a:ext cx="10972" cy="4041648"/>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isk heading"/>
          <p:cNvSpPr txBox="1">
            <a:spLocks/>
          </p:cNvSpPr>
          <p:nvPr/>
        </p:nvSpPr>
        <p:spPr>
          <a:xfrm>
            <a:off x="4919472" y="1636831"/>
            <a:ext cx="6766560" cy="146194"/>
          </a:xfrm>
          <a:prstGeom prst="rect">
            <a:avLst/>
          </a:prstGeom>
          <a:noFill/>
        </p:spPr>
        <p:txBody>
          <a:bodyPr wrap="square" lIns="0" tIns="0" rIns="0" bIns="0" anchor="ctr">
            <a:spAutoFit/>
          </a:bodyPr>
          <a:lstStyle/>
          <a:p>
            <a:pPr algn="l">
              <a:lnSpc>
                <a:spcPct val="100000"/>
              </a:lnSpc>
              <a:spcBef>
                <a:spcPts val="0"/>
              </a:spcBef>
              <a:spcAft>
                <a:spcPts val="0"/>
              </a:spcAft>
            </a:pPr>
            <a:r>
              <a:rPr lang="en-US" sz="950" b="1" i="0">
                <a:solidFill>
                  <a:srgbClr val="C75F18"/>
                </a:solidFill>
                <a:latin typeface="Arial"/>
              </a:rPr>
              <a:t>02 · INTERVENE BEFORE SPEND SCALES</a:t>
            </a:r>
          </a:p>
        </p:txBody>
      </p:sp>
      <p:sp>
        <p:nvSpPr>
          <p:cNvPr id="25" name="Risk columns"/>
          <p:cNvSpPr txBox="1">
            <a:spLocks/>
          </p:cNvSpPr>
          <p:nvPr/>
        </p:nvSpPr>
        <p:spPr>
          <a:xfrm>
            <a:off x="5065776" y="1918411"/>
            <a:ext cx="1901952" cy="130759"/>
          </a:xfrm>
          <a:prstGeom prst="rect">
            <a:avLst/>
          </a:prstGeom>
          <a:noFill/>
        </p:spPr>
        <p:txBody>
          <a:bodyPr wrap="square" lIns="0" tIns="0" rIns="0" bIns="0" anchor="ctr">
            <a:spAutoFit/>
          </a:bodyPr>
          <a:lstStyle/>
          <a:p>
            <a:pPr algn="l">
              <a:lnSpc>
                <a:spcPct val="100000"/>
              </a:lnSpc>
              <a:spcBef>
                <a:spcPts val="0"/>
              </a:spcBef>
              <a:spcAft>
                <a:spcPts val="0"/>
              </a:spcAft>
            </a:pPr>
            <a:r>
              <a:rPr lang="en-US" sz="850" b="1" i="0" dirty="0">
                <a:solidFill>
                  <a:srgbClr val="8A8194"/>
                </a:solidFill>
                <a:latin typeface="Arial"/>
              </a:rPr>
              <a:t>RISK</a:t>
            </a:r>
          </a:p>
        </p:txBody>
      </p:sp>
      <p:sp>
        <p:nvSpPr>
          <p:cNvPr id="26" name="Risk row wash 1"/>
          <p:cNvSpPr/>
          <p:nvPr/>
        </p:nvSpPr>
        <p:spPr>
          <a:xfrm>
            <a:off x="4919472" y="2139696"/>
            <a:ext cx="6766560" cy="530352"/>
          </a:xfrm>
          <a:prstGeom prst="rect">
            <a:avLst/>
          </a:prstGeom>
          <a:solidFill>
            <a:srgbClr val="F7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isk 1"/>
          <p:cNvSpPr txBox="1">
            <a:spLocks/>
          </p:cNvSpPr>
          <p:nvPr/>
        </p:nvSpPr>
        <p:spPr>
          <a:xfrm>
            <a:off x="5065776" y="2299046"/>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Sales capacity bottleneck</a:t>
            </a:r>
          </a:p>
        </p:txBody>
      </p:sp>
      <p:sp>
        <p:nvSpPr>
          <p:cNvPr id="28" name="Watch 1"/>
          <p:cNvSpPr txBox="1">
            <a:spLocks/>
          </p:cNvSpPr>
          <p:nvPr/>
        </p:nvSpPr>
        <p:spPr>
          <a:xfrm>
            <a:off x="7168896" y="2299046"/>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High-intent PQAs age past 24h</a:t>
            </a:r>
          </a:p>
        </p:txBody>
      </p:sp>
      <p:sp>
        <p:nvSpPr>
          <p:cNvPr id="29" name="Response 1"/>
          <p:cNvSpPr txBox="1">
            <a:spLocks/>
          </p:cNvSpPr>
          <p:nvPr/>
        </p:nvSpPr>
        <p:spPr>
          <a:xfrm>
            <a:off x="9354312" y="2299046"/>
            <a:ext cx="2185416"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5F18"/>
                </a:solidFill>
                <a:latin typeface="Arial"/>
              </a:rPr>
              <a:t>Tier 1 fast lane; fewer concurrent plays</a:t>
            </a:r>
          </a:p>
        </p:txBody>
      </p:sp>
      <p:sp>
        <p:nvSpPr>
          <p:cNvPr id="30" name="Risk row rule 1"/>
          <p:cNvSpPr/>
          <p:nvPr/>
        </p:nvSpPr>
        <p:spPr>
          <a:xfrm>
            <a:off x="4919472" y="2679191"/>
            <a:ext cx="676656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isk 2"/>
          <p:cNvSpPr txBox="1">
            <a:spLocks/>
          </p:cNvSpPr>
          <p:nvPr/>
        </p:nvSpPr>
        <p:spPr>
          <a:xfrm>
            <a:off x="5065776" y="2847686"/>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Owned channel saturation</a:t>
            </a:r>
          </a:p>
        </p:txBody>
      </p:sp>
      <p:sp>
        <p:nvSpPr>
          <p:cNvPr id="32" name="Watch 2"/>
          <p:cNvSpPr txBox="1">
            <a:spLocks/>
          </p:cNvSpPr>
          <p:nvPr/>
        </p:nvSpPr>
        <p:spPr>
          <a:xfrm>
            <a:off x="7168896" y="2778436"/>
            <a:ext cx="1993392"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Signature CTR falls two rotations running</a:t>
            </a:r>
          </a:p>
        </p:txBody>
      </p:sp>
      <p:sp>
        <p:nvSpPr>
          <p:cNvPr id="33" name="Response 2"/>
          <p:cNvSpPr txBox="1">
            <a:spLocks/>
          </p:cNvSpPr>
          <p:nvPr/>
        </p:nvSpPr>
        <p:spPr>
          <a:xfrm>
            <a:off x="9354312" y="2778436"/>
            <a:ext cx="2185416"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5F18"/>
                </a:solidFill>
                <a:latin typeface="Arial"/>
              </a:rPr>
              <a:t>Rotate by audience stage; cap frequency</a:t>
            </a:r>
          </a:p>
        </p:txBody>
      </p:sp>
      <p:sp>
        <p:nvSpPr>
          <p:cNvPr id="34" name="Risk row rule 2"/>
          <p:cNvSpPr/>
          <p:nvPr/>
        </p:nvSpPr>
        <p:spPr>
          <a:xfrm>
            <a:off x="4919472" y="3227832"/>
            <a:ext cx="676656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isk row wash 3"/>
          <p:cNvSpPr/>
          <p:nvPr/>
        </p:nvSpPr>
        <p:spPr>
          <a:xfrm>
            <a:off x="4919472" y="3236976"/>
            <a:ext cx="6766560" cy="530352"/>
          </a:xfrm>
          <a:prstGeom prst="rect">
            <a:avLst/>
          </a:prstGeom>
          <a:solidFill>
            <a:srgbClr val="F7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isk 3"/>
          <p:cNvSpPr txBox="1">
            <a:spLocks/>
          </p:cNvSpPr>
          <p:nvPr/>
        </p:nvSpPr>
        <p:spPr>
          <a:xfrm>
            <a:off x="5065776" y="3396326"/>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Attribution false confidence</a:t>
            </a:r>
          </a:p>
        </p:txBody>
      </p:sp>
      <p:sp>
        <p:nvSpPr>
          <p:cNvPr id="37" name="Watch 3"/>
          <p:cNvSpPr txBox="1">
            <a:spLocks/>
          </p:cNvSpPr>
          <p:nvPr/>
        </p:nvSpPr>
        <p:spPr>
          <a:xfrm>
            <a:off x="7168896" y="3396326"/>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Influence high; measured lift low</a:t>
            </a:r>
          </a:p>
        </p:txBody>
      </p:sp>
      <p:sp>
        <p:nvSpPr>
          <p:cNvPr id="38" name="Response 3"/>
          <p:cNvSpPr txBox="1">
            <a:spLocks/>
          </p:cNvSpPr>
          <p:nvPr/>
        </p:nvSpPr>
        <p:spPr>
          <a:xfrm>
            <a:off x="9354312" y="3327076"/>
            <a:ext cx="2185416"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5F18"/>
                </a:solidFill>
                <a:latin typeface="Arial"/>
              </a:rPr>
              <a:t>Holdout and geo-cohort tests before scaling</a:t>
            </a:r>
          </a:p>
        </p:txBody>
      </p:sp>
      <p:sp>
        <p:nvSpPr>
          <p:cNvPr id="39" name="Risk row rule 3"/>
          <p:cNvSpPr/>
          <p:nvPr/>
        </p:nvSpPr>
        <p:spPr>
          <a:xfrm>
            <a:off x="4919472" y="3776472"/>
            <a:ext cx="676656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isk 4"/>
          <p:cNvSpPr txBox="1">
            <a:spLocks/>
          </p:cNvSpPr>
          <p:nvPr/>
        </p:nvSpPr>
        <p:spPr>
          <a:xfrm>
            <a:off x="5065776" y="3944966"/>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PQA model overfits</a:t>
            </a:r>
          </a:p>
        </p:txBody>
      </p:sp>
      <p:sp>
        <p:nvSpPr>
          <p:cNvPr id="41" name="Watch 4"/>
          <p:cNvSpPr txBox="1">
            <a:spLocks/>
          </p:cNvSpPr>
          <p:nvPr/>
        </p:nvSpPr>
        <p:spPr>
          <a:xfrm>
            <a:off x="7168896" y="3944966"/>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High scores do not convert to meetings</a:t>
            </a:r>
          </a:p>
        </p:txBody>
      </p:sp>
      <p:sp>
        <p:nvSpPr>
          <p:cNvPr id="42" name="Response 4"/>
          <p:cNvSpPr txBox="1">
            <a:spLocks/>
          </p:cNvSpPr>
          <p:nvPr/>
        </p:nvSpPr>
        <p:spPr>
          <a:xfrm>
            <a:off x="9354312" y="3875715"/>
            <a:ext cx="2185416"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5F18"/>
                </a:solidFill>
                <a:latin typeface="Arial"/>
              </a:rPr>
              <a:t>Re-weight quarterly on sales disposition</a:t>
            </a:r>
          </a:p>
        </p:txBody>
      </p:sp>
      <p:sp>
        <p:nvSpPr>
          <p:cNvPr id="43" name="Risk row rule 4"/>
          <p:cNvSpPr/>
          <p:nvPr/>
        </p:nvSpPr>
        <p:spPr>
          <a:xfrm>
            <a:off x="4919472" y="4325112"/>
            <a:ext cx="676656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isk row wash 5"/>
          <p:cNvSpPr/>
          <p:nvPr/>
        </p:nvSpPr>
        <p:spPr>
          <a:xfrm>
            <a:off x="4919472" y="4334256"/>
            <a:ext cx="6766560" cy="530352"/>
          </a:xfrm>
          <a:prstGeom prst="rect">
            <a:avLst/>
          </a:prstGeom>
          <a:solidFill>
            <a:srgbClr val="F7F5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isk 5"/>
          <p:cNvSpPr txBox="1">
            <a:spLocks/>
          </p:cNvSpPr>
          <p:nvPr/>
        </p:nvSpPr>
        <p:spPr>
          <a:xfrm>
            <a:off x="5065776" y="4493606"/>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Message too broad</a:t>
            </a:r>
          </a:p>
        </p:txBody>
      </p:sp>
      <p:sp>
        <p:nvSpPr>
          <p:cNvPr id="46" name="Watch 5"/>
          <p:cNvSpPr txBox="1">
            <a:spLocks/>
          </p:cNvSpPr>
          <p:nvPr/>
        </p:nvSpPr>
        <p:spPr>
          <a:xfrm>
            <a:off x="7168896" y="4493606"/>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Low form-start and low acceptance</a:t>
            </a:r>
          </a:p>
        </p:txBody>
      </p:sp>
      <p:sp>
        <p:nvSpPr>
          <p:cNvPr id="47" name="Response 5"/>
          <p:cNvSpPr txBox="1">
            <a:spLocks/>
          </p:cNvSpPr>
          <p:nvPr/>
        </p:nvSpPr>
        <p:spPr>
          <a:xfrm>
            <a:off x="9354312" y="4355107"/>
            <a:ext cx="2185416" cy="415498"/>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dirty="0" err="1">
                <a:solidFill>
                  <a:srgbClr val="C75F18"/>
                </a:solidFill>
                <a:latin typeface="Arial"/>
              </a:rPr>
              <a:t>Verticalise</a:t>
            </a:r>
            <a:r>
              <a:rPr lang="en-US" sz="900" b="1" i="0" dirty="0">
                <a:solidFill>
                  <a:srgbClr val="C75F18"/>
                </a:solidFill>
                <a:latin typeface="Arial"/>
              </a:rPr>
              <a:t> the offer to one wedge</a:t>
            </a:r>
          </a:p>
          <a:p>
            <a:pPr algn="l">
              <a:lnSpc>
                <a:spcPct val="100000"/>
              </a:lnSpc>
              <a:spcBef>
                <a:spcPts val="0"/>
              </a:spcBef>
              <a:spcAft>
                <a:spcPts val="0"/>
              </a:spcAft>
            </a:pPr>
            <a:r>
              <a:rPr lang="en-US" sz="900" b="1" i="0" dirty="0">
                <a:solidFill>
                  <a:srgbClr val="C75F18"/>
                </a:solidFill>
                <a:latin typeface="Arial"/>
              </a:rPr>
              <a:t>Make the offer specific to one industry or customer problem</a:t>
            </a:r>
          </a:p>
        </p:txBody>
      </p:sp>
      <p:sp>
        <p:nvSpPr>
          <p:cNvPr id="48" name="Risk row rule 5"/>
          <p:cNvSpPr/>
          <p:nvPr/>
        </p:nvSpPr>
        <p:spPr>
          <a:xfrm>
            <a:off x="4919472" y="4873752"/>
            <a:ext cx="6766560" cy="10972"/>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isk 6"/>
          <p:cNvSpPr txBox="1"/>
          <p:nvPr/>
        </p:nvSpPr>
        <p:spPr>
          <a:xfrm>
            <a:off x="5065776" y="5042245"/>
            <a:ext cx="190195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191847"/>
                </a:solidFill>
                <a:latin typeface="Arial"/>
              </a:rPr>
              <a:t>Tooling hygiene breaks</a:t>
            </a:r>
          </a:p>
        </p:txBody>
      </p:sp>
      <p:sp>
        <p:nvSpPr>
          <p:cNvPr id="50" name="Watch 6"/>
          <p:cNvSpPr txBox="1"/>
          <p:nvPr/>
        </p:nvSpPr>
        <p:spPr>
          <a:xfrm>
            <a:off x="7168896" y="5042245"/>
            <a:ext cx="1993392" cy="1384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0" i="0">
                <a:solidFill>
                  <a:srgbClr val="4A5568"/>
                </a:solidFill>
                <a:latin typeface="Arial"/>
              </a:rPr>
              <a:t>UTM and lifecycle-stage mismatch</a:t>
            </a:r>
          </a:p>
        </p:txBody>
      </p:sp>
      <p:sp>
        <p:nvSpPr>
          <p:cNvPr id="51" name="Response 6"/>
          <p:cNvSpPr txBox="1"/>
          <p:nvPr/>
        </p:nvSpPr>
        <p:spPr>
          <a:xfrm>
            <a:off x="9354312" y="4972996"/>
            <a:ext cx="2185416" cy="276999"/>
          </a:xfrm>
          <a:prstGeom prst="rect">
            <a:avLst/>
          </a:prstGeom>
          <a:noFill/>
        </p:spPr>
        <p:txBody>
          <a:bodyPr wrap="square" lIns="0" tIns="0" rIns="0" bIns="0" anchor="ctr">
            <a:spAutoFit/>
          </a:bodyPr>
          <a:lstStyle/>
          <a:p>
            <a:pPr algn="l">
              <a:lnSpc>
                <a:spcPct val="100000"/>
              </a:lnSpc>
              <a:spcBef>
                <a:spcPts val="0"/>
              </a:spcBef>
              <a:spcAft>
                <a:spcPts val="0"/>
              </a:spcAft>
            </a:pPr>
            <a:r>
              <a:rPr lang="en-US" sz="900" b="1" i="0">
                <a:solidFill>
                  <a:srgbClr val="C75F18"/>
                </a:solidFill>
                <a:latin typeface="Arial"/>
              </a:rPr>
              <a:t>Weekly stack QA before the funnel review</a:t>
            </a:r>
          </a:p>
        </p:txBody>
      </p:sp>
      <p:sp>
        <p:nvSpPr>
          <p:cNvPr id="52" name="Gate rule"/>
          <p:cNvSpPr/>
          <p:nvPr/>
        </p:nvSpPr>
        <p:spPr>
          <a:xfrm>
            <a:off x="502920" y="5733288"/>
            <a:ext cx="11183112" cy="18288"/>
          </a:xfrm>
          <a:prstGeom prst="rect">
            <a:avLst/>
          </a:prstGeom>
          <a:solidFill>
            <a:srgbClr val="C75F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Gate heading"/>
          <p:cNvSpPr txBox="1"/>
          <p:nvPr/>
        </p:nvSpPr>
        <p:spPr>
          <a:xfrm>
            <a:off x="502920" y="5827345"/>
            <a:ext cx="2103120" cy="276999"/>
          </a:xfrm>
          <a:prstGeom prst="rect">
            <a:avLst/>
          </a:prstGeom>
          <a:noFill/>
        </p:spPr>
        <p:txBody>
          <a:bodyPr wrap="square" lIns="0" tIns="0" rIns="0" bIns="0" anchor="ctr">
            <a:spAutoFit/>
          </a:bodyPr>
          <a:lstStyle/>
          <a:p>
            <a:pPr algn="l">
              <a:lnSpc>
                <a:spcPct val="100000"/>
              </a:lnSpc>
              <a:spcBef>
                <a:spcPts val="0"/>
              </a:spcBef>
              <a:spcAft>
                <a:spcPts val="0"/>
              </a:spcAft>
            </a:pPr>
            <a:r>
              <a:rPr sz="900" b="1" i="0" dirty="0">
                <a:solidFill>
                  <a:srgbClr val="C75F18"/>
                </a:solidFill>
                <a:latin typeface="Arial"/>
              </a:rPr>
              <a:t>03 · </a:t>
            </a:r>
            <a:r>
              <a:rPr lang="en-US" sz="900" b="1" i="0" dirty="0">
                <a:solidFill>
                  <a:srgbClr val="C75F18"/>
                </a:solidFill>
                <a:latin typeface="Arial"/>
              </a:rPr>
              <a:t>CONTROL PARTNER LEAD QUALITY</a:t>
            </a:r>
            <a:endParaRPr sz="900" b="1" i="0" dirty="0">
              <a:solidFill>
                <a:srgbClr val="C75F18"/>
              </a:solidFill>
              <a:latin typeface="Arial"/>
            </a:endParaRPr>
          </a:p>
        </p:txBody>
      </p:sp>
      <p:sp>
        <p:nvSpPr>
          <p:cNvPr id="54" name="Gate 1"/>
          <p:cNvSpPr txBox="1"/>
          <p:nvPr/>
        </p:nvSpPr>
        <p:spPr>
          <a:xfrm>
            <a:off x="2606040" y="5852160"/>
            <a:ext cx="2066543" cy="530915"/>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191847"/>
                </a:solidFill>
                <a:latin typeface="Arial"/>
              </a:rPr>
              <a:t>01  PARTNER</a:t>
            </a:r>
          </a:p>
          <a:p>
            <a:pPr algn="l">
              <a:lnSpc>
                <a:spcPct val="100000"/>
              </a:lnSpc>
              <a:spcBef>
                <a:spcPts val="0"/>
              </a:spcBef>
              <a:spcAft>
                <a:spcPts val="0"/>
              </a:spcAft>
            </a:pPr>
            <a:r>
              <a:rPr lang="en-US" sz="850" b="0" i="0" dirty="0">
                <a:solidFill>
                  <a:srgbClr val="1A1325"/>
                </a:solidFill>
                <a:latin typeface="Arial"/>
              </a:rPr>
              <a:t>Use trusted B2B partners that reach our target customers—not vendors selling lead volume.</a:t>
            </a:r>
          </a:p>
        </p:txBody>
      </p:sp>
      <p:sp>
        <p:nvSpPr>
          <p:cNvPr id="55" name="Gate divider 2"/>
          <p:cNvSpPr/>
          <p:nvPr/>
        </p:nvSpPr>
        <p:spPr>
          <a:xfrm>
            <a:off x="4727448" y="5888736"/>
            <a:ext cx="10972" cy="338328"/>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Gate 2"/>
          <p:cNvSpPr txBox="1"/>
          <p:nvPr/>
        </p:nvSpPr>
        <p:spPr>
          <a:xfrm>
            <a:off x="4873752" y="5852160"/>
            <a:ext cx="2066543" cy="411480"/>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a:solidFill>
                  <a:srgbClr val="191847"/>
                </a:solidFill>
                <a:latin typeface="Arial"/>
              </a:rPr>
              <a:t>02  CONTENT</a:t>
            </a:r>
          </a:p>
          <a:p>
            <a:pPr algn="l">
              <a:lnSpc>
                <a:spcPct val="100000"/>
              </a:lnSpc>
              <a:spcBef>
                <a:spcPts val="0"/>
              </a:spcBef>
              <a:spcAft>
                <a:spcPts val="0"/>
              </a:spcAft>
            </a:pPr>
            <a:r>
              <a:rPr lang="en-US" sz="850" b="0" i="0">
                <a:solidFill>
                  <a:srgbClr val="1A1325"/>
                </a:solidFill>
                <a:latin typeface="Arial"/>
              </a:rPr>
              <a:t>Audit and benchmark gated behind a light form; all POV content ungated.</a:t>
            </a:r>
          </a:p>
        </p:txBody>
      </p:sp>
      <p:sp>
        <p:nvSpPr>
          <p:cNvPr id="57" name="Gate divider 3"/>
          <p:cNvSpPr/>
          <p:nvPr/>
        </p:nvSpPr>
        <p:spPr>
          <a:xfrm>
            <a:off x="6995159" y="5888736"/>
            <a:ext cx="10972" cy="338328"/>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Gate 3"/>
          <p:cNvSpPr txBox="1"/>
          <p:nvPr/>
        </p:nvSpPr>
        <p:spPr>
          <a:xfrm>
            <a:off x="7141464" y="5852160"/>
            <a:ext cx="2066543" cy="661720"/>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191847"/>
                </a:solidFill>
                <a:latin typeface="Arial"/>
              </a:rPr>
              <a:t>03  VERIFY</a:t>
            </a:r>
          </a:p>
          <a:p>
            <a:pPr algn="l">
              <a:lnSpc>
                <a:spcPct val="100000"/>
              </a:lnSpc>
              <a:spcBef>
                <a:spcPts val="0"/>
              </a:spcBef>
              <a:spcAft>
                <a:spcPts val="0"/>
              </a:spcAft>
            </a:pPr>
            <a:r>
              <a:rPr lang="en-US" sz="850" b="0" i="0" dirty="0">
                <a:solidFill>
                  <a:srgbClr val="1A1325"/>
                </a:solidFill>
                <a:latin typeface="Arial"/>
              </a:rPr>
              <a:t>Verify every lead, match it to a target account before, and </a:t>
            </a:r>
            <a:r>
              <a:rPr lang="en-US" sz="850" b="0" i="0">
                <a:solidFill>
                  <a:srgbClr val="1A1325"/>
                </a:solidFill>
                <a:latin typeface="Arial"/>
              </a:rPr>
              <a:t>e</a:t>
            </a:r>
            <a:r>
              <a:rPr lang="en-US" sz="850" b="0" i="0" dirty="0">
                <a:solidFill>
                  <a:srgbClr val="1A1325"/>
                </a:solidFill>
                <a:latin typeface="Arial"/>
              </a:rPr>
              <a:t>nrich in Clay/ZoomInfo/Apollo before sending it to HubSpot.</a:t>
            </a:r>
          </a:p>
        </p:txBody>
      </p:sp>
      <p:sp>
        <p:nvSpPr>
          <p:cNvPr id="59" name="Gate divider 4"/>
          <p:cNvSpPr/>
          <p:nvPr/>
        </p:nvSpPr>
        <p:spPr>
          <a:xfrm>
            <a:off x="9262872" y="5888736"/>
            <a:ext cx="10972" cy="338328"/>
          </a:xfrm>
          <a:prstGeom prst="rect">
            <a:avLst/>
          </a:prstGeom>
          <a:solidFill>
            <a:srgbClr val="DED9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Gate 4"/>
          <p:cNvSpPr txBox="1">
            <a:spLocks/>
          </p:cNvSpPr>
          <p:nvPr/>
        </p:nvSpPr>
        <p:spPr>
          <a:xfrm>
            <a:off x="9409176" y="5852160"/>
            <a:ext cx="2066543" cy="411480"/>
          </a:xfrm>
          <a:prstGeom prst="rect">
            <a:avLst/>
          </a:prstGeom>
          <a:noFill/>
        </p:spPr>
        <p:txBody>
          <a:bodyPr wrap="square" lIns="0" tIns="0" rIns="0" bIns="0" anchor="t">
            <a:spAutoFit/>
          </a:bodyPr>
          <a:lstStyle/>
          <a:p>
            <a:pPr algn="l">
              <a:lnSpc>
                <a:spcPct val="100000"/>
              </a:lnSpc>
              <a:spcBef>
                <a:spcPts val="0"/>
              </a:spcBef>
              <a:spcAft>
                <a:spcPts val="0"/>
              </a:spcAft>
            </a:pPr>
            <a:r>
              <a:rPr lang="en-US" sz="900" b="1" i="0" dirty="0">
                <a:solidFill>
                  <a:srgbClr val="191847"/>
                </a:solidFill>
                <a:latin typeface="Arial"/>
              </a:rPr>
              <a:t>04  ROUTE</a:t>
            </a:r>
          </a:p>
          <a:p>
            <a:pPr algn="l">
              <a:lnSpc>
                <a:spcPct val="100000"/>
              </a:lnSpc>
              <a:spcBef>
                <a:spcPts val="0"/>
              </a:spcBef>
              <a:spcAft>
                <a:spcPts val="0"/>
              </a:spcAft>
            </a:pPr>
            <a:r>
              <a:rPr lang="en-US" sz="850" b="0" i="0" dirty="0">
                <a:solidFill>
                  <a:srgbClr val="1A1325"/>
                </a:solidFill>
                <a:latin typeface="Arial"/>
              </a:rPr>
              <a:t>No raw partner lead reaches Sales—only enriched, PQA-matched records.</a:t>
            </a:r>
          </a:p>
        </p:txBody>
      </p:sp>
      <p:sp>
        <p:nvSpPr>
          <p:cNvPr id="61" name="Appendix marker"/>
          <p:cNvSpPr txBox="1">
            <a:spLocks/>
          </p:cNvSpPr>
          <p:nvPr/>
        </p:nvSpPr>
        <p:spPr>
          <a:xfrm>
            <a:off x="11247120" y="6463413"/>
            <a:ext cx="438912" cy="130805"/>
          </a:xfrm>
          <a:prstGeom prst="rect">
            <a:avLst/>
          </a:prstGeom>
          <a:noFill/>
        </p:spPr>
        <p:txBody>
          <a:bodyPr wrap="square" lIns="0" tIns="0" rIns="0" bIns="0" anchor="ctr">
            <a:spAutoFit/>
          </a:bodyPr>
          <a:lstStyle/>
          <a:p>
            <a:pPr algn="r">
              <a:lnSpc>
                <a:spcPct val="100000"/>
              </a:lnSpc>
              <a:spcBef>
                <a:spcPts val="0"/>
              </a:spcBef>
              <a:spcAft>
                <a:spcPts val="0"/>
              </a:spcAft>
            </a:pPr>
            <a:r>
              <a:rPr lang="en-US" sz="850" b="0" i="0">
                <a:solidFill>
                  <a:srgbClr val="8A8194"/>
                </a:solidFill>
                <a:latin typeface="Arial"/>
              </a:rPr>
              <a:t>A1</a:t>
            </a:r>
          </a:p>
        </p:txBody>
      </p:sp>
      <p:sp>
        <p:nvSpPr>
          <p:cNvPr id="62" name="Risk header signal"/>
          <p:cNvSpPr txBox="1"/>
          <p:nvPr/>
        </p:nvSpPr>
        <p:spPr>
          <a:xfrm>
            <a:off x="7168896" y="1918411"/>
            <a:ext cx="1993392" cy="130759"/>
          </a:xfrm>
          <a:prstGeom prst="rect">
            <a:avLst/>
          </a:prstGeom>
          <a:noFill/>
        </p:spPr>
        <p:txBody>
          <a:bodyPr wrap="square" lIns="0" tIns="0" rIns="0" bIns="0" anchor="ctr">
            <a:spAutoFit/>
          </a:bodyPr>
          <a:lstStyle/>
          <a:p>
            <a:pPr algn="l">
              <a:lnSpc>
                <a:spcPct val="100000"/>
              </a:lnSpc>
              <a:spcBef>
                <a:spcPts val="0"/>
              </a:spcBef>
              <a:spcAft>
                <a:spcPts val="0"/>
              </a:spcAft>
            </a:pPr>
            <a:r>
              <a:rPr sz="850" b="1" i="0">
                <a:solidFill>
                  <a:srgbClr val="8A8194"/>
                </a:solidFill>
                <a:latin typeface="Arial"/>
              </a:rPr>
              <a:t>SIGNAL TO WATCH</a:t>
            </a:r>
          </a:p>
        </p:txBody>
      </p:sp>
      <p:sp>
        <p:nvSpPr>
          <p:cNvPr id="63" name="Risk header response"/>
          <p:cNvSpPr txBox="1"/>
          <p:nvPr/>
        </p:nvSpPr>
        <p:spPr>
          <a:xfrm>
            <a:off x="9354312" y="1918411"/>
            <a:ext cx="2185416" cy="130759"/>
          </a:xfrm>
          <a:prstGeom prst="rect">
            <a:avLst/>
          </a:prstGeom>
          <a:noFill/>
        </p:spPr>
        <p:txBody>
          <a:bodyPr wrap="square" lIns="0" tIns="0" rIns="0" bIns="0" anchor="ctr">
            <a:spAutoFit/>
          </a:bodyPr>
          <a:lstStyle/>
          <a:p>
            <a:pPr algn="l">
              <a:lnSpc>
                <a:spcPct val="100000"/>
              </a:lnSpc>
              <a:spcBef>
                <a:spcPts val="0"/>
              </a:spcBef>
              <a:spcAft>
                <a:spcPts val="0"/>
              </a:spcAft>
            </a:pPr>
            <a:r>
              <a:rPr sz="850" b="1" i="0">
                <a:solidFill>
                  <a:srgbClr val="8A8194"/>
                </a:solidFill>
                <a:latin typeface="Arial"/>
              </a:rPr>
              <a:t>RESPONSE</a:t>
            </a:r>
          </a:p>
        </p:txBody>
      </p:sp>
      <p:sp>
        <p:nvSpPr>
          <p:cNvPr id="64" name="Key assumption footer 5"/>
          <p:cNvSpPr txBox="1"/>
          <p:nvPr/>
        </p:nvSpPr>
        <p:spPr>
          <a:xfrm>
            <a:off x="502920" y="6599612"/>
            <a:ext cx="10332720" cy="123111"/>
          </a:xfrm>
          <a:prstGeom prst="rect">
            <a:avLst/>
          </a:prstGeom>
          <a:noFill/>
        </p:spPr>
        <p:txBody>
          <a:bodyPr wrap="square" lIns="0" tIns="0" rIns="0" bIns="0" anchor="ctr">
            <a:spAutoFit/>
          </a:bodyPr>
          <a:lstStyle/>
          <a:p>
            <a:pPr algn="l">
              <a:lnSpc>
                <a:spcPct val="100000"/>
              </a:lnSpc>
              <a:spcBef>
                <a:spcPts val="0"/>
              </a:spcBef>
              <a:spcAft>
                <a:spcPts val="0"/>
              </a:spcAft>
            </a:pPr>
            <a:r>
              <a:rPr lang="en-US" sz="800" b="0" i="0" dirty="0">
                <a:solidFill>
                  <a:srgbClr val="8A8194"/>
                </a:solidFill>
                <a:latin typeface="Arial"/>
              </a:rPr>
              <a:t>ICP = ideal customer profile · Syndication = partner content/lead distribution · Enrichment = adding company/contact data · Gated = form required · Overfit = scoring works on past data but not future results</a:t>
            </a:r>
            <a:endParaRPr sz="800" b="0" i="0" dirty="0">
              <a:solidFill>
                <a:srgbClr val="8A8194"/>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1654</Words>
  <PresentationFormat>Widescreen</PresentationFormat>
  <Paragraphs>227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2026-08-13T19:31:41Z</dcterms:created>
  <dcterms:modified xsi:type="dcterms:W3CDTF">2026-08-21T06:55:58Z</dcterms:modified>
  <dc:title>HiHello Demand Generation Strategy</dc:title>
  <dc:subject>Demand generation strategy covering account scoring, positioning, channel design, experiments, and governance.</dc:subject>
  <cp:keywords>HiHello; demand generation; account scoring; positioning; growth strategy; interview assignment</cp:keywords>
  <dc:description>Five-slide demand generation strategy for converting product signals into qualified pipeline.</dc:description>
  <cp:category>Interview Assignment</cp:category>
  <cp:contentStatus>Prepared</cp:contentStatus>
  <dc:language>en</dc:language>
</cp:coreProperties>
</file>