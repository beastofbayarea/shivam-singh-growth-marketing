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  <p:sldMasterId id="2147483650" r:id="rId2"/>
    <p:sldMasterId id="2147483654" r:id="rId3"/>
  </p:sldMasterIdLst>
  <p:notesMasterIdLst>
    <p:notesMasterId r:id="rId14"/>
  </p:notesMasterIdLst>
  <p:sldIdLst>
    <p:sldId id="279" r:id="rId4"/>
    <p:sldId id="258" r:id="rId5"/>
    <p:sldId id="271" r:id="rId6"/>
    <p:sldId id="260" r:id="rId7"/>
    <p:sldId id="261" r:id="rId8"/>
    <p:sldId id="262" r:id="rId9"/>
    <p:sldId id="263" r:id="rId10"/>
    <p:sldId id="278" r:id="rId11"/>
    <p:sldId id="275" r:id="rId12"/>
    <p:sldId id="25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Case" id="{542925FE-E8B9-42B5-BF47-B1618FA24933}">
          <p14:sldIdLst>
            <p14:sldId id="279"/>
            <p14:sldId id="258"/>
          </p14:sldIdLst>
        </p14:section>
        <p14:section name="Where to Spend" id="{1765E384-9DFA-468B-ABA9-B2B330C0F3FE}">
          <p14:sldIdLst>
            <p14:sldId id="271"/>
            <p14:sldId id="260"/>
          </p14:sldIdLst>
        </p14:section>
        <p14:section name="How to Spend" id="{19293208-6480-45EF-9D90-1C8056F55B17}">
          <p14:sldIdLst>
            <p14:sldId id="261"/>
            <p14:sldId id="262"/>
          </p14:sldIdLst>
        </p14:section>
        <p14:section name="Proof and Plan" id="{599C4296-7A4F-4806-B7B0-D18C1E5A7B7C}">
          <p14:sldIdLst>
            <p14:sldId id="263"/>
            <p14:sldId id="278"/>
            <p14:sldId id="275"/>
          </p14:sldIdLst>
        </p14:section>
        <p14:section name="Author" id="{E37A31D6-85D7-427F-81E5-41B1C3BA813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 autoAdjust="0"/>
    <p:restoredTop sz="93099" autoAdjust="0"/>
  </p:normalViewPr>
  <p:slideViewPr>
    <p:cSldViewPr snapToGrid="0" snapToObjects="1">
      <p:cViewPr varScale="1">
        <p:scale>
          <a:sx n="102" d="100"/>
          <a:sy n="102" d="100"/>
        </p:scale>
        <p:origin x="1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0615F"/>
            </a:solidFill>
            <a:ln w="31750">
              <a:solidFill>
                <a:srgbClr val="00615F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615F"/>
              </a:solidFill>
              <a:ln>
                <a:solidFill>
                  <a:srgbClr val="00615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C90-4041-94F8-510831F1E65F}"/>
              </c:ext>
            </c:extLst>
          </c:dPt>
          <c:dPt>
            <c:idx val="1"/>
            <c:invertIfNegative val="1"/>
            <c:bubble3D val="0"/>
            <c:spPr>
              <a:solidFill>
                <a:srgbClr val="2D8C78"/>
              </a:solidFill>
              <a:ln>
                <a:solidFill>
                  <a:srgbClr val="2D8C78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DC90-4041-94F8-510831F1E65F}"/>
              </c:ext>
            </c:extLst>
          </c:dPt>
          <c:dPt>
            <c:idx val="2"/>
            <c:invertIfNegative val="1"/>
            <c:bubble3D val="0"/>
            <c:spPr>
              <a:solidFill>
                <a:srgbClr val="79E4A7"/>
              </a:solidFill>
              <a:ln>
                <a:solidFill>
                  <a:srgbClr val="79E4A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DC90-4041-94F8-510831F1E65F}"/>
              </c:ext>
            </c:extLst>
          </c:dPt>
          <c:dPt>
            <c:idx val="3"/>
            <c:invertIfNegative val="1"/>
            <c:bubble3D val="0"/>
            <c:spPr>
              <a:solidFill>
                <a:srgbClr val="EE9179"/>
              </a:solidFill>
              <a:ln>
                <a:solidFill>
                  <a:srgbClr val="EE917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DC90-4041-94F8-510831F1E65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>
                    <a:solidFill>
                      <a:srgbClr val="073B3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Install</c:v>
                </c:pt>
                <c:pt idx="1">
                  <c:v>Register</c:v>
                </c:pt>
                <c:pt idx="2">
                  <c:v>Reserve</c:v>
                </c:pt>
                <c:pt idx="3">
                  <c:v>Collect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62</c:v>
                </c:pt>
                <c:pt idx="2">
                  <c:v>24</c:v>
                </c:pt>
                <c:pt idx="3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31750">
                    <a:solidFill>
                      <a:srgbClr val="00615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DC90-4041-94F8-510831F1E6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Gridlines>
          <c:spPr>
            <a:ln w="6350">
              <a:solidFill>
                <a:srgbClr val="D7DFDC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9525">
            <a:solidFill>
              <a:srgbClr val="D7DFDC"/>
            </a:solidFill>
          </a:ln>
        </c:spPr>
        <c:txPr>
          <a:bodyPr/>
          <a:lstStyle/>
          <a:p>
            <a:pPr>
              <a:defRPr sz="1300">
                <a:solidFill>
                  <a:srgbClr val="65827D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25"/>
          <c:min val="0"/>
        </c:scaling>
        <c:delete val="0"/>
        <c:axPos val="t"/>
        <c:majorGridlines>
          <c:spPr>
            <a:ln w="6350">
              <a:solidFill>
                <a:srgbClr val="D7DFD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>
            <a:solidFill>
              <a:srgbClr val="D7DFDC"/>
            </a:solidFill>
          </a:ln>
        </c:spPr>
        <c:txPr>
          <a:bodyPr/>
          <a:lstStyle/>
          <a:p>
            <a:pPr>
              <a:defRPr sz="1300">
                <a:solidFill>
                  <a:srgbClr val="65827D"/>
                </a:solidFill>
                <a:latin typeface="Arial"/>
              </a:defRPr>
            </a:pPr>
            <a:endParaRPr lang="en-US"/>
          </a:p>
        </c:txPr>
        <c:crossAx val="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073B3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Marginal iCPB</c:v>
                </c:pt>
              </c:strCache>
            </c:strRef>
          </c:tx>
          <c:spPr>
            <a:ln w="38100">
              <a:solidFill>
                <a:srgbClr val="00615F"/>
              </a:solidFill>
            </a:ln>
          </c:spPr>
          <c:marker>
            <c:symbol val="circle"/>
            <c:size val="8"/>
            <c:spPr>
              <a:solidFill>
                <a:srgbClr val="00615F"/>
              </a:solidFill>
            </c:spPr>
          </c:marker>
          <c:dLbls>
            <c:numFmt formatCode="\€0.0" sourceLinked="0"/>
            <c:spPr>
              <a:solidFill>
                <a:srgbClr val="F7F2EC"/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65827D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€5k</c:v>
                </c:pt>
                <c:pt idx="1">
                  <c:v>€10k</c:v>
                </c:pt>
                <c:pt idx="2">
                  <c:v>€15k</c:v>
                </c:pt>
                <c:pt idx="3">
                  <c:v>€20k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</c:v>
                </c:pt>
                <c:pt idx="1">
                  <c:v>7.7</c:v>
                </c:pt>
                <c:pt idx="2">
                  <c:v>11.1</c:v>
                </c:pt>
                <c:pt idx="3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7E-48BC-83F5-86C0DAC8AD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cap</c:v>
                </c:pt>
              </c:strCache>
            </c:strRef>
          </c:tx>
          <c:spPr>
            <a:ln w="25400">
              <a:solidFill>
                <a:srgbClr val="F29A7E"/>
              </a:solidFill>
              <a:prstDash val="dash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€5k</c:v>
                </c:pt>
                <c:pt idx="1">
                  <c:v>€10k</c:v>
                </c:pt>
                <c:pt idx="2">
                  <c:v>€15k</c:v>
                </c:pt>
                <c:pt idx="3">
                  <c:v>€20k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7E-48BC-83F5-86C0DAC8AD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>
              <a:solidFill>
                <a:srgbClr val="D7DFDC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00615F"/>
            </a:solidFill>
          </a:ln>
        </c:spPr>
        <c:txPr>
          <a:bodyPr/>
          <a:lstStyle/>
          <a:p>
            <a:pPr>
              <a:defRPr sz="1100">
                <a:solidFill>
                  <a:srgbClr val="65827D"/>
                </a:solidFill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2"/>
          <c:min val="0"/>
        </c:scaling>
        <c:delete val="0"/>
        <c:axPos val="l"/>
        <c:majorGridlines>
          <c:spPr>
            <a:ln>
              <a:solidFill>
                <a:srgbClr val="D7DFDC"/>
              </a:solidFill>
            </a:ln>
          </c:spPr>
        </c:majorGridlines>
        <c:numFmt formatCode="\€0" sourceLinked="0"/>
        <c:majorTickMark val="out"/>
        <c:minorTickMark val="none"/>
        <c:tickLblPos val="nextTo"/>
        <c:spPr>
          <a:ln>
            <a:solidFill>
              <a:srgbClr val="00615F"/>
            </a:solidFill>
          </a:ln>
        </c:spPr>
        <c:txPr>
          <a:bodyPr/>
          <a:lstStyle/>
          <a:p>
            <a:pPr>
              <a:defRPr sz="1100">
                <a:solidFill>
                  <a:srgbClr val="65827D"/>
                </a:solidFill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65827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Attributed bags</c:v>
                </c:pt>
              </c:strCache>
            </c:strRef>
          </c:tx>
          <c:spPr>
            <a:solidFill>
              <a:srgbClr val="DDEEE8"/>
            </a:solidFill>
            <a:ln>
              <a:noFill/>
            </a:ln>
          </c:spPr>
          <c:invertIfNegative val="1"/>
          <c:dLbls>
            <c:numFmt formatCode="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1838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Meta</c:v>
                </c:pt>
                <c:pt idx="1">
                  <c:v>TikTok</c:v>
                </c:pt>
                <c:pt idx="2">
                  <c:v>Pinterest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</c:v>
                </c:pt>
                <c:pt idx="1">
                  <c:v>8000</c:v>
                </c:pt>
                <c:pt idx="2">
                  <c:v>2500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63-46D5-958A-D973D3F10C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Incremental bags</c:v>
                </c:pt>
              </c:strCache>
            </c:strRef>
          </c:tx>
          <c:spPr>
            <a:solidFill>
              <a:srgbClr val="006B65"/>
            </a:solidFill>
            <a:ln>
              <a:noFill/>
            </a:ln>
          </c:spPr>
          <c:invertIfNegative val="1"/>
          <c:dLbls>
            <c:numFmt formatCode="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1838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Meta</c:v>
                </c:pt>
                <c:pt idx="1">
                  <c:v>TikTok</c:v>
                </c:pt>
                <c:pt idx="2">
                  <c:v>Pinterest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12000</c:v>
                </c:pt>
                <c:pt idx="1">
                  <c:v>6800</c:v>
                </c:pt>
                <c:pt idx="2">
                  <c:v>1000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063-46D5-958A-D973D3F10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0002"/>
        <c:axId val="1000003"/>
      </c:barChart>
      <c:catAx>
        <c:axId val="1000002"/>
        <c:scaling>
          <c:orientation val="minMax"/>
        </c:scaling>
        <c:delete val="0"/>
        <c:axPos val="b"/>
        <c:majorGridlines>
          <c:spPr>
            <a:ln>
              <a:solidFill>
                <a:srgbClr val="D9DFDA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D8DDD9"/>
            </a:solidFill>
          </a:ln>
        </c:spPr>
        <c:txPr>
          <a:bodyPr/>
          <a:lstStyle/>
          <a:p>
            <a:pPr>
              <a:defRPr sz="1100">
                <a:solidFill>
                  <a:srgbClr val="183836"/>
                </a:solidFill>
                <a:latin typeface="Arial"/>
              </a:defRPr>
            </a:pPr>
            <a:endParaRPr lang="en-US"/>
          </a:p>
        </c:txPr>
        <c:crossAx val="1000003"/>
        <c:crosses val="autoZero"/>
        <c:auto val="1"/>
        <c:lblAlgn val="ctr"/>
        <c:lblOffset val="100"/>
        <c:noMultiLvlLbl val="0"/>
      </c:catAx>
      <c:valAx>
        <c:axId val="1000003"/>
        <c:scaling>
          <c:orientation val="minMax"/>
          <c:max val="22000"/>
          <c:min val="0"/>
        </c:scaling>
        <c:delete val="0"/>
        <c:axPos val="l"/>
        <c:majorGridlines>
          <c:spPr>
            <a:ln>
              <a:solidFill>
                <a:srgbClr val="D9DFDA"/>
              </a:solidFill>
            </a:ln>
          </c:spPr>
        </c:majorGridlines>
        <c:numFmt formatCode="0,&quot;k&quot;" sourceLinked="0"/>
        <c:majorTickMark val="out"/>
        <c:minorTickMark val="none"/>
        <c:tickLblPos val="nextTo"/>
        <c:spPr>
          <a:ln>
            <a:solidFill>
              <a:srgbClr val="D8DDD9"/>
            </a:solidFill>
          </a:ln>
        </c:spPr>
        <c:txPr>
          <a:bodyPr/>
          <a:lstStyle/>
          <a:p>
            <a:pPr>
              <a:defRPr sz="1100">
                <a:solidFill>
                  <a:srgbClr val="183836"/>
                </a:solidFill>
                <a:latin typeface="Arial"/>
              </a:defRPr>
            </a:pPr>
            <a:endParaRPr lang="en-US"/>
          </a:p>
        </c:txPr>
        <c:crossAx val="1000002"/>
        <c:crosses val="autoZero"/>
        <c:crossBetween val="between"/>
        <c:majorUnit val="5000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200">
          <a:solidFill>
            <a:srgbClr val="18383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677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D9DBE-6CC6-E8F8-3CEF-8A6ACAC1E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F9E3B-1F5B-AE7B-1AB6-7742EDD3F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E820A-E7F6-B0A4-3043-559D2497D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DFBD-4B52-1AAB-66D5-E07975779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418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11CB0-C366-35EC-49B8-76CC2397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C07BF-6807-7584-B2C1-3D04A150B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593F8-0252-A028-BFDD-B891E88E4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61653-0D59-F0A0-84FC-F31D231FB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657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28B1-ECDE-3EAB-8E4F-B96EF509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3809D-8D19-BF47-A7EB-36AF40D8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09240-7FE1-C6CB-1ADE-35C0220C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227A0-4F85-3E6F-04FB-BDE15F25E4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792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DA6E-935E-AC59-3CE9-D70CC9CD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513C4-8CF7-1001-A379-109738423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F9A370-2AB2-1F76-5CFF-C183E8E46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233A8-992C-08FB-1AC8-BBBCE3E3C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443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D6E15-9BF0-FFF5-04A7-235ED3D0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C4CCE-E6A7-1EE2-0FF4-F521D01D2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FB01C-E2A0-A7AD-93FC-FA5F6C783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5A2A4-5B91-121D-AF21-8D30E516E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52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61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31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8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24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DD430-E2F4-FB7C-600C-2B1C1BFF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1F80FF-65A0-C0AE-623A-FA1141B657E3}"/>
              </a:ext>
            </a:extLst>
          </p:cNvPr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DD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9824E5-923B-A68D-9EAA-74B81EA3F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363"/>
          </a:xfrm>
          <a:prstGeom prst="rect">
            <a:avLst/>
          </a:prstGeom>
        </p:spPr>
      </p:pic>
      <p:sp>
        <p:nvSpPr>
          <p:cNvPr id="17" name="Slide number">
            <a:extLst>
              <a:ext uri="{FF2B5EF4-FFF2-40B4-BE49-F238E27FC236}">
                <a16:creationId xmlns:a16="http://schemas.microsoft.com/office/drawing/2014/main" id="{0F3F1048-4405-5410-1324-3CB8C02B76CE}"/>
              </a:ext>
            </a:extLst>
          </p:cNvPr>
          <p:cNvSpPr txBox="1">
            <a:spLocks/>
          </p:cNvSpPr>
          <p:nvPr/>
        </p:nvSpPr>
        <p:spPr>
          <a:xfrm>
            <a:off x="11457432" y="292295"/>
            <a:ext cx="320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</a:p>
        </p:txBody>
      </p:sp>
      <p:sp>
        <p:nvSpPr>
          <p:cNvPr id="301" name="eyebrow">
            <a:extLst>
              <a:ext uri="{FF2B5EF4-FFF2-40B4-BE49-F238E27FC236}">
                <a16:creationId xmlns:a16="http://schemas.microsoft.com/office/drawing/2014/main" id="{7C8C96C8-3A6E-14B1-5989-E5BBAC5C494A}"/>
              </a:ext>
            </a:extLst>
          </p:cNvPr>
          <p:cNvSpPr txBox="1"/>
          <p:nvPr/>
        </p:nvSpPr>
        <p:spPr>
          <a:xfrm>
            <a:off x="445792" y="25490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120">
                <a:solidFill>
                  <a:srgbClr val="5F6F6D"/>
                </a:solidFill>
                <a:latin typeface="Arial"/>
              </a:rPr>
              <a:t>PAID DEMAND STRATEGY</a:t>
            </a:r>
          </a:p>
        </p:txBody>
      </p:sp>
      <p:sp>
        <p:nvSpPr>
          <p:cNvPr id="302" name="accent">
            <a:extLst>
              <a:ext uri="{FF2B5EF4-FFF2-40B4-BE49-F238E27FC236}">
                <a16:creationId xmlns:a16="http://schemas.microsoft.com/office/drawing/2014/main" id="{4064DA26-CA2C-04A5-1543-AED11C69AEDB}"/>
              </a:ext>
            </a:extLst>
          </p:cNvPr>
          <p:cNvSpPr/>
          <p:nvPr/>
        </p:nvSpPr>
        <p:spPr>
          <a:xfrm>
            <a:off x="445792" y="675524"/>
            <a:ext cx="1051560" cy="64008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3" name="title1">
            <a:extLst>
              <a:ext uri="{FF2B5EF4-FFF2-40B4-BE49-F238E27FC236}">
                <a16:creationId xmlns:a16="http://schemas.microsoft.com/office/drawing/2014/main" id="{6B4AEB86-B3AB-8D1A-9087-22D9DB818BAB}"/>
              </a:ext>
            </a:extLst>
          </p:cNvPr>
          <p:cNvSpPr txBox="1"/>
          <p:nvPr/>
        </p:nvSpPr>
        <p:spPr>
          <a:xfrm>
            <a:off x="445792" y="922412"/>
            <a:ext cx="585216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</a:pPr>
            <a:r>
              <a:rPr lang="en-GB" sz="3200" b="1" spc="0" dirty="0">
                <a:solidFill>
                  <a:srgbClr val="00615F"/>
                </a:solidFill>
                <a:latin typeface="Arial"/>
              </a:rPr>
              <a:t>Allocate paid demand</a:t>
            </a:r>
          </a:p>
          <a:p>
            <a:pPr algn="l">
              <a:lnSpc>
                <a:spcPct val="108000"/>
              </a:lnSpc>
              <a:buNone/>
            </a:pPr>
            <a:r>
              <a:rPr lang="en-GB" sz="3200" b="1" spc="0" dirty="0">
                <a:solidFill>
                  <a:srgbClr val="00615F"/>
                </a:solidFill>
                <a:latin typeface="Arial"/>
              </a:rPr>
              <a:t>where it rescues</a:t>
            </a:r>
          </a:p>
          <a:p>
            <a:pPr algn="l">
              <a:lnSpc>
                <a:spcPct val="108000"/>
              </a:lnSpc>
              <a:buNone/>
            </a:pPr>
            <a:r>
              <a:rPr lang="en-GB" sz="3200" b="1" spc="0" dirty="0">
                <a:solidFill>
                  <a:srgbClr val="00615F"/>
                </a:solidFill>
                <a:latin typeface="Arial"/>
              </a:rPr>
              <a:t>more food.</a:t>
            </a:r>
          </a:p>
        </p:txBody>
      </p:sp>
      <p:sp>
        <p:nvSpPr>
          <p:cNvPr id="304" name="thesis">
            <a:extLst>
              <a:ext uri="{FF2B5EF4-FFF2-40B4-BE49-F238E27FC236}">
                <a16:creationId xmlns:a16="http://schemas.microsoft.com/office/drawing/2014/main" id="{861C5660-DF3A-214A-5F7B-CBAABDB75EC4}"/>
              </a:ext>
            </a:extLst>
          </p:cNvPr>
          <p:cNvSpPr txBox="1"/>
          <p:nvPr/>
        </p:nvSpPr>
        <p:spPr>
          <a:xfrm>
            <a:off x="445792" y="2687204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1150" b="1" spc="40">
                <a:solidFill>
                  <a:srgbClr val="00615F"/>
                </a:solidFill>
                <a:latin typeface="Arial"/>
              </a:rPr>
              <a:t>THESIS: PAID SOCIAL AS A DEMAND-BALANCING TOOL</a:t>
            </a:r>
          </a:p>
        </p:txBody>
      </p:sp>
      <p:sp>
        <p:nvSpPr>
          <p:cNvPr id="305" name="author">
            <a:extLst>
              <a:ext uri="{FF2B5EF4-FFF2-40B4-BE49-F238E27FC236}">
                <a16:creationId xmlns:a16="http://schemas.microsoft.com/office/drawing/2014/main" id="{91AA07C3-8C23-4DFF-46E6-80D901F0120C}"/>
              </a:ext>
            </a:extLst>
          </p:cNvPr>
          <p:cNvSpPr txBox="1"/>
          <p:nvPr/>
        </p:nvSpPr>
        <p:spPr>
          <a:xfrm>
            <a:off x="7424928" y="7132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100">
                <a:solidFill>
                  <a:srgbClr val="5F6F6D"/>
                </a:solidFill>
                <a:latin typeface="Arial"/>
              </a:rPr>
              <a:t>AUTHOR: SHIVAM SINGH  |  AUG 2026</a:t>
            </a:r>
          </a:p>
        </p:txBody>
      </p:sp>
      <p:sp>
        <p:nvSpPr>
          <p:cNvPr id="306" name="rdiv0">
            <a:extLst>
              <a:ext uri="{FF2B5EF4-FFF2-40B4-BE49-F238E27FC236}">
                <a16:creationId xmlns:a16="http://schemas.microsoft.com/office/drawing/2014/main" id="{28A61517-6F6D-C049-408A-65CC94C0E13D}"/>
              </a:ext>
            </a:extLst>
          </p:cNvPr>
          <p:cNvSpPr/>
          <p:nvPr/>
        </p:nvSpPr>
        <p:spPr>
          <a:xfrm>
            <a:off x="7424928" y="1371600"/>
            <a:ext cx="4142232" cy="10973"/>
          </a:xfrm>
          <a:prstGeom prst="rect">
            <a:avLst/>
          </a:prstGeom>
          <a:solidFill>
            <a:srgbClr val="BCCEC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7" name="pb0">
            <a:extLst>
              <a:ext uri="{FF2B5EF4-FFF2-40B4-BE49-F238E27FC236}">
                <a16:creationId xmlns:a16="http://schemas.microsoft.com/office/drawing/2014/main" id="{174EC803-B4F9-9F51-B16C-7D54AA50EB71}"/>
              </a:ext>
            </a:extLst>
          </p:cNvPr>
          <p:cNvSpPr/>
          <p:nvPr/>
        </p:nvSpPr>
        <p:spPr>
          <a:xfrm>
            <a:off x="7424928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8" name="pn0">
            <a:extLst>
              <a:ext uri="{FF2B5EF4-FFF2-40B4-BE49-F238E27FC236}">
                <a16:creationId xmlns:a16="http://schemas.microsoft.com/office/drawing/2014/main" id="{816E07DC-405B-E64B-FAF8-EC98D272500B}"/>
              </a:ext>
            </a:extLst>
          </p:cNvPr>
          <p:cNvSpPr txBox="1"/>
          <p:nvPr/>
        </p:nvSpPr>
        <p:spPr>
          <a:xfrm>
            <a:off x="7424928" y="191109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00615F"/>
                </a:solidFill>
                <a:latin typeface="Arial"/>
              </a:rPr>
              <a:t>01</a:t>
            </a:r>
          </a:p>
        </p:txBody>
      </p:sp>
      <p:sp>
        <p:nvSpPr>
          <p:cNvPr id="309" name="ph0">
            <a:extLst>
              <a:ext uri="{FF2B5EF4-FFF2-40B4-BE49-F238E27FC236}">
                <a16:creationId xmlns:a16="http://schemas.microsoft.com/office/drawing/2014/main" id="{5EE4E791-4477-6EAF-27DC-DC863ADC408C}"/>
              </a:ext>
            </a:extLst>
          </p:cNvPr>
          <p:cNvSpPr txBox="1"/>
          <p:nvPr/>
        </p:nvSpPr>
        <p:spPr>
          <a:xfrm>
            <a:off x="8065008" y="180136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500" b="1" spc="0" dirty="0">
                <a:solidFill>
                  <a:srgbClr val="00615F"/>
                </a:solidFill>
                <a:latin typeface="Arial"/>
              </a:rPr>
              <a:t>MORE FOOD COLLECTED</a:t>
            </a:r>
          </a:p>
        </p:txBody>
      </p:sp>
      <p:sp>
        <p:nvSpPr>
          <p:cNvPr id="310" name="ps0">
            <a:extLst>
              <a:ext uri="{FF2B5EF4-FFF2-40B4-BE49-F238E27FC236}">
                <a16:creationId xmlns:a16="http://schemas.microsoft.com/office/drawing/2014/main" id="{C36D6EFC-3021-C140-A151-8CBB84B3107A}"/>
              </a:ext>
            </a:extLst>
          </p:cNvPr>
          <p:cNvSpPr txBox="1"/>
          <p:nvPr/>
        </p:nvSpPr>
        <p:spPr>
          <a:xfrm>
            <a:off x="8065008" y="225856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</a:pPr>
            <a:r>
              <a:rPr lang="en-GB" sz="1050" b="0" spc="0" dirty="0">
                <a:solidFill>
                  <a:srgbClr val="5F6F6D"/>
                </a:solidFill>
                <a:latin typeface="Arial"/>
              </a:rPr>
              <a:t>More incremental collected bags.</a:t>
            </a:r>
          </a:p>
        </p:txBody>
      </p:sp>
      <p:sp>
        <p:nvSpPr>
          <p:cNvPr id="311" name="rdiv1">
            <a:extLst>
              <a:ext uri="{FF2B5EF4-FFF2-40B4-BE49-F238E27FC236}">
                <a16:creationId xmlns:a16="http://schemas.microsoft.com/office/drawing/2014/main" id="{F8E5C18D-1508-BF15-6CCE-5BEFB16B6EA7}"/>
              </a:ext>
            </a:extLst>
          </p:cNvPr>
          <p:cNvSpPr/>
          <p:nvPr/>
        </p:nvSpPr>
        <p:spPr>
          <a:xfrm>
            <a:off x="7424928" y="2862072"/>
            <a:ext cx="4142232" cy="10973"/>
          </a:xfrm>
          <a:prstGeom prst="rect">
            <a:avLst/>
          </a:prstGeom>
          <a:solidFill>
            <a:srgbClr val="BCCEC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2" name="pb1">
            <a:extLst>
              <a:ext uri="{FF2B5EF4-FFF2-40B4-BE49-F238E27FC236}">
                <a16:creationId xmlns:a16="http://schemas.microsoft.com/office/drawing/2014/main" id="{74FC35CA-A9AE-3069-EB7B-03C1E023D558}"/>
              </a:ext>
            </a:extLst>
          </p:cNvPr>
          <p:cNvSpPr/>
          <p:nvPr/>
        </p:nvSpPr>
        <p:spPr>
          <a:xfrm>
            <a:off x="7424928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3" name="pn1">
            <a:extLst>
              <a:ext uri="{FF2B5EF4-FFF2-40B4-BE49-F238E27FC236}">
                <a16:creationId xmlns:a16="http://schemas.microsoft.com/office/drawing/2014/main" id="{431CDA30-826E-AC29-B31C-C2515056124A}"/>
              </a:ext>
            </a:extLst>
          </p:cNvPr>
          <p:cNvSpPr txBox="1"/>
          <p:nvPr/>
        </p:nvSpPr>
        <p:spPr>
          <a:xfrm>
            <a:off x="7424928" y="348386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00615F"/>
                </a:solidFill>
                <a:latin typeface="Arial"/>
              </a:rPr>
              <a:t>02</a:t>
            </a:r>
          </a:p>
        </p:txBody>
      </p:sp>
      <p:sp>
        <p:nvSpPr>
          <p:cNvPr id="314" name="ph1">
            <a:extLst>
              <a:ext uri="{FF2B5EF4-FFF2-40B4-BE49-F238E27FC236}">
                <a16:creationId xmlns:a16="http://schemas.microsoft.com/office/drawing/2014/main" id="{E04B182E-9D81-9954-A1CE-3EA0255F821F}"/>
              </a:ext>
            </a:extLst>
          </p:cNvPr>
          <p:cNvSpPr txBox="1"/>
          <p:nvPr/>
        </p:nvSpPr>
        <p:spPr>
          <a:xfrm>
            <a:off x="8065008" y="337413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500" b="1" spc="0" dirty="0">
                <a:solidFill>
                  <a:srgbClr val="00615F"/>
                </a:solidFill>
                <a:latin typeface="Arial"/>
              </a:rPr>
              <a:t>HEALTHIER MARKETS</a:t>
            </a:r>
          </a:p>
        </p:txBody>
      </p:sp>
      <p:sp>
        <p:nvSpPr>
          <p:cNvPr id="315" name="ps1">
            <a:extLst>
              <a:ext uri="{FF2B5EF4-FFF2-40B4-BE49-F238E27FC236}">
                <a16:creationId xmlns:a16="http://schemas.microsoft.com/office/drawing/2014/main" id="{98180914-8BEC-49E9-ABAA-8497AF1F1D5B}"/>
              </a:ext>
            </a:extLst>
          </p:cNvPr>
          <p:cNvSpPr txBox="1"/>
          <p:nvPr/>
        </p:nvSpPr>
        <p:spPr>
          <a:xfrm>
            <a:off x="8065008" y="383133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</a:pPr>
            <a:r>
              <a:rPr lang="en-GB" sz="1050" b="0" spc="0" dirty="0">
                <a:solidFill>
                  <a:srgbClr val="5F6F6D"/>
                </a:solidFill>
                <a:latin typeface="Arial"/>
              </a:rPr>
              <a:t>Demand follows at-risk supply.</a:t>
            </a:r>
          </a:p>
        </p:txBody>
      </p:sp>
      <p:sp>
        <p:nvSpPr>
          <p:cNvPr id="316" name="rdiv2">
            <a:extLst>
              <a:ext uri="{FF2B5EF4-FFF2-40B4-BE49-F238E27FC236}">
                <a16:creationId xmlns:a16="http://schemas.microsoft.com/office/drawing/2014/main" id="{E4F254A8-0C39-DB18-A57C-8383CE85FB26}"/>
              </a:ext>
            </a:extLst>
          </p:cNvPr>
          <p:cNvSpPr/>
          <p:nvPr/>
        </p:nvSpPr>
        <p:spPr>
          <a:xfrm>
            <a:off x="7424928" y="4434840"/>
            <a:ext cx="4142232" cy="10973"/>
          </a:xfrm>
          <a:prstGeom prst="rect">
            <a:avLst/>
          </a:prstGeom>
          <a:solidFill>
            <a:srgbClr val="BCCEC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7" name="pb2">
            <a:extLst>
              <a:ext uri="{FF2B5EF4-FFF2-40B4-BE49-F238E27FC236}">
                <a16:creationId xmlns:a16="http://schemas.microsoft.com/office/drawing/2014/main" id="{5B08E543-5839-082B-3B8C-F71FAEDE55BB}"/>
              </a:ext>
            </a:extLst>
          </p:cNvPr>
          <p:cNvSpPr/>
          <p:nvPr/>
        </p:nvSpPr>
        <p:spPr>
          <a:xfrm>
            <a:off x="7424928" y="49286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8" name="pn2">
            <a:extLst>
              <a:ext uri="{FF2B5EF4-FFF2-40B4-BE49-F238E27FC236}">
                <a16:creationId xmlns:a16="http://schemas.microsoft.com/office/drawing/2014/main" id="{2A4124B7-CEA0-5495-358A-E78D9713EB32}"/>
              </a:ext>
            </a:extLst>
          </p:cNvPr>
          <p:cNvSpPr txBox="1"/>
          <p:nvPr/>
        </p:nvSpPr>
        <p:spPr>
          <a:xfrm>
            <a:off x="7424928" y="50566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00615F"/>
                </a:solidFill>
                <a:latin typeface="Arial"/>
              </a:rPr>
              <a:t>03</a:t>
            </a:r>
          </a:p>
        </p:txBody>
      </p:sp>
      <p:sp>
        <p:nvSpPr>
          <p:cNvPr id="319" name="ph2">
            <a:extLst>
              <a:ext uri="{FF2B5EF4-FFF2-40B4-BE49-F238E27FC236}">
                <a16:creationId xmlns:a16="http://schemas.microsoft.com/office/drawing/2014/main" id="{5EDFFDA4-06A2-5AD4-8090-7F57DC5AE81B}"/>
              </a:ext>
            </a:extLst>
          </p:cNvPr>
          <p:cNvSpPr txBox="1"/>
          <p:nvPr/>
        </p:nvSpPr>
        <p:spPr>
          <a:xfrm>
            <a:off x="8065008" y="494690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500" b="1" spc="0" dirty="0">
                <a:solidFill>
                  <a:srgbClr val="00615F"/>
                </a:solidFill>
                <a:latin typeface="Arial"/>
              </a:rPr>
              <a:t>MORE EFFICIENT SPEND</a:t>
            </a:r>
          </a:p>
        </p:txBody>
      </p:sp>
      <p:sp>
        <p:nvSpPr>
          <p:cNvPr id="320" name="ps2">
            <a:extLst>
              <a:ext uri="{FF2B5EF4-FFF2-40B4-BE49-F238E27FC236}">
                <a16:creationId xmlns:a16="http://schemas.microsoft.com/office/drawing/2014/main" id="{60DA4E72-0296-B570-A5A3-240A00AA3C52}"/>
              </a:ext>
            </a:extLst>
          </p:cNvPr>
          <p:cNvSpPr txBox="1"/>
          <p:nvPr/>
        </p:nvSpPr>
        <p:spPr>
          <a:xfrm>
            <a:off x="8065008" y="540410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</a:pPr>
            <a:r>
              <a:rPr lang="en-GB" sz="1050" b="0" spc="0" dirty="0">
                <a:solidFill>
                  <a:srgbClr val="5F6F6D"/>
                </a:solidFill>
                <a:latin typeface="Arial"/>
              </a:rPr>
              <a:t>Every euro earns its next euro.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3385C9-24D0-05BE-6C26-E206FFE760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93" t="15865" r="4063" b="33896"/>
          <a:stretch>
            <a:fillRect/>
          </a:stretch>
        </p:blipFill>
        <p:spPr>
          <a:xfrm>
            <a:off x="442964" y="3071252"/>
            <a:ext cx="2837468" cy="344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ection label"/>
          <p:cNvSpPr txBox="1">
            <a:spLocks/>
          </p:cNvSpPr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THE CASE FOR CHANGE</a:t>
            </a:r>
          </a:p>
        </p:txBody>
      </p:sp>
      <p:sp>
        <p:nvSpPr>
          <p:cNvPr id="2" name="Slide title"/>
          <p:cNvSpPr txBox="1">
            <a:spLocks/>
          </p:cNvSpPr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One in five installs ends in a collected bag</a:t>
            </a:r>
          </a:p>
        </p:txBody>
      </p:sp>
      <p:sp>
        <p:nvSpPr>
          <p:cNvPr id="3" name="Slide subtitle"/>
          <p:cNvSpPr txBox="1">
            <a:spLocks/>
          </p:cNvSpPr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Install cost hides the only outcome that matters.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576"/>
          </a:xfrm>
          <a:prstGeom prst="rect">
            <a:avLst/>
          </a:prstGeom>
        </p:spPr>
      </p:pic>
      <p:sp>
        <p:nvSpPr>
          <p:cNvPr id="5" name="Slide number"/>
          <p:cNvSpPr txBox="1"/>
          <p:nvPr/>
        </p:nvSpPr>
        <p:spPr>
          <a:xfrm>
            <a:off x="11457432" y="292295"/>
            <a:ext cx="320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6582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Data chart" descr="Funnel chart showing 100 installs, 62 registrations, 24 reservations and 19 completed collections." title="Data 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481829"/>
              </p:ext>
            </p:extLst>
          </p:nvPr>
        </p:nvGraphicFramePr>
        <p:xfrm>
          <a:off x="3310128" y="1810512"/>
          <a:ext cx="50749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Source footer"/>
          <p:cNvSpPr txBox="1"/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The 90-day window begins at install.</a:t>
            </a:r>
          </a:p>
        </p:txBody>
      </p:sp>
      <p:sp>
        <p:nvSpPr>
          <p:cNvPr id="91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92" name="badge icon"/>
          <p:cNvSpPr/>
          <p:nvPr/>
        </p:nvSpPr>
        <p:spPr>
          <a:xfrm>
            <a:off x="608076" y="288036"/>
            <a:ext cx="210312" cy="210312"/>
          </a:xfrm>
          <a:prstGeom prst="funnel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0" name="statcard"/>
          <p:cNvSpPr/>
          <p:nvPr/>
        </p:nvSpPr>
        <p:spPr>
          <a:xfrm>
            <a:off x="512064" y="1810512"/>
            <a:ext cx="267004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1" name="statbar"/>
          <p:cNvSpPr/>
          <p:nvPr/>
        </p:nvSpPr>
        <p:spPr>
          <a:xfrm>
            <a:off x="512064" y="1810512"/>
            <a:ext cx="2670048" cy="100584"/>
          </a:xfrm>
          <a:prstGeom prst="rect">
            <a:avLst/>
          </a:prstGeom>
          <a:solidFill>
            <a:srgbClr val="EE917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2" name="statn"/>
          <p:cNvSpPr txBox="1"/>
          <p:nvPr/>
        </p:nvSpPr>
        <p:spPr>
          <a:xfrm>
            <a:off x="786384" y="2121408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4000" b="1" spc="0" dirty="0">
                <a:solidFill>
                  <a:srgbClr val="00615F"/>
                </a:solidFill>
                <a:latin typeface="Arial"/>
              </a:rPr>
              <a:t>19%</a:t>
            </a:r>
          </a:p>
        </p:txBody>
      </p:sp>
      <p:sp>
        <p:nvSpPr>
          <p:cNvPr id="303" name="statl"/>
          <p:cNvSpPr txBox="1"/>
          <p:nvPr/>
        </p:nvSpPr>
        <p:spPr>
          <a:xfrm>
            <a:off x="786384" y="307238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950" b="1" spc="70">
                <a:solidFill>
                  <a:srgbClr val="5F6F6D"/>
                </a:solidFill>
                <a:latin typeface="Arial"/>
              </a:rPr>
              <a:t>INSTALL-TO-COLLECTION RATE</a:t>
            </a:r>
          </a:p>
        </p:txBody>
      </p:sp>
      <p:sp>
        <p:nvSpPr>
          <p:cNvPr id="304" name="statdiv"/>
          <p:cNvSpPr/>
          <p:nvPr/>
        </p:nvSpPr>
        <p:spPr>
          <a:xfrm>
            <a:off x="786384" y="3712464"/>
            <a:ext cx="2103120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5" name="pol"/>
          <p:cNvSpPr txBox="1"/>
          <p:nvPr/>
        </p:nvSpPr>
        <p:spPr>
          <a:xfrm>
            <a:off x="786384" y="3913632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950" b="1" spc="70">
                <a:solidFill>
                  <a:srgbClr val="2E8B62"/>
                </a:solidFill>
                <a:latin typeface="Arial"/>
              </a:rPr>
              <a:t>PRIMARY OUTCOME</a:t>
            </a:r>
          </a:p>
        </p:txBody>
      </p:sp>
      <p:sp>
        <p:nvSpPr>
          <p:cNvPr id="306" name="pov"/>
          <p:cNvSpPr txBox="1"/>
          <p:nvPr/>
        </p:nvSpPr>
        <p:spPr>
          <a:xfrm>
            <a:off x="786384" y="42062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1150" b="1" spc="0">
                <a:solidFill>
                  <a:srgbClr val="00615F"/>
                </a:solidFill>
                <a:latin typeface="Arial"/>
              </a:rPr>
              <a:t>Incremental 90-day collected bags per euro</a:t>
            </a:r>
          </a:p>
        </p:txBody>
      </p:sp>
      <p:sp>
        <p:nvSpPr>
          <p:cNvPr id="307" name="chartlbl"/>
          <p:cNvSpPr txBox="1"/>
          <p:nvPr/>
        </p:nvSpPr>
        <p:spPr>
          <a:xfrm>
            <a:off x="3584448" y="167335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1" spc="70" dirty="0">
                <a:solidFill>
                  <a:srgbClr val="00615F"/>
                </a:solidFill>
                <a:latin typeface="Arial"/>
              </a:rPr>
              <a:t>WHERE VOLUME IS LOST, INSTALL TO COLLECTION</a:t>
            </a:r>
          </a:p>
        </p:txBody>
      </p:sp>
      <p:sp>
        <p:nvSpPr>
          <p:cNvPr id="330" name="takeband"/>
          <p:cNvSpPr/>
          <p:nvPr/>
        </p:nvSpPr>
        <p:spPr>
          <a:xfrm>
            <a:off x="512064" y="5815584"/>
            <a:ext cx="11173968" cy="457200"/>
          </a:xfrm>
          <a:prstGeom prst="roundRect">
            <a:avLst>
              <a:gd name="adj" fmla="val 20000"/>
            </a:avLst>
          </a:prstGeom>
          <a:solidFill>
            <a:srgbClr val="EFE7D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1" name="take"/>
          <p:cNvSpPr txBox="1"/>
          <p:nvPr/>
        </p:nvSpPr>
        <p:spPr>
          <a:xfrm>
            <a:off x="786384" y="59618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00615F"/>
                </a:solidFill>
                <a:latin typeface="Arial"/>
              </a:rPr>
              <a:t>Judge spend on collected bags, not installs.</a:t>
            </a:r>
          </a:p>
        </p:txBody>
      </p:sp>
      <p:sp>
        <p:nvSpPr>
          <p:cNvPr id="480" name="statdiv2"/>
          <p:cNvSpPr/>
          <p:nvPr/>
        </p:nvSpPr>
        <p:spPr>
          <a:xfrm>
            <a:off x="786384" y="4956048"/>
            <a:ext cx="2103120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en-GB"/>
          </a:p>
        </p:txBody>
      </p:sp>
      <p:sp>
        <p:nvSpPr>
          <p:cNvPr id="481" name="statnote"/>
          <p:cNvSpPr txBox="1"/>
          <p:nvPr/>
        </p:nvSpPr>
        <p:spPr>
          <a:xfrm>
            <a:off x="786384" y="513892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Only 19 of every 100 installs become a collected bag within 90 days.</a:t>
            </a:r>
          </a:p>
        </p:txBody>
      </p:sp>
      <p:sp>
        <p:nvSpPr>
          <p:cNvPr id="800" name="card340"/>
          <p:cNvSpPr/>
          <p:nvPr/>
        </p:nvSpPr>
        <p:spPr>
          <a:xfrm>
            <a:off x="8339328" y="1810512"/>
            <a:ext cx="334670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5CA"/>
            </a:solidFill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801" name="bar342"/>
          <p:cNvSpPr/>
          <p:nvPr/>
        </p:nvSpPr>
        <p:spPr>
          <a:xfrm>
            <a:off x="8339328" y="1810512"/>
            <a:ext cx="3346704" cy="9144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802" name="title344"/>
          <p:cNvSpPr txBox="1">
            <a:spLocks/>
          </p:cNvSpPr>
          <p:nvPr/>
        </p:nvSpPr>
        <p:spPr>
          <a:xfrm>
            <a:off x="8522208" y="2048256"/>
            <a:ext cx="2980944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950" b="1">
                <a:solidFill>
                  <a:srgbClr val="00615F"/>
                </a:solidFill>
              </a:rPr>
              <a:t>MOBILE-FIRST, FULL-FUNNEL</a:t>
            </a:r>
          </a:p>
        </p:txBody>
      </p:sp>
      <p:sp>
        <p:nvSpPr>
          <p:cNvPr id="810" name="chip0"/>
          <p:cNvSpPr/>
          <p:nvPr/>
        </p:nvSpPr>
        <p:spPr>
          <a:xfrm>
            <a:off x="8522208" y="2359152"/>
            <a:ext cx="68580" cy="54864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811" name="lab0"/>
          <p:cNvSpPr txBox="1">
            <a:spLocks/>
          </p:cNvSpPr>
          <p:nvPr/>
        </p:nvSpPr>
        <p:spPr>
          <a:xfrm>
            <a:off x="8723376" y="2322576"/>
            <a:ext cx="277977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1050" b="1">
                <a:solidFill>
                  <a:srgbClr val="00615F"/>
                </a:solidFill>
              </a:rPr>
              <a:t>Awareness — 100 installs (baseline)</a:t>
            </a:r>
          </a:p>
        </p:txBody>
      </p:sp>
      <p:sp>
        <p:nvSpPr>
          <p:cNvPr id="812" name="desc0"/>
          <p:cNvSpPr txBox="1">
            <a:spLocks/>
          </p:cNvSpPr>
          <p:nvPr/>
        </p:nvSpPr>
        <p:spPr>
          <a:xfrm>
            <a:off x="8723376" y="2551176"/>
            <a:ext cx="277977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>
                <a:solidFill>
                  <a:srgbClr val="5F6F6D"/>
                </a:solidFill>
              </a:rPr>
              <a:t>Reach and mission storytelling</a:t>
            </a:r>
          </a:p>
        </p:txBody>
      </p:sp>
      <p:sp>
        <p:nvSpPr>
          <p:cNvPr id="813" name="chip1"/>
          <p:cNvSpPr/>
          <p:nvPr/>
        </p:nvSpPr>
        <p:spPr>
          <a:xfrm>
            <a:off x="8522208" y="3072384"/>
            <a:ext cx="68580" cy="54864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814" name="lab1"/>
          <p:cNvSpPr txBox="1">
            <a:spLocks/>
          </p:cNvSpPr>
          <p:nvPr/>
        </p:nvSpPr>
        <p:spPr>
          <a:xfrm>
            <a:off x="8723376" y="3035808"/>
            <a:ext cx="277977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1050" b="1">
                <a:solidFill>
                  <a:srgbClr val="00615F"/>
                </a:solidFill>
              </a:rPr>
              <a:t>Consideration — 38% drop-off</a:t>
            </a:r>
          </a:p>
        </p:txBody>
      </p:sp>
      <p:sp>
        <p:nvSpPr>
          <p:cNvPr id="815" name="desc1"/>
          <p:cNvSpPr txBox="1">
            <a:spLocks/>
          </p:cNvSpPr>
          <p:nvPr/>
        </p:nvSpPr>
        <p:spPr>
          <a:xfrm>
            <a:off x="8723376" y="3264408"/>
            <a:ext cx="277977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>
                <a:solidFill>
                  <a:srgbClr val="5F6F6D"/>
                </a:solidFill>
              </a:rPr>
              <a:t>Local supply discovery and social proof</a:t>
            </a:r>
          </a:p>
        </p:txBody>
      </p:sp>
      <p:sp>
        <p:nvSpPr>
          <p:cNvPr id="816" name="chip2"/>
          <p:cNvSpPr/>
          <p:nvPr/>
        </p:nvSpPr>
        <p:spPr>
          <a:xfrm>
            <a:off x="8522208" y="3785616"/>
            <a:ext cx="68580" cy="548640"/>
          </a:xfrm>
          <a:prstGeom prst="rect">
            <a:avLst/>
          </a:prstGeom>
          <a:solidFill>
            <a:srgbClr val="4FBF8B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817" name="lab2"/>
          <p:cNvSpPr txBox="1">
            <a:spLocks/>
          </p:cNvSpPr>
          <p:nvPr/>
        </p:nvSpPr>
        <p:spPr>
          <a:xfrm>
            <a:off x="8723376" y="3749040"/>
            <a:ext cx="277977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1050" b="1">
                <a:solidFill>
                  <a:srgbClr val="00615F"/>
                </a:solidFill>
              </a:rPr>
              <a:t>Conversion — 61% drop-off</a:t>
            </a:r>
          </a:p>
        </p:txBody>
      </p:sp>
      <p:sp>
        <p:nvSpPr>
          <p:cNvPr id="818" name="desc2"/>
          <p:cNvSpPr txBox="1">
            <a:spLocks/>
          </p:cNvSpPr>
          <p:nvPr/>
        </p:nvSpPr>
        <p:spPr>
          <a:xfrm>
            <a:off x="8723376" y="3977640"/>
            <a:ext cx="277977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>
                <a:solidFill>
                  <a:srgbClr val="5F6F6D"/>
                </a:solidFill>
              </a:rPr>
              <a:t>Install and first reservation</a:t>
            </a:r>
          </a:p>
        </p:txBody>
      </p:sp>
      <p:sp>
        <p:nvSpPr>
          <p:cNvPr id="819" name="chip3"/>
          <p:cNvSpPr/>
          <p:nvPr/>
        </p:nvSpPr>
        <p:spPr>
          <a:xfrm>
            <a:off x="8522208" y="4498848"/>
            <a:ext cx="68580" cy="548640"/>
          </a:xfrm>
          <a:prstGeom prst="rect">
            <a:avLst/>
          </a:prstGeom>
          <a:solidFill>
            <a:srgbClr val="E8886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820" name="lab3"/>
          <p:cNvSpPr txBox="1">
            <a:spLocks/>
          </p:cNvSpPr>
          <p:nvPr/>
        </p:nvSpPr>
        <p:spPr>
          <a:xfrm>
            <a:off x="8723376" y="4462272"/>
            <a:ext cx="277977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1050" b="1">
                <a:solidFill>
                  <a:srgbClr val="00615F"/>
                </a:solidFill>
              </a:rPr>
              <a:t>Quality — 21% drop-off</a:t>
            </a:r>
          </a:p>
        </p:txBody>
      </p:sp>
      <p:sp>
        <p:nvSpPr>
          <p:cNvPr id="821" name="desc3"/>
          <p:cNvSpPr txBox="1">
            <a:spLocks/>
          </p:cNvSpPr>
          <p:nvPr/>
        </p:nvSpPr>
        <p:spPr>
          <a:xfrm>
            <a:off x="8723376" y="4690872"/>
            <a:ext cx="277977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>
                <a:solidFill>
                  <a:srgbClr val="5F6F6D"/>
                </a:solidFill>
              </a:rPr>
              <a:t>First bag collected and repeat rate</a:t>
            </a:r>
          </a:p>
        </p:txBody>
      </p:sp>
      <p:sp>
        <p:nvSpPr>
          <p:cNvPr id="822" name="funnelnote"/>
          <p:cNvSpPr txBox="1">
            <a:spLocks/>
          </p:cNvSpPr>
          <p:nvPr/>
        </p:nvSpPr>
        <p:spPr>
          <a:xfrm>
            <a:off x="8522208" y="5193792"/>
            <a:ext cx="29809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GB" sz="850" b="1">
                <a:solidFill>
                  <a:srgbClr val="00615F"/>
                </a:solidFill>
              </a:rPr>
              <a:t>A low CPI with weak retention isn’t growth — it’s cheap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ection label"/>
          <p:cNvSpPr txBox="1">
            <a:spLocks/>
          </p:cNvSpPr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MARKET PRIORITISATION</a:t>
            </a:r>
          </a:p>
        </p:txBody>
      </p:sp>
      <p:sp>
        <p:nvSpPr>
          <p:cNvPr id="2" name="Slide title"/>
          <p:cNvSpPr txBox="1">
            <a:spLocks/>
          </p:cNvSpPr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Berlin earns more budget than Munich</a:t>
            </a:r>
          </a:p>
        </p:txBody>
      </p:sp>
      <p:sp>
        <p:nvSpPr>
          <p:cNvPr id="3" name="Slide subtitle"/>
          <p:cNvSpPr txBox="1">
            <a:spLocks/>
          </p:cNvSpPr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Equal install cost hides a 12× supply gap; one city score sets the state.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576"/>
          </a:xfrm>
          <a:prstGeom prst="rect">
            <a:avLst/>
          </a:prstGeom>
        </p:spPr>
      </p:pic>
      <p:sp>
        <p:nvSpPr>
          <p:cNvPr id="5" name="Slide number"/>
          <p:cNvSpPr txBox="1"/>
          <p:nvPr/>
        </p:nvSpPr>
        <p:spPr>
          <a:xfrm>
            <a:off x="11457432" y="292295"/>
            <a:ext cx="320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  <a:endParaRPr kumimoji="0" sz="1000" b="1" i="0" u="none" strike="noStrike" kern="1200" cap="none" spc="0" normalizeH="0" baseline="0" noProof="0">
              <a:ln>
                <a:noFill/>
              </a:ln>
              <a:solidFill>
                <a:srgbClr val="6582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ource footer"/>
          <p:cNvSpPr txBox="1"/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The score combines supply gap, 90-day repeat value and causal lift.</a:t>
            </a:r>
          </a:p>
        </p:txBody>
      </p:sp>
      <p:sp>
        <p:nvSpPr>
          <p:cNvPr id="200" name="formula band"/>
          <p:cNvSpPr/>
          <p:nvPr/>
        </p:nvSpPr>
        <p:spPr>
          <a:xfrm>
            <a:off x="512064" y="1719072"/>
            <a:ext cx="1117396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5CA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01" name="formula label"/>
          <p:cNvSpPr txBox="1"/>
          <p:nvPr/>
        </p:nvSpPr>
        <p:spPr>
          <a:xfrm>
            <a:off x="786384" y="187452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50" b="1" spc="60">
                <a:solidFill>
                  <a:srgbClr val="00615F"/>
                </a:solidFill>
                <a:latin typeface="Arial"/>
              </a:rPr>
              <a:t>MARKET RESCUE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50" b="1" spc="60">
                <a:solidFill>
                  <a:srgbClr val="00615F"/>
                </a:solidFill>
                <a:latin typeface="Arial"/>
              </a:rPr>
              <a:t>OPPORTUNITY SCORE</a:t>
            </a:r>
          </a:p>
        </p:txBody>
      </p:sp>
      <p:sp>
        <p:nvSpPr>
          <p:cNvPr id="202" name="fac0"/>
          <p:cNvSpPr txBox="1"/>
          <p:nvPr/>
        </p:nvSpPr>
        <p:spPr>
          <a:xfrm>
            <a:off x="3154680" y="18745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50" b="1" spc="0" dirty="0">
                <a:solidFill>
                  <a:srgbClr val="00615F"/>
                </a:solidFill>
                <a:latin typeface="Arial"/>
              </a:rPr>
              <a:t>AT-RISK SUPPLY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GB" sz="850" b="0" spc="0" dirty="0">
                <a:solidFill>
                  <a:srgbClr val="5F6F6D"/>
                </a:solidFill>
                <a:latin typeface="Arial"/>
              </a:rPr>
              <a:t>Enough nearby supply</a:t>
            </a:r>
          </a:p>
        </p:txBody>
      </p:sp>
      <p:sp>
        <p:nvSpPr>
          <p:cNvPr id="203" name="mul0"/>
          <p:cNvSpPr txBox="1"/>
          <p:nvPr/>
        </p:nvSpPr>
        <p:spPr>
          <a:xfrm>
            <a:off x="5303520" y="19933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50" b="1" spc="0">
                <a:solidFill>
                  <a:srgbClr val="B9AFA3"/>
                </a:solidFill>
                <a:latin typeface="Arial"/>
              </a:rPr>
              <a:t>×</a:t>
            </a:r>
          </a:p>
        </p:txBody>
      </p:sp>
      <p:sp>
        <p:nvSpPr>
          <p:cNvPr id="204" name="fac1"/>
          <p:cNvSpPr txBox="1"/>
          <p:nvPr/>
        </p:nvSpPr>
        <p:spPr>
          <a:xfrm>
            <a:off x="5669280" y="18745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50" b="1" spc="0" dirty="0">
                <a:solidFill>
                  <a:srgbClr val="00615F"/>
                </a:solidFill>
                <a:latin typeface="Arial"/>
              </a:rPr>
              <a:t>PAID RESPONSE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GB" sz="850" b="0" spc="0" dirty="0">
                <a:solidFill>
                  <a:srgbClr val="5F6F6D"/>
                </a:solidFill>
                <a:latin typeface="Arial"/>
              </a:rPr>
              <a:t>Causal lift, not correlation</a:t>
            </a:r>
          </a:p>
        </p:txBody>
      </p:sp>
      <p:sp>
        <p:nvSpPr>
          <p:cNvPr id="205" name="mul1"/>
          <p:cNvSpPr txBox="1"/>
          <p:nvPr/>
        </p:nvSpPr>
        <p:spPr>
          <a:xfrm>
            <a:off x="7818120" y="19933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50" b="1" spc="0">
                <a:solidFill>
                  <a:srgbClr val="B9AFA3"/>
                </a:solidFill>
                <a:latin typeface="Arial"/>
              </a:rPr>
              <a:t>×</a:t>
            </a:r>
          </a:p>
        </p:txBody>
      </p:sp>
      <p:sp>
        <p:nvSpPr>
          <p:cNvPr id="206" name="fac2"/>
          <p:cNvSpPr txBox="1"/>
          <p:nvPr/>
        </p:nvSpPr>
        <p:spPr>
          <a:xfrm>
            <a:off x="8183880" y="18745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50" b="1" spc="0" dirty="0">
                <a:solidFill>
                  <a:srgbClr val="00615F"/>
                </a:solidFill>
                <a:latin typeface="Arial"/>
              </a:rPr>
              <a:t>USER QUALITY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GB" sz="850" b="0" spc="0" dirty="0">
                <a:solidFill>
                  <a:srgbClr val="5F6F6D"/>
                </a:solidFill>
                <a:latin typeface="Arial"/>
              </a:rPr>
              <a:t>90-day collections</a:t>
            </a:r>
          </a:p>
        </p:txBody>
      </p:sp>
      <p:sp>
        <p:nvSpPr>
          <p:cNvPr id="207" name="eq"/>
          <p:cNvSpPr txBox="1"/>
          <p:nvPr/>
        </p:nvSpPr>
        <p:spPr>
          <a:xfrm>
            <a:off x="10442448" y="192024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50" b="1" spc="0">
                <a:solidFill>
                  <a:srgbClr val="B9AFA3"/>
                </a:solidFill>
                <a:latin typeface="Arial"/>
              </a:rPr>
              <a:t>=</a:t>
            </a:r>
          </a:p>
        </p:txBody>
      </p:sp>
      <p:sp>
        <p:nvSpPr>
          <p:cNvPr id="208" name="outcome"/>
          <p:cNvSpPr txBox="1"/>
          <p:nvPr/>
        </p:nvSpPr>
        <p:spPr>
          <a:xfrm>
            <a:off x="10808208" y="1901952"/>
            <a:ext cx="877824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850" b="1" spc="0" dirty="0">
                <a:solidFill>
                  <a:srgbClr val="00615F"/>
                </a:solidFill>
                <a:latin typeface="Arial"/>
              </a:rPr>
              <a:t>Incremental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850" b="1" spc="0" dirty="0">
                <a:solidFill>
                  <a:srgbClr val="00615F"/>
                </a:solidFill>
                <a:latin typeface="Arial"/>
              </a:rPr>
              <a:t>bags per €</a:t>
            </a:r>
          </a:p>
        </p:txBody>
      </p:sp>
      <p:sp>
        <p:nvSpPr>
          <p:cNvPr id="209" name="card0"/>
          <p:cNvSpPr/>
          <p:nvPr/>
        </p:nvSpPr>
        <p:spPr>
          <a:xfrm>
            <a:off x="512064" y="2926080"/>
            <a:ext cx="363318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5CA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10" name="bar0"/>
          <p:cNvSpPr/>
          <p:nvPr/>
        </p:nvSpPr>
        <p:spPr>
          <a:xfrm>
            <a:off x="512064" y="2926080"/>
            <a:ext cx="3633186" cy="118872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11" name="band0"/>
          <p:cNvSpPr txBox="1"/>
          <p:nvPr/>
        </p:nvSpPr>
        <p:spPr>
          <a:xfrm>
            <a:off x="804672" y="3401568"/>
            <a:ext cx="308454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spc="0" dirty="0">
                <a:solidFill>
                  <a:srgbClr val="C0554A"/>
                </a:solidFill>
                <a:latin typeface="Arial"/>
              </a:rPr>
              <a:t>&lt;50</a:t>
            </a:r>
          </a:p>
        </p:txBody>
      </p:sp>
      <p:sp>
        <p:nvSpPr>
          <p:cNvPr id="212" name="state0"/>
          <p:cNvSpPr txBox="1"/>
          <p:nvPr/>
        </p:nvSpPr>
        <p:spPr>
          <a:xfrm>
            <a:off x="804672" y="4096512"/>
            <a:ext cx="30845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50" b="1" spc="80">
                <a:solidFill>
                  <a:srgbClr val="00615F"/>
                </a:solidFill>
                <a:latin typeface="Arial"/>
              </a:rPr>
              <a:t>REDUCE</a:t>
            </a:r>
          </a:p>
        </p:txBody>
      </p:sp>
      <p:sp>
        <p:nvSpPr>
          <p:cNvPr id="213" name="desc0"/>
          <p:cNvSpPr txBox="1"/>
          <p:nvPr/>
        </p:nvSpPr>
        <p:spPr>
          <a:xfrm>
            <a:off x="804672" y="4553712"/>
            <a:ext cx="304797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Supply is weak or causal lift is low</a:t>
            </a:r>
          </a:p>
        </p:txBody>
      </p:sp>
      <p:sp>
        <p:nvSpPr>
          <p:cNvPr id="214" name="pill0"/>
          <p:cNvSpPr/>
          <p:nvPr/>
        </p:nvSpPr>
        <p:spPr>
          <a:xfrm>
            <a:off x="804672" y="5632704"/>
            <a:ext cx="1874520" cy="347472"/>
          </a:xfrm>
          <a:prstGeom prst="roundRect">
            <a:avLst>
              <a:gd name="adj" fmla="val 8000"/>
            </a:avLst>
          </a:prstGeom>
          <a:solidFill>
            <a:srgbClr val="C055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15" name="cty0"/>
          <p:cNvSpPr txBox="1"/>
          <p:nvPr/>
        </p:nvSpPr>
        <p:spPr>
          <a:xfrm>
            <a:off x="804672" y="5715000"/>
            <a:ext cx="1874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850" b="1" spc="0" dirty="0">
                <a:solidFill>
                  <a:srgbClr val="FFFFFF"/>
                </a:solidFill>
                <a:latin typeface="Arial"/>
              </a:rPr>
              <a:t>MUNICH · REDUCE</a:t>
            </a:r>
          </a:p>
        </p:txBody>
      </p:sp>
      <p:sp>
        <p:nvSpPr>
          <p:cNvPr id="216" name="card1"/>
          <p:cNvSpPr/>
          <p:nvPr/>
        </p:nvSpPr>
        <p:spPr>
          <a:xfrm>
            <a:off x="4282410" y="2926080"/>
            <a:ext cx="363318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5CA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17" name="bar1"/>
          <p:cNvSpPr/>
          <p:nvPr/>
        </p:nvSpPr>
        <p:spPr>
          <a:xfrm>
            <a:off x="4282410" y="2926080"/>
            <a:ext cx="3633186" cy="118872"/>
          </a:xfrm>
          <a:prstGeom prst="rect">
            <a:avLst/>
          </a:prstGeom>
          <a:solidFill>
            <a:srgbClr val="C08A1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18" name="band1"/>
          <p:cNvSpPr txBox="1"/>
          <p:nvPr/>
        </p:nvSpPr>
        <p:spPr>
          <a:xfrm>
            <a:off x="4575018" y="3401568"/>
            <a:ext cx="308454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spc="0" dirty="0">
                <a:solidFill>
                  <a:srgbClr val="C08A1E"/>
                </a:solidFill>
                <a:latin typeface="Arial"/>
              </a:rPr>
              <a:t>50–79</a:t>
            </a:r>
          </a:p>
        </p:txBody>
      </p:sp>
      <p:sp>
        <p:nvSpPr>
          <p:cNvPr id="219" name="state1"/>
          <p:cNvSpPr txBox="1"/>
          <p:nvPr/>
        </p:nvSpPr>
        <p:spPr>
          <a:xfrm>
            <a:off x="4575018" y="4096512"/>
            <a:ext cx="30845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50" b="1" spc="80">
                <a:solidFill>
                  <a:srgbClr val="00615F"/>
                </a:solidFill>
                <a:latin typeface="Arial"/>
              </a:rPr>
              <a:t>MAINTAIN</a:t>
            </a:r>
          </a:p>
        </p:txBody>
      </p:sp>
      <p:sp>
        <p:nvSpPr>
          <p:cNvPr id="220" name="desc1"/>
          <p:cNvSpPr txBox="1"/>
          <p:nvPr/>
        </p:nvSpPr>
        <p:spPr>
          <a:xfrm>
            <a:off x="4575018" y="4553712"/>
            <a:ext cx="304797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Signals are positive; monitor saturation</a:t>
            </a:r>
          </a:p>
        </p:txBody>
      </p:sp>
      <p:sp>
        <p:nvSpPr>
          <p:cNvPr id="221" name="pill1"/>
          <p:cNvSpPr/>
          <p:nvPr/>
        </p:nvSpPr>
        <p:spPr>
          <a:xfrm>
            <a:off x="4575018" y="5632704"/>
            <a:ext cx="1874520" cy="347472"/>
          </a:xfrm>
          <a:prstGeom prst="roundRect">
            <a:avLst>
              <a:gd name="adj" fmla="val 8000"/>
            </a:avLst>
          </a:prstGeom>
          <a:solidFill>
            <a:srgbClr val="C08A1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22" name="cty1"/>
          <p:cNvSpPr txBox="1"/>
          <p:nvPr/>
        </p:nvSpPr>
        <p:spPr>
          <a:xfrm>
            <a:off x="4575018" y="5715000"/>
            <a:ext cx="1874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850" b="1" spc="0">
                <a:solidFill>
                  <a:srgbClr val="FFFFFF"/>
                </a:solidFill>
                <a:latin typeface="Arial"/>
              </a:rPr>
              <a:t>PARIS · MAINTAIN</a:t>
            </a:r>
            <a:endParaRPr lang="en-GB" sz="850" b="1" spc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card2"/>
          <p:cNvSpPr/>
          <p:nvPr/>
        </p:nvSpPr>
        <p:spPr>
          <a:xfrm>
            <a:off x="8052755" y="2926080"/>
            <a:ext cx="363318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5CA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24" name="bar2"/>
          <p:cNvSpPr/>
          <p:nvPr/>
        </p:nvSpPr>
        <p:spPr>
          <a:xfrm>
            <a:off x="8052755" y="2926080"/>
            <a:ext cx="3633186" cy="118872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25" name="band2"/>
          <p:cNvSpPr txBox="1"/>
          <p:nvPr/>
        </p:nvSpPr>
        <p:spPr>
          <a:xfrm>
            <a:off x="8345363" y="3401568"/>
            <a:ext cx="3084546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spc="0" dirty="0">
                <a:solidFill>
                  <a:srgbClr val="2E8B62"/>
                </a:solidFill>
                <a:latin typeface="Arial"/>
              </a:rPr>
              <a:t>80+</a:t>
            </a:r>
          </a:p>
        </p:txBody>
      </p:sp>
      <p:sp>
        <p:nvSpPr>
          <p:cNvPr id="226" name="state2"/>
          <p:cNvSpPr txBox="1"/>
          <p:nvPr/>
        </p:nvSpPr>
        <p:spPr>
          <a:xfrm>
            <a:off x="8345363" y="4096512"/>
            <a:ext cx="30845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150" b="1" spc="80">
                <a:solidFill>
                  <a:srgbClr val="00615F"/>
                </a:solidFill>
                <a:latin typeface="Arial"/>
              </a:rPr>
              <a:t>INCREASE</a:t>
            </a:r>
          </a:p>
        </p:txBody>
      </p:sp>
      <p:sp>
        <p:nvSpPr>
          <p:cNvPr id="227" name="desc2"/>
          <p:cNvSpPr txBox="1"/>
          <p:nvPr/>
        </p:nvSpPr>
        <p:spPr>
          <a:xfrm>
            <a:off x="8345363" y="4553712"/>
            <a:ext cx="304797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Increase 15–25% while marginal cost remains below the limit</a:t>
            </a:r>
          </a:p>
        </p:txBody>
      </p:sp>
      <p:sp>
        <p:nvSpPr>
          <p:cNvPr id="228" name="pill2"/>
          <p:cNvSpPr/>
          <p:nvPr/>
        </p:nvSpPr>
        <p:spPr>
          <a:xfrm>
            <a:off x="8345363" y="5632704"/>
            <a:ext cx="1874520" cy="347472"/>
          </a:xfrm>
          <a:prstGeom prst="roundRect">
            <a:avLst>
              <a:gd name="adj" fmla="val 8000"/>
            </a:avLst>
          </a:prstGeom>
          <a:solidFill>
            <a:srgbClr val="2E8B6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endParaRPr lang="en-GB"/>
          </a:p>
        </p:txBody>
      </p:sp>
      <p:sp>
        <p:nvSpPr>
          <p:cNvPr id="229" name="cty2"/>
          <p:cNvSpPr txBox="1"/>
          <p:nvPr/>
        </p:nvSpPr>
        <p:spPr>
          <a:xfrm>
            <a:off x="8345363" y="5715000"/>
            <a:ext cx="1874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850" b="1" spc="0" dirty="0">
                <a:solidFill>
                  <a:srgbClr val="FFFFFF"/>
                </a:solidFill>
                <a:latin typeface="Arial"/>
              </a:rPr>
              <a:t>BERLIN · INCREASE</a:t>
            </a:r>
          </a:p>
        </p:txBody>
      </p:sp>
      <p:sp>
        <p:nvSpPr>
          <p:cNvPr id="400" name="icon bg 0"/>
          <p:cNvSpPr/>
          <p:nvPr/>
        </p:nvSpPr>
        <p:spPr>
          <a:xfrm>
            <a:off x="3212562" y="3291840"/>
            <a:ext cx="658368" cy="658368"/>
          </a:xfrm>
          <a:prstGeom prst="ellipse">
            <a:avLst/>
          </a:prstGeom>
          <a:solidFill>
            <a:srgbClr val="F3E2D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1" name="icon 0"/>
          <p:cNvSpPr/>
          <p:nvPr/>
        </p:nvSpPr>
        <p:spPr>
          <a:xfrm>
            <a:off x="3386298" y="3447288"/>
            <a:ext cx="310896" cy="347472"/>
          </a:xfrm>
          <a:prstGeom prst="downArrow">
            <a:avLst>
              <a:gd name="adj1" fmla="val 45000"/>
              <a:gd name="adj2" fmla="val 42000"/>
            </a:avLst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2" name="icon bg 1"/>
          <p:cNvSpPr/>
          <p:nvPr/>
        </p:nvSpPr>
        <p:spPr>
          <a:xfrm>
            <a:off x="6982907" y="3291840"/>
            <a:ext cx="658368" cy="658368"/>
          </a:xfrm>
          <a:prstGeom prst="ellipse">
            <a:avLst/>
          </a:prstGeom>
          <a:solidFill>
            <a:srgbClr val="F6EBD5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3" name="icon 1"/>
          <p:cNvSpPr/>
          <p:nvPr/>
        </p:nvSpPr>
        <p:spPr>
          <a:xfrm>
            <a:off x="7129211" y="3465576"/>
            <a:ext cx="365760" cy="310896"/>
          </a:xfrm>
          <a:prstGeom prst="leftRightArrow">
            <a:avLst>
              <a:gd name="adj1" fmla="val 42000"/>
              <a:gd name="adj2" fmla="val 45000"/>
            </a:avLst>
          </a:prstGeom>
          <a:solidFill>
            <a:srgbClr val="C08A1E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4" name="icon bg 2"/>
          <p:cNvSpPr/>
          <p:nvPr/>
        </p:nvSpPr>
        <p:spPr>
          <a:xfrm>
            <a:off x="10753253" y="3291840"/>
            <a:ext cx="658368" cy="658368"/>
          </a:xfrm>
          <a:prstGeom prst="ellipse">
            <a:avLst/>
          </a:prstGeom>
          <a:solidFill>
            <a:srgbClr val="DDEFE5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5" name="icon 2"/>
          <p:cNvSpPr/>
          <p:nvPr/>
        </p:nvSpPr>
        <p:spPr>
          <a:xfrm>
            <a:off x="10926989" y="3447288"/>
            <a:ext cx="310896" cy="347472"/>
          </a:xfrm>
          <a:prstGeom prst="upArrow">
            <a:avLst>
              <a:gd name="adj1" fmla="val 45000"/>
              <a:gd name="adj2" fmla="val 42000"/>
            </a:avLst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6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7" name="badge icon"/>
          <p:cNvSpPr/>
          <p:nvPr/>
        </p:nvSpPr>
        <p:spPr>
          <a:xfrm>
            <a:off x="608076" y="288036"/>
            <a:ext cx="210312" cy="210312"/>
          </a:xfrm>
          <a:prstGeom prst="mathMultiply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BA759-79B9-644C-15C4-3A461CD0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ve image">
            <a:extLst>
              <a:ext uri="{FF2B5EF4-FFF2-40B4-BE49-F238E27FC236}">
                <a16:creationId xmlns:a16="http://schemas.microsoft.com/office/drawing/2014/main" id="{AE2B3035-CF23-1C99-40D0-C51C499D9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363"/>
          </a:xfrm>
          <a:prstGeom prst="rect">
            <a:avLst/>
          </a:prstGeom>
        </p:spPr>
      </p:pic>
      <p:sp>
        <p:nvSpPr>
          <p:cNvPr id="3" name="Section label">
            <a:extLst>
              <a:ext uri="{FF2B5EF4-FFF2-40B4-BE49-F238E27FC236}">
                <a16:creationId xmlns:a16="http://schemas.microsoft.com/office/drawing/2014/main" id="{A90B7438-EDC1-0186-3730-169BCB0365D2}"/>
              </a:ext>
            </a:extLst>
          </p:cNvPr>
          <p:cNvSpPr txBox="1">
            <a:spLocks/>
          </p:cNvSpPr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BUDGET ALLOCATION</a:t>
            </a:r>
          </a:p>
        </p:txBody>
      </p:sp>
      <p:sp>
        <p:nvSpPr>
          <p:cNvPr id="5" name="Slide headline">
            <a:extLst>
              <a:ext uri="{FF2B5EF4-FFF2-40B4-BE49-F238E27FC236}">
                <a16:creationId xmlns:a16="http://schemas.microsoft.com/office/drawing/2014/main" id="{DB504BA9-671C-2347-F855-3B9963C0FA6F}"/>
              </a:ext>
            </a:extLst>
          </p:cNvPr>
          <p:cNvSpPr txBox="1">
            <a:spLocks/>
          </p:cNvSpPr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Scaling stops when marginal cost hits the cap</a:t>
            </a:r>
          </a:p>
        </p:txBody>
      </p:sp>
      <p:sp>
        <p:nvSpPr>
          <p:cNvPr id="6" name="Slide summary">
            <a:extLst>
              <a:ext uri="{FF2B5EF4-FFF2-40B4-BE49-F238E27FC236}">
                <a16:creationId xmlns:a16="http://schemas.microsoft.com/office/drawing/2014/main" id="{246A1325-1FB1-4289-F737-D3DE090E04E3}"/>
              </a:ext>
            </a:extLst>
          </p:cNvPr>
          <p:cNvSpPr txBox="1">
            <a:spLocks/>
          </p:cNvSpPr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Every additional euro goes to the strongest marginal return.</a:t>
            </a:r>
          </a:p>
        </p:txBody>
      </p:sp>
      <p:graphicFrame>
        <p:nvGraphicFramePr>
          <p:cNvPr id="8" name="Chart — slide 5" descr="Line chart showing marginal iCPB across €5k spend increments against a €12 cost cap." title="Chart on slide 5">
            <a:extLst>
              <a:ext uri="{FF2B5EF4-FFF2-40B4-BE49-F238E27FC236}">
                <a16:creationId xmlns:a16="http://schemas.microsoft.com/office/drawing/2014/main" id="{E3096B7B-DEB9-1251-64AE-85E4D4057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0692"/>
              </p:ext>
            </p:extLst>
          </p:nvPr>
        </p:nvGraphicFramePr>
        <p:xfrm>
          <a:off x="512064" y="4462272"/>
          <a:ext cx="70866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ource footer">
            <a:extLst>
              <a:ext uri="{FF2B5EF4-FFF2-40B4-BE49-F238E27FC236}">
                <a16:creationId xmlns:a16="http://schemas.microsoft.com/office/drawing/2014/main" id="{609BFEB2-B6F3-9DE1-D19E-E1D3E63CC8C0}"/>
              </a:ext>
            </a:extLst>
          </p:cNvPr>
          <p:cNvSpPr txBox="1">
            <a:spLocks/>
          </p:cNvSpPr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iCPB is incremental cost per collected bag; €12 is the scaling cap.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ADDF8F6-6642-295F-2281-5C6B1D9A67C6}"/>
              </a:ext>
            </a:extLst>
          </p:cNvPr>
          <p:cNvSpPr txBox="1">
            <a:spLocks/>
          </p:cNvSpPr>
          <p:nvPr/>
        </p:nvSpPr>
        <p:spPr>
          <a:xfrm>
            <a:off x="11457432" y="288448"/>
            <a:ext cx="32004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04</a:t>
            </a:r>
          </a:p>
        </p:txBody>
      </p:sp>
      <p:sp>
        <p:nvSpPr>
          <p:cNvPr id="12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13" name="badge icon"/>
          <p:cNvSpPr/>
          <p:nvPr/>
        </p:nvSpPr>
        <p:spPr>
          <a:xfrm>
            <a:off x="608076" y="288036"/>
            <a:ext cx="210312" cy="210312"/>
          </a:xfrm>
          <a:prstGeom prst="donu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0" name="ledgerhead"/>
          <p:cNvSpPr/>
          <p:nvPr/>
        </p:nvSpPr>
        <p:spPr>
          <a:xfrm>
            <a:off x="512064" y="1783080"/>
            <a:ext cx="11173968" cy="384048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1" name="hdMARKET"/>
          <p:cNvSpPr txBox="1"/>
          <p:nvPr/>
        </p:nvSpPr>
        <p:spPr>
          <a:xfrm>
            <a:off x="694944" y="188366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1" spc="70" dirty="0">
                <a:solidFill>
                  <a:srgbClr val="FFFFFF"/>
                </a:solidFill>
                <a:latin typeface="Arial"/>
              </a:rPr>
              <a:t>MARKET</a:t>
            </a:r>
          </a:p>
        </p:txBody>
      </p:sp>
      <p:sp>
        <p:nvSpPr>
          <p:cNvPr id="302" name="hdAT-RIS"/>
          <p:cNvSpPr txBox="1"/>
          <p:nvPr/>
        </p:nvSpPr>
        <p:spPr>
          <a:xfrm>
            <a:off x="3749040" y="1883664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1" spc="70" dirty="0">
                <a:solidFill>
                  <a:srgbClr val="FFFFFF"/>
                </a:solidFill>
                <a:latin typeface="Arial"/>
              </a:rPr>
              <a:t>AT-RISK SUPPLY (BAGS/WEEK)</a:t>
            </a:r>
          </a:p>
        </p:txBody>
      </p:sp>
      <p:sp>
        <p:nvSpPr>
          <p:cNvPr id="303" name="hdiCPB ("/>
          <p:cNvSpPr txBox="1"/>
          <p:nvPr/>
        </p:nvSpPr>
        <p:spPr>
          <a:xfrm>
            <a:off x="6766560" y="188366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1" spc="70" dirty="0">
                <a:solidFill>
                  <a:srgbClr val="FFFFFF"/>
                </a:solidFill>
                <a:latin typeface="Arial"/>
              </a:rPr>
              <a:t>iCPB (€ PER BAG)</a:t>
            </a:r>
          </a:p>
        </p:txBody>
      </p:sp>
      <p:sp>
        <p:nvSpPr>
          <p:cNvPr id="304" name="hdACTION"/>
          <p:cNvSpPr txBox="1"/>
          <p:nvPr/>
        </p:nvSpPr>
        <p:spPr>
          <a:xfrm>
            <a:off x="9235440" y="1883664"/>
            <a:ext cx="2267712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1" spc="70" dirty="0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305" name="rowbg0"/>
          <p:cNvSpPr/>
          <p:nvPr/>
        </p:nvSpPr>
        <p:spPr>
          <a:xfrm>
            <a:off x="512064" y="2185416"/>
            <a:ext cx="11173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6" name="rowac0"/>
          <p:cNvSpPr/>
          <p:nvPr/>
        </p:nvSpPr>
        <p:spPr>
          <a:xfrm>
            <a:off x="512064" y="2185416"/>
            <a:ext cx="54864" cy="457200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7" name="mkt0"/>
          <p:cNvSpPr txBox="1"/>
          <p:nvPr/>
        </p:nvSpPr>
        <p:spPr>
          <a:xfrm>
            <a:off x="694944" y="22860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00615F"/>
                </a:solidFill>
                <a:latin typeface="Arial"/>
              </a:rPr>
              <a:t>Berlin A</a:t>
            </a:r>
          </a:p>
        </p:txBody>
      </p:sp>
      <p:sp>
        <p:nvSpPr>
          <p:cNvPr id="308" name="sup0"/>
          <p:cNvSpPr txBox="1"/>
          <p:nvPr/>
        </p:nvSpPr>
        <p:spPr>
          <a:xfrm>
            <a:off x="3749040" y="23042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2,400</a:t>
            </a:r>
          </a:p>
        </p:txBody>
      </p:sp>
      <p:sp>
        <p:nvSpPr>
          <p:cNvPr id="309" name="icpb0"/>
          <p:cNvSpPr txBox="1"/>
          <p:nvPr/>
        </p:nvSpPr>
        <p:spPr>
          <a:xfrm>
            <a:off x="6766560" y="23042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€7</a:t>
            </a:r>
          </a:p>
        </p:txBody>
      </p:sp>
      <p:sp>
        <p:nvSpPr>
          <p:cNvPr id="310" name="chip0"/>
          <p:cNvSpPr/>
          <p:nvPr/>
        </p:nvSpPr>
        <p:spPr>
          <a:xfrm>
            <a:off x="9235440" y="226771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1" name="act0"/>
          <p:cNvSpPr txBox="1"/>
          <p:nvPr/>
        </p:nvSpPr>
        <p:spPr>
          <a:xfrm>
            <a:off x="9235440" y="2340864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850" b="1" spc="0" dirty="0">
                <a:solidFill>
                  <a:srgbClr val="FFFFFF"/>
                </a:solidFill>
                <a:latin typeface="Arial"/>
              </a:rPr>
              <a:t>Increase 20%</a:t>
            </a:r>
          </a:p>
        </p:txBody>
      </p:sp>
      <p:sp>
        <p:nvSpPr>
          <p:cNvPr id="312" name="rowac1"/>
          <p:cNvSpPr/>
          <p:nvPr/>
        </p:nvSpPr>
        <p:spPr>
          <a:xfrm>
            <a:off x="512064" y="2660904"/>
            <a:ext cx="54864" cy="457200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3" name="mkt1"/>
          <p:cNvSpPr txBox="1"/>
          <p:nvPr/>
        </p:nvSpPr>
        <p:spPr>
          <a:xfrm>
            <a:off x="694944" y="27614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00615F"/>
                </a:solidFill>
                <a:latin typeface="Arial"/>
              </a:rPr>
              <a:t>Munich B</a:t>
            </a:r>
          </a:p>
        </p:txBody>
      </p:sp>
      <p:sp>
        <p:nvSpPr>
          <p:cNvPr id="314" name="sup1"/>
          <p:cNvSpPr txBox="1"/>
          <p:nvPr/>
        </p:nvSpPr>
        <p:spPr>
          <a:xfrm>
            <a:off x="3749040" y="277977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200</a:t>
            </a:r>
          </a:p>
        </p:txBody>
      </p:sp>
      <p:sp>
        <p:nvSpPr>
          <p:cNvPr id="315" name="icpb1"/>
          <p:cNvSpPr txBox="1"/>
          <p:nvPr/>
        </p:nvSpPr>
        <p:spPr>
          <a:xfrm>
            <a:off x="6766560" y="27797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€21</a:t>
            </a:r>
          </a:p>
        </p:txBody>
      </p:sp>
      <p:sp>
        <p:nvSpPr>
          <p:cNvPr id="316" name="chip1"/>
          <p:cNvSpPr/>
          <p:nvPr/>
        </p:nvSpPr>
        <p:spPr>
          <a:xfrm>
            <a:off x="9235440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7" name="act1"/>
          <p:cNvSpPr txBox="1"/>
          <p:nvPr/>
        </p:nvSpPr>
        <p:spPr>
          <a:xfrm>
            <a:off x="9235440" y="2816352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850" b="1" spc="0" dirty="0">
                <a:solidFill>
                  <a:srgbClr val="FFFFFF"/>
                </a:solidFill>
                <a:latin typeface="Arial"/>
              </a:rPr>
              <a:t>Reduce</a:t>
            </a:r>
          </a:p>
        </p:txBody>
      </p:sp>
      <p:sp>
        <p:nvSpPr>
          <p:cNvPr id="318" name="rowbg2"/>
          <p:cNvSpPr/>
          <p:nvPr/>
        </p:nvSpPr>
        <p:spPr>
          <a:xfrm>
            <a:off x="512064" y="3136392"/>
            <a:ext cx="11173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9" name="rowac2"/>
          <p:cNvSpPr/>
          <p:nvPr/>
        </p:nvSpPr>
        <p:spPr>
          <a:xfrm>
            <a:off x="512064" y="3136392"/>
            <a:ext cx="54864" cy="457200"/>
          </a:xfrm>
          <a:prstGeom prst="rect">
            <a:avLst/>
          </a:prstGeom>
          <a:solidFill>
            <a:srgbClr val="C08A1E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0" name="mkt2"/>
          <p:cNvSpPr txBox="1"/>
          <p:nvPr/>
        </p:nvSpPr>
        <p:spPr>
          <a:xfrm>
            <a:off x="694944" y="32369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00615F"/>
                </a:solidFill>
                <a:latin typeface="Arial"/>
              </a:rPr>
              <a:t>Paris C</a:t>
            </a:r>
          </a:p>
        </p:txBody>
      </p:sp>
      <p:sp>
        <p:nvSpPr>
          <p:cNvPr id="321" name="sup2"/>
          <p:cNvSpPr txBox="1"/>
          <p:nvPr/>
        </p:nvSpPr>
        <p:spPr>
          <a:xfrm>
            <a:off x="3749040" y="325526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1,100</a:t>
            </a:r>
          </a:p>
        </p:txBody>
      </p:sp>
      <p:sp>
        <p:nvSpPr>
          <p:cNvPr id="322" name="icpb2"/>
          <p:cNvSpPr txBox="1"/>
          <p:nvPr/>
        </p:nvSpPr>
        <p:spPr>
          <a:xfrm>
            <a:off x="6766560" y="32552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€9</a:t>
            </a:r>
          </a:p>
        </p:txBody>
      </p:sp>
      <p:sp>
        <p:nvSpPr>
          <p:cNvPr id="323" name="chip2"/>
          <p:cNvSpPr/>
          <p:nvPr/>
        </p:nvSpPr>
        <p:spPr>
          <a:xfrm>
            <a:off x="9235440" y="321868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4" name="act2"/>
          <p:cNvSpPr txBox="1"/>
          <p:nvPr/>
        </p:nvSpPr>
        <p:spPr>
          <a:xfrm>
            <a:off x="9235440" y="329184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850" b="1" spc="0" dirty="0">
                <a:solidFill>
                  <a:srgbClr val="FFFFFF"/>
                </a:solidFill>
                <a:latin typeface="Arial"/>
              </a:rPr>
              <a:t>Maintain</a:t>
            </a:r>
          </a:p>
        </p:txBody>
      </p:sp>
      <p:sp>
        <p:nvSpPr>
          <p:cNvPr id="325" name="rowac3"/>
          <p:cNvSpPr/>
          <p:nvPr/>
        </p:nvSpPr>
        <p:spPr>
          <a:xfrm>
            <a:off x="512064" y="3611880"/>
            <a:ext cx="54864" cy="457200"/>
          </a:xfrm>
          <a:prstGeom prst="rect">
            <a:avLst/>
          </a:prstGeom>
          <a:solidFill>
            <a:srgbClr val="5F6F6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6" name="mkt3"/>
          <p:cNvSpPr txBox="1"/>
          <p:nvPr/>
        </p:nvSpPr>
        <p:spPr>
          <a:xfrm>
            <a:off x="694944" y="37124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00615F"/>
                </a:solidFill>
                <a:latin typeface="Arial"/>
              </a:rPr>
              <a:t>Copenhagen D</a:t>
            </a:r>
          </a:p>
        </p:txBody>
      </p:sp>
      <p:sp>
        <p:nvSpPr>
          <p:cNvPr id="327" name="sup3"/>
          <p:cNvSpPr txBox="1"/>
          <p:nvPr/>
        </p:nvSpPr>
        <p:spPr>
          <a:xfrm>
            <a:off x="3749040" y="37307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750</a:t>
            </a:r>
          </a:p>
        </p:txBody>
      </p:sp>
      <p:sp>
        <p:nvSpPr>
          <p:cNvPr id="328" name="icpb3"/>
          <p:cNvSpPr txBox="1"/>
          <p:nvPr/>
        </p:nvSpPr>
        <p:spPr>
          <a:xfrm>
            <a:off x="6766560" y="37307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0" spc="0">
                <a:solidFill>
                  <a:srgbClr val="5F6F6D"/>
                </a:solidFill>
                <a:latin typeface="Arial"/>
              </a:rPr>
              <a:t>Event constraint</a:t>
            </a:r>
          </a:p>
        </p:txBody>
      </p:sp>
      <p:sp>
        <p:nvSpPr>
          <p:cNvPr id="329" name="chip3"/>
          <p:cNvSpPr/>
          <p:nvPr/>
        </p:nvSpPr>
        <p:spPr>
          <a:xfrm>
            <a:off x="9235440" y="369417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5F6F6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0" name="act3"/>
          <p:cNvSpPr txBox="1"/>
          <p:nvPr/>
        </p:nvSpPr>
        <p:spPr>
          <a:xfrm>
            <a:off x="9235440" y="376732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850" b="1" spc="0" dirty="0">
                <a:solidFill>
                  <a:srgbClr val="FFFFFF"/>
                </a:solidFill>
                <a:latin typeface="Arial"/>
              </a:rPr>
              <a:t>Pause</a:t>
            </a:r>
          </a:p>
        </p:txBody>
      </p:sp>
      <p:sp>
        <p:nvSpPr>
          <p:cNvPr id="331" name="ldivbot"/>
          <p:cNvSpPr/>
          <p:nvPr/>
        </p:nvSpPr>
        <p:spPr>
          <a:xfrm>
            <a:off x="512064" y="4087368"/>
            <a:ext cx="11173968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2" name="chartlbl"/>
          <p:cNvSpPr txBox="1"/>
          <p:nvPr/>
        </p:nvSpPr>
        <p:spPr>
          <a:xfrm>
            <a:off x="512064" y="42245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1" spc="70" dirty="0">
                <a:solidFill>
                  <a:srgbClr val="00615F"/>
                </a:solidFill>
                <a:latin typeface="Arial"/>
              </a:rPr>
              <a:t>MARGINAL COST PER COLLECTED BAG, BY WEEKLY SPEND</a:t>
            </a:r>
          </a:p>
        </p:txBody>
      </p:sp>
      <p:sp>
        <p:nvSpPr>
          <p:cNvPr id="333" name="capcard"/>
          <p:cNvSpPr/>
          <p:nvPr/>
        </p:nvSpPr>
        <p:spPr>
          <a:xfrm>
            <a:off x="7882128" y="4224528"/>
            <a:ext cx="3803904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4" name="capn"/>
          <p:cNvSpPr txBox="1"/>
          <p:nvPr/>
        </p:nvSpPr>
        <p:spPr>
          <a:xfrm>
            <a:off x="8156448" y="438912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3000" b="1" spc="0" dirty="0">
                <a:solidFill>
                  <a:srgbClr val="00615F"/>
                </a:solidFill>
                <a:latin typeface="Arial"/>
              </a:rPr>
              <a:t>€12</a:t>
            </a:r>
          </a:p>
        </p:txBody>
      </p:sp>
      <p:sp>
        <p:nvSpPr>
          <p:cNvPr id="335" name="capl"/>
          <p:cNvSpPr txBox="1"/>
          <p:nvPr/>
        </p:nvSpPr>
        <p:spPr>
          <a:xfrm>
            <a:off x="8156448" y="510235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</a:pPr>
            <a:r>
              <a:rPr lang="en-GB" sz="850" b="1" spc="70" dirty="0">
                <a:solidFill>
                  <a:srgbClr val="2E8B62"/>
                </a:solidFill>
                <a:latin typeface="Arial"/>
              </a:rPr>
              <a:t>SCALING CAP PER COLLECTED BAG</a:t>
            </a:r>
          </a:p>
        </p:txBody>
      </p:sp>
      <p:sp>
        <p:nvSpPr>
          <p:cNvPr id="336" name="capt"/>
          <p:cNvSpPr txBox="1"/>
          <p:nvPr/>
        </p:nvSpPr>
        <p:spPr>
          <a:xfrm>
            <a:off x="8156448" y="550468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Fund the first three €5k increments; send the next euro to a stronger market.</a:t>
            </a:r>
          </a:p>
        </p:txBody>
      </p:sp>
      <p:cxnSp>
        <p:nvCxnSpPr>
          <p:cNvPr id="950" name="Connector 950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AFD87-CB4D-A449-CCB0-DA6B3F74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ve image">
            <a:extLst>
              <a:ext uri="{FF2B5EF4-FFF2-40B4-BE49-F238E27FC236}">
                <a16:creationId xmlns:a16="http://schemas.microsoft.com/office/drawing/2014/main" id="{477E9EE9-A8DF-3FBA-DB48-95C876222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363"/>
          </a:xfrm>
          <a:prstGeom prst="rect">
            <a:avLst/>
          </a:prstGeom>
        </p:spPr>
      </p:pic>
      <p:sp>
        <p:nvSpPr>
          <p:cNvPr id="3" name="Section label">
            <a:extLst>
              <a:ext uri="{FF2B5EF4-FFF2-40B4-BE49-F238E27FC236}">
                <a16:creationId xmlns:a16="http://schemas.microsoft.com/office/drawing/2014/main" id="{7E6A93B6-59A4-1B23-F4B3-EE221FF3D80B}"/>
              </a:ext>
            </a:extLst>
          </p:cNvPr>
          <p:cNvSpPr txBox="1">
            <a:spLocks/>
          </p:cNvSpPr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CHANNEL MIX</a:t>
            </a:r>
          </a:p>
        </p:txBody>
      </p:sp>
      <p:sp>
        <p:nvSpPr>
          <p:cNvPr id="5" name="Slide headline">
            <a:extLst>
              <a:ext uri="{FF2B5EF4-FFF2-40B4-BE49-F238E27FC236}">
                <a16:creationId xmlns:a16="http://schemas.microsoft.com/office/drawing/2014/main" id="{A3BA9E24-E8EE-94A6-8A7A-CFA89B544C3E}"/>
              </a:ext>
            </a:extLst>
          </p:cNvPr>
          <p:cNvSpPr txBox="1">
            <a:spLocks/>
          </p:cNvSpPr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Meta scales, TikTok creates, Pinterest tests</a:t>
            </a:r>
          </a:p>
        </p:txBody>
      </p:sp>
      <p:sp>
        <p:nvSpPr>
          <p:cNvPr id="6" name="Slide summary">
            <a:extLst>
              <a:ext uri="{FF2B5EF4-FFF2-40B4-BE49-F238E27FC236}">
                <a16:creationId xmlns:a16="http://schemas.microsoft.com/office/drawing/2014/main" id="{E936B277-FCE1-77FF-17FE-5F6043D2D4EC}"/>
              </a:ext>
            </a:extLst>
          </p:cNvPr>
          <p:cNvSpPr txBox="1">
            <a:spLocks/>
          </p:cNvSpPr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Concentrate spend to learn; each platform's role shifts with market conditions.</a:t>
            </a:r>
          </a:p>
        </p:txBody>
      </p:sp>
      <p:sp>
        <p:nvSpPr>
          <p:cNvPr id="24" name="Source footer">
            <a:extLst>
              <a:ext uri="{FF2B5EF4-FFF2-40B4-BE49-F238E27FC236}">
                <a16:creationId xmlns:a16="http://schemas.microsoft.com/office/drawing/2014/main" id="{3B24D499-F8AC-97BC-78E7-5A83FE6CAA4B}"/>
              </a:ext>
            </a:extLst>
          </p:cNvPr>
          <p:cNvSpPr txBox="1">
            <a:spLocks/>
          </p:cNvSpPr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Source: Planned first-year mix. Note: Reviewed quarterly on lift-adjusted iCPB.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7D36D30-5750-6011-FF77-5D28E56E8E60}"/>
              </a:ext>
            </a:extLst>
          </p:cNvPr>
          <p:cNvSpPr txBox="1">
            <a:spLocks/>
          </p:cNvSpPr>
          <p:nvPr/>
        </p:nvSpPr>
        <p:spPr>
          <a:xfrm>
            <a:off x="11457432" y="288448"/>
            <a:ext cx="32004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05</a:t>
            </a:r>
          </a:p>
        </p:txBody>
      </p:sp>
      <p:sp>
        <p:nvSpPr>
          <p:cNvPr id="25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26" name="badge icon"/>
          <p:cNvSpPr/>
          <p:nvPr/>
        </p:nvSpPr>
        <p:spPr>
          <a:xfrm>
            <a:off x="608076" y="288036"/>
            <a:ext cx="210312" cy="210312"/>
          </a:xfrm>
          <a:prstGeom prst="flowChartMultidocumen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0" name="barlabel"/>
          <p:cNvSpPr txBox="1"/>
          <p:nvPr/>
        </p:nvSpPr>
        <p:spPr>
          <a:xfrm>
            <a:off x="512064" y="181051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950" b="1" spc="80">
                <a:solidFill>
                  <a:srgbClr val="00615F"/>
                </a:solidFill>
                <a:latin typeface="Arial"/>
              </a:rPr>
              <a:t>PLANNED FIRST-YEAR BUDGET SHARE</a:t>
            </a:r>
          </a:p>
        </p:txBody>
      </p:sp>
      <p:sp>
        <p:nvSpPr>
          <p:cNvPr id="301" name="segMeta"/>
          <p:cNvSpPr/>
          <p:nvPr/>
        </p:nvSpPr>
        <p:spPr>
          <a:xfrm>
            <a:off x="512064" y="2103120"/>
            <a:ext cx="6676949" cy="786384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2" name="segpctMeta"/>
          <p:cNvSpPr txBox="1"/>
          <p:nvPr/>
        </p:nvSpPr>
        <p:spPr>
          <a:xfrm>
            <a:off x="713232" y="2340864"/>
            <a:ext cx="6247181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600" b="1" spc="0" dirty="0">
                <a:solidFill>
                  <a:srgbClr val="FFFFFF"/>
                </a:solidFill>
                <a:latin typeface="Arial"/>
              </a:rPr>
              <a:t>60%</a:t>
            </a:r>
          </a:p>
        </p:txBody>
      </p:sp>
      <p:sp>
        <p:nvSpPr>
          <p:cNvPr id="303" name="segTikTok"/>
          <p:cNvSpPr/>
          <p:nvPr/>
        </p:nvSpPr>
        <p:spPr>
          <a:xfrm>
            <a:off x="7216445" y="2103120"/>
            <a:ext cx="3324758" cy="786384"/>
          </a:xfrm>
          <a:prstGeom prst="rect">
            <a:avLst/>
          </a:prstGeom>
          <a:solidFill>
            <a:srgbClr val="6ECF9E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4" name="segpctTikTok"/>
          <p:cNvSpPr txBox="1"/>
          <p:nvPr/>
        </p:nvSpPr>
        <p:spPr>
          <a:xfrm>
            <a:off x="7417613" y="2340864"/>
            <a:ext cx="289499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600" b="1" spc="0">
                <a:solidFill>
                  <a:srgbClr val="00615F"/>
                </a:solidFill>
                <a:latin typeface="Arial"/>
              </a:rPr>
              <a:t>30%</a:t>
            </a:r>
          </a:p>
        </p:txBody>
      </p:sp>
      <p:sp>
        <p:nvSpPr>
          <p:cNvPr id="305" name="segPinterest"/>
          <p:cNvSpPr/>
          <p:nvPr/>
        </p:nvSpPr>
        <p:spPr>
          <a:xfrm>
            <a:off x="10568635" y="2103120"/>
            <a:ext cx="1089965" cy="786384"/>
          </a:xfrm>
          <a:prstGeom prst="rect">
            <a:avLst/>
          </a:prstGeom>
          <a:solidFill>
            <a:srgbClr val="EE917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6" name="segpctPinterest"/>
          <p:cNvSpPr txBox="1"/>
          <p:nvPr/>
        </p:nvSpPr>
        <p:spPr>
          <a:xfrm>
            <a:off x="10769803" y="2340864"/>
            <a:ext cx="660197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600" b="1" spc="0">
                <a:solidFill>
                  <a:srgbClr val="00615F"/>
                </a:solidFill>
                <a:latin typeface="Arial"/>
              </a:rPr>
              <a:t>10%</a:t>
            </a:r>
          </a:p>
        </p:txBody>
      </p:sp>
      <p:sp>
        <p:nvSpPr>
          <p:cNvPr id="307" name="crule0"/>
          <p:cNvSpPr/>
          <p:nvPr/>
        </p:nvSpPr>
        <p:spPr>
          <a:xfrm>
            <a:off x="512064" y="3246120"/>
            <a:ext cx="3633186" cy="4572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8" name="cname0"/>
          <p:cNvSpPr txBox="1"/>
          <p:nvPr/>
        </p:nvSpPr>
        <p:spPr>
          <a:xfrm>
            <a:off x="512064" y="3474720"/>
            <a:ext cx="363318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700" b="1" spc="0" dirty="0">
                <a:solidFill>
                  <a:srgbClr val="00615F"/>
                </a:solidFill>
                <a:latin typeface="Arial"/>
              </a:rPr>
              <a:t>Meta</a:t>
            </a:r>
          </a:p>
        </p:txBody>
      </p:sp>
      <p:sp>
        <p:nvSpPr>
          <p:cNvPr id="309" name="crole0"/>
          <p:cNvSpPr txBox="1"/>
          <p:nvPr/>
        </p:nvSpPr>
        <p:spPr>
          <a:xfrm>
            <a:off x="512064" y="4005072"/>
            <a:ext cx="363318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950" b="1" spc="80" dirty="0">
                <a:solidFill>
                  <a:srgbClr val="2E8B62"/>
                </a:solidFill>
                <a:latin typeface="Arial"/>
              </a:rPr>
              <a:t>SCALE ACQUISITION</a:t>
            </a:r>
          </a:p>
        </p:txBody>
      </p:sp>
      <p:sp>
        <p:nvSpPr>
          <p:cNvPr id="310" name="cdesc0"/>
          <p:cNvSpPr txBox="1"/>
          <p:nvPr/>
        </p:nvSpPr>
        <p:spPr>
          <a:xfrm>
            <a:off x="512064" y="4370832"/>
            <a:ext cx="345030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Broad acquisition optimised to the collection event.</a:t>
            </a:r>
          </a:p>
        </p:txBody>
      </p:sp>
      <p:sp>
        <p:nvSpPr>
          <p:cNvPr id="311" name="cdiv0"/>
          <p:cNvSpPr/>
          <p:nvPr/>
        </p:nvSpPr>
        <p:spPr>
          <a:xfrm>
            <a:off x="512064" y="5047488"/>
            <a:ext cx="3450306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2" name="crule20"/>
          <p:cNvSpPr txBox="1"/>
          <p:nvPr/>
        </p:nvSpPr>
        <p:spPr>
          <a:xfrm>
            <a:off x="512064" y="5230368"/>
            <a:ext cx="345030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950" b="1" spc="0" dirty="0">
                <a:solidFill>
                  <a:srgbClr val="00615F"/>
                </a:solidFill>
                <a:latin typeface="Arial"/>
              </a:rPr>
              <a:t>Earns more budget while marginal cost stays under the cap.</a:t>
            </a:r>
          </a:p>
        </p:txBody>
      </p:sp>
      <p:sp>
        <p:nvSpPr>
          <p:cNvPr id="313" name="crule1"/>
          <p:cNvSpPr/>
          <p:nvPr/>
        </p:nvSpPr>
        <p:spPr>
          <a:xfrm>
            <a:off x="4282410" y="3246120"/>
            <a:ext cx="3633186" cy="45720"/>
          </a:xfrm>
          <a:prstGeom prst="rect">
            <a:avLst/>
          </a:prstGeom>
          <a:solidFill>
            <a:srgbClr val="6ECF9E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4" name="cname1"/>
          <p:cNvSpPr txBox="1"/>
          <p:nvPr/>
        </p:nvSpPr>
        <p:spPr>
          <a:xfrm>
            <a:off x="4282410" y="3474720"/>
            <a:ext cx="363318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700" b="1" spc="0" dirty="0">
                <a:solidFill>
                  <a:srgbClr val="00615F"/>
                </a:solidFill>
                <a:latin typeface="Arial"/>
              </a:rPr>
              <a:t>TikTok</a:t>
            </a:r>
          </a:p>
        </p:txBody>
      </p:sp>
      <p:sp>
        <p:nvSpPr>
          <p:cNvPr id="315" name="crole1"/>
          <p:cNvSpPr txBox="1"/>
          <p:nvPr/>
        </p:nvSpPr>
        <p:spPr>
          <a:xfrm>
            <a:off x="4282410" y="4005072"/>
            <a:ext cx="363318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950" b="1" spc="80" dirty="0">
                <a:solidFill>
                  <a:srgbClr val="6ECF9E"/>
                </a:solidFill>
                <a:latin typeface="Arial"/>
              </a:rPr>
              <a:t>CREATE DEMAND</a:t>
            </a:r>
          </a:p>
        </p:txBody>
      </p:sp>
      <p:sp>
        <p:nvSpPr>
          <p:cNvPr id="316" name="cdesc1"/>
          <p:cNvSpPr txBox="1"/>
          <p:nvPr/>
        </p:nvSpPr>
        <p:spPr>
          <a:xfrm>
            <a:off x="4282410" y="4370832"/>
            <a:ext cx="345030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Creator-led reveals; scale only themes that add quality users.</a:t>
            </a:r>
          </a:p>
        </p:txBody>
      </p:sp>
      <p:sp>
        <p:nvSpPr>
          <p:cNvPr id="317" name="cdiv1"/>
          <p:cNvSpPr/>
          <p:nvPr/>
        </p:nvSpPr>
        <p:spPr>
          <a:xfrm>
            <a:off x="4282410" y="5047488"/>
            <a:ext cx="3450306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8" name="crule21"/>
          <p:cNvSpPr txBox="1"/>
          <p:nvPr/>
        </p:nvSpPr>
        <p:spPr>
          <a:xfrm>
            <a:off x="4282410" y="5230368"/>
            <a:ext cx="345030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950" b="1" spc="0" dirty="0">
                <a:solidFill>
                  <a:srgbClr val="00615F"/>
                </a:solidFill>
                <a:latin typeface="Arial"/>
              </a:rPr>
              <a:t>Grows where creative lifts reservations, not just views.</a:t>
            </a:r>
          </a:p>
        </p:txBody>
      </p:sp>
      <p:sp>
        <p:nvSpPr>
          <p:cNvPr id="319" name="crule2"/>
          <p:cNvSpPr/>
          <p:nvPr/>
        </p:nvSpPr>
        <p:spPr>
          <a:xfrm>
            <a:off x="8052755" y="3246120"/>
            <a:ext cx="3633186" cy="45720"/>
          </a:xfrm>
          <a:prstGeom prst="rect">
            <a:avLst/>
          </a:prstGeom>
          <a:solidFill>
            <a:srgbClr val="EE917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0" name="cname2"/>
          <p:cNvSpPr txBox="1"/>
          <p:nvPr/>
        </p:nvSpPr>
        <p:spPr>
          <a:xfrm>
            <a:off x="8052755" y="3474720"/>
            <a:ext cx="363318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700" b="1" spc="0" dirty="0">
                <a:solidFill>
                  <a:srgbClr val="00615F"/>
                </a:solidFill>
                <a:latin typeface="Arial"/>
              </a:rPr>
              <a:t>Pinterest</a:t>
            </a:r>
          </a:p>
        </p:txBody>
      </p:sp>
      <p:sp>
        <p:nvSpPr>
          <p:cNvPr id="321" name="crole2"/>
          <p:cNvSpPr txBox="1"/>
          <p:nvPr/>
        </p:nvSpPr>
        <p:spPr>
          <a:xfrm>
            <a:off x="8052755" y="4005072"/>
            <a:ext cx="363318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950" b="1" spc="80" dirty="0">
                <a:solidFill>
                  <a:srgbClr val="EE9179"/>
                </a:solidFill>
                <a:latin typeface="Arial"/>
              </a:rPr>
              <a:t>TEST INTENT DISCOVERY</a:t>
            </a:r>
          </a:p>
        </p:txBody>
      </p:sp>
      <p:sp>
        <p:nvSpPr>
          <p:cNvPr id="322" name="cdesc2"/>
          <p:cNvSpPr txBox="1"/>
          <p:nvPr/>
        </p:nvSpPr>
        <p:spPr>
          <a:xfrm>
            <a:off x="8052755" y="4370832"/>
            <a:ext cx="3450306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1050" b="0" spc="0">
                <a:solidFill>
                  <a:srgbClr val="5F6F6D"/>
                </a:solidFill>
                <a:latin typeface="Arial"/>
              </a:rPr>
              <a:t>A contained test on high-intent discovery moments.</a:t>
            </a:r>
          </a:p>
        </p:txBody>
      </p:sp>
      <p:sp>
        <p:nvSpPr>
          <p:cNvPr id="323" name="cdiv2"/>
          <p:cNvSpPr/>
          <p:nvPr/>
        </p:nvSpPr>
        <p:spPr>
          <a:xfrm>
            <a:off x="8052755" y="5047488"/>
            <a:ext cx="3450306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4" name="crule22"/>
          <p:cNvSpPr txBox="1"/>
          <p:nvPr/>
        </p:nvSpPr>
        <p:spPr>
          <a:xfrm>
            <a:off x="8052755" y="5230368"/>
            <a:ext cx="3450306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en-GB" sz="950" b="1" spc="0" dirty="0">
                <a:solidFill>
                  <a:srgbClr val="00615F"/>
                </a:solidFill>
                <a:latin typeface="Arial"/>
              </a:rPr>
              <a:t>Keeps its budget only if it adds quality collectors.</a:t>
            </a:r>
          </a:p>
        </p:txBody>
      </p:sp>
      <p:sp>
        <p:nvSpPr>
          <p:cNvPr id="326" name="take5"/>
          <p:cNvSpPr/>
          <p:nvPr/>
        </p:nvSpPr>
        <p:spPr>
          <a:xfrm>
            <a:off x="512064" y="5870448"/>
            <a:ext cx="11173968" cy="493776"/>
          </a:xfrm>
          <a:prstGeom prst="roundRect">
            <a:avLst>
              <a:gd name="adj" fmla="val 20000"/>
            </a:avLst>
          </a:prstGeom>
          <a:solidFill>
            <a:srgbClr val="EFE7D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7" name="take5t"/>
          <p:cNvSpPr txBox="1"/>
          <p:nvPr/>
        </p:nvSpPr>
        <p:spPr>
          <a:xfrm>
            <a:off x="786384" y="5998464"/>
            <a:ext cx="10625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00615F"/>
                </a:solidFill>
                <a:latin typeface="Arial"/>
              </a:rPr>
              <a:t>The mix is a starting point: rebalanced quarterly on lift-adjusted cost per collected bag.</a:t>
            </a:r>
          </a:p>
        </p:txBody>
      </p:sp>
      <p:cxnSp>
        <p:nvCxnSpPr>
          <p:cNvPr id="951" name="Connector 951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2F5C2-E08A-BA6F-1EDA-ADCF0E99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ve ima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502920" cy="391363"/>
          </a:xfrm>
          <a:prstGeom prst="rect">
            <a:avLst/>
          </a:prstGeom>
        </p:spPr>
      </p:pic>
      <p:sp>
        <p:nvSpPr>
          <p:cNvPr id="901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902" name="badge icon"/>
          <p:cNvSpPr/>
          <p:nvPr/>
        </p:nvSpPr>
        <p:spPr>
          <a:xfrm>
            <a:off x="608076" y="288036"/>
            <a:ext cx="210312" cy="210312"/>
          </a:xfrm>
          <a:prstGeom prst="flowChartMultidocumen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11" name="Section label"/>
          <p:cNvSpPr txBox="1"/>
          <p:nvPr/>
        </p:nvSpPr>
        <p:spPr>
          <a:xfrm>
            <a:off x="1060704" y="29260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CREATIVE &amp; OPERATING MODEL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457432" y="292608"/>
            <a:ext cx="320040" cy="19202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050" b="0" spc="0">
                <a:solidFill>
                  <a:srgbClr val="5F6F6D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Four creative themes, one weekly operating rhythm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What we test in market, and how budget moves to the cells that collect more bags.</a:t>
            </a:r>
          </a:p>
        </p:txBody>
      </p:sp>
      <p:sp>
        <p:nvSpPr>
          <p:cNvPr id="15" name="Rule"/>
          <p:cNvSpPr/>
          <p:nvPr/>
        </p:nvSpPr>
        <p:spPr>
          <a:xfrm>
            <a:off x="512064" y="1563624"/>
            <a:ext cx="11173968" cy="12802"/>
          </a:xfrm>
          <a:prstGeom prst="rect">
            <a:avLst/>
          </a:prstGeom>
          <a:solidFill>
            <a:srgbClr val="DDE8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L head"/>
          <p:cNvSpPr txBox="1"/>
          <p:nvPr/>
        </p:nvSpPr>
        <p:spPr>
          <a:xfrm>
            <a:off x="530352" y="1845259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950" b="1" spc="120">
                <a:solidFill>
                  <a:srgbClr val="00615F"/>
                </a:solidFill>
                <a:latin typeface="Arial"/>
                <a:cs typeface="Arial"/>
              </a:rPr>
              <a:t>WHAT WE TEST  ·  FOUR CREATIVE THEMES</a:t>
            </a:r>
          </a:p>
        </p:txBody>
      </p:sp>
      <p:sp>
        <p:nvSpPr>
          <p:cNvPr id="17" name="R head"/>
          <p:cNvSpPr txBox="1"/>
          <p:nvPr/>
        </p:nvSpPr>
        <p:spPr>
          <a:xfrm>
            <a:off x="6446520" y="1845259"/>
            <a:ext cx="521208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950" b="1" spc="120">
                <a:solidFill>
                  <a:srgbClr val="00615F"/>
                </a:solidFill>
                <a:latin typeface="Arial"/>
                <a:cs typeface="Arial"/>
              </a:rPr>
              <a:t>HOW WE RUN IT  ·  WEEKLY OPERATING MODEL</a:t>
            </a:r>
          </a:p>
        </p:txBody>
      </p:sp>
      <p:sp>
        <p:nvSpPr>
          <p:cNvPr id="18" name="Divider"/>
          <p:cNvSpPr/>
          <p:nvPr/>
        </p:nvSpPr>
        <p:spPr>
          <a:xfrm>
            <a:off x="6163056" y="1845259"/>
            <a:ext cx="9144" cy="3162910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 VALUE"/>
          <p:cNvSpPr/>
          <p:nvPr/>
        </p:nvSpPr>
        <p:spPr>
          <a:xfrm>
            <a:off x="530352" y="2170786"/>
            <a:ext cx="2615184" cy="14328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Bar VALUE"/>
          <p:cNvSpPr/>
          <p:nvPr/>
        </p:nvSpPr>
        <p:spPr>
          <a:xfrm>
            <a:off x="530352" y="2170786"/>
            <a:ext cx="2615184" cy="50292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Name VALUE"/>
          <p:cNvSpPr txBox="1"/>
          <p:nvPr/>
        </p:nvSpPr>
        <p:spPr>
          <a:xfrm>
            <a:off x="713232" y="2388413"/>
            <a:ext cx="2249424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950" b="1" spc="100">
                <a:solidFill>
                  <a:srgbClr val="00615F"/>
                </a:solidFill>
                <a:latin typeface="Arial"/>
                <a:cs typeface="Arial"/>
              </a:rPr>
              <a:t>VALUE</a:t>
            </a:r>
          </a:p>
        </p:txBody>
      </p:sp>
      <p:sp>
        <p:nvSpPr>
          <p:cNvPr id="22" name="Quote VALUE"/>
          <p:cNvSpPr txBox="1"/>
          <p:nvPr/>
        </p:nvSpPr>
        <p:spPr>
          <a:xfrm>
            <a:off x="713232" y="2645359"/>
            <a:ext cx="2249424" cy="513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150" b="1" spc="0">
                <a:solidFill>
                  <a:srgbClr val="00615F"/>
                </a:solidFill>
                <a:latin typeface="Arial"/>
                <a:cs typeface="Arial"/>
              </a:rPr>
              <a:t>“I paid €4.99 for this.”</a:t>
            </a:r>
          </a:p>
        </p:txBody>
      </p:sp>
      <p:sp>
        <p:nvSpPr>
          <p:cNvPr id="23" name="Metric VALUE"/>
          <p:cNvSpPr txBox="1"/>
          <p:nvPr/>
        </p:nvSpPr>
        <p:spPr>
          <a:xfrm>
            <a:off x="713232" y="3288182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850" b="0" spc="0" dirty="0">
                <a:solidFill>
                  <a:srgbClr val="5F6F6D"/>
                </a:solidFill>
                <a:latin typeface="Arial"/>
                <a:cs typeface="Arial"/>
              </a:rPr>
              <a:t>Cost per first collection</a:t>
            </a:r>
          </a:p>
        </p:txBody>
      </p:sp>
      <p:sp>
        <p:nvSpPr>
          <p:cNvPr id="24" name="Card SURPRISE"/>
          <p:cNvSpPr/>
          <p:nvPr/>
        </p:nvSpPr>
        <p:spPr>
          <a:xfrm>
            <a:off x="3310128" y="2170786"/>
            <a:ext cx="2615184" cy="14328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Bar SURPRISE"/>
          <p:cNvSpPr/>
          <p:nvPr/>
        </p:nvSpPr>
        <p:spPr>
          <a:xfrm>
            <a:off x="3310128" y="2170786"/>
            <a:ext cx="2615184" cy="50292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Name SURPRISE"/>
          <p:cNvSpPr txBox="1"/>
          <p:nvPr/>
        </p:nvSpPr>
        <p:spPr>
          <a:xfrm>
            <a:off x="3493008" y="2388413"/>
            <a:ext cx="2249424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950" b="1" spc="100">
                <a:solidFill>
                  <a:srgbClr val="2E8B62"/>
                </a:solidFill>
                <a:latin typeface="Arial"/>
                <a:cs typeface="Arial"/>
              </a:rPr>
              <a:t>SURPRISE</a:t>
            </a:r>
          </a:p>
        </p:txBody>
      </p:sp>
      <p:sp>
        <p:nvSpPr>
          <p:cNvPr id="27" name="Quote SURPRISE"/>
          <p:cNvSpPr txBox="1"/>
          <p:nvPr/>
        </p:nvSpPr>
        <p:spPr>
          <a:xfrm>
            <a:off x="3493008" y="2645359"/>
            <a:ext cx="2249424" cy="513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150" b="1" spc="0">
                <a:solidFill>
                  <a:srgbClr val="00615F"/>
                </a:solidFill>
                <a:latin typeface="Arial"/>
                <a:cs typeface="Arial"/>
              </a:rPr>
              <a:t>“I had no idea what would be inside.”</a:t>
            </a:r>
          </a:p>
        </p:txBody>
      </p:sp>
      <p:sp>
        <p:nvSpPr>
          <p:cNvPr id="28" name="Metric SURPRISE"/>
          <p:cNvSpPr txBox="1"/>
          <p:nvPr/>
        </p:nvSpPr>
        <p:spPr>
          <a:xfrm>
            <a:off x="3493008" y="3288182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850" b="0" spc="0" dirty="0">
                <a:solidFill>
                  <a:srgbClr val="5F6F6D"/>
                </a:solidFill>
                <a:latin typeface="Arial"/>
                <a:cs typeface="Arial"/>
              </a:rPr>
              <a:t>Attention to reservation</a:t>
            </a:r>
          </a:p>
        </p:txBody>
      </p:sp>
      <p:sp>
        <p:nvSpPr>
          <p:cNvPr id="29" name="Card DISCOVERY"/>
          <p:cNvSpPr/>
          <p:nvPr/>
        </p:nvSpPr>
        <p:spPr>
          <a:xfrm>
            <a:off x="530352" y="3781958"/>
            <a:ext cx="2615184" cy="14328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Bar DISCOVERY"/>
          <p:cNvSpPr/>
          <p:nvPr/>
        </p:nvSpPr>
        <p:spPr>
          <a:xfrm>
            <a:off x="530352" y="3781958"/>
            <a:ext cx="2615184" cy="50292"/>
          </a:xfrm>
          <a:prstGeom prst="rect">
            <a:avLst/>
          </a:prstGeom>
          <a:solidFill>
            <a:srgbClr val="C08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Name DISCOVERY"/>
          <p:cNvSpPr txBox="1"/>
          <p:nvPr/>
        </p:nvSpPr>
        <p:spPr>
          <a:xfrm>
            <a:off x="713232" y="3999586"/>
            <a:ext cx="2249424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950" b="1" spc="100">
                <a:solidFill>
                  <a:srgbClr val="C08A1E"/>
                </a:solidFill>
                <a:latin typeface="Arial"/>
                <a:cs typeface="Arial"/>
              </a:rPr>
              <a:t>DISCOVERY</a:t>
            </a:r>
          </a:p>
        </p:txBody>
      </p:sp>
      <p:sp>
        <p:nvSpPr>
          <p:cNvPr id="32" name="Quote DISCOVERY"/>
          <p:cNvSpPr txBox="1"/>
          <p:nvPr/>
        </p:nvSpPr>
        <p:spPr>
          <a:xfrm>
            <a:off x="713232" y="4256532"/>
            <a:ext cx="2249424" cy="513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150" b="1" spc="0">
                <a:solidFill>
                  <a:srgbClr val="00615F"/>
                </a:solidFill>
                <a:latin typeface="Arial"/>
                <a:cs typeface="Arial"/>
              </a:rPr>
              <a:t>“Three places near you tonight.”</a:t>
            </a:r>
          </a:p>
        </p:txBody>
      </p:sp>
      <p:sp>
        <p:nvSpPr>
          <p:cNvPr id="33" name="Metric DISCOVERY"/>
          <p:cNvSpPr txBox="1"/>
          <p:nvPr/>
        </p:nvSpPr>
        <p:spPr>
          <a:xfrm>
            <a:off x="713232" y="4899355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850" b="0" spc="0" dirty="0">
                <a:solidFill>
                  <a:srgbClr val="5F6F6D"/>
                </a:solidFill>
                <a:latin typeface="Arial"/>
                <a:cs typeface="Arial"/>
              </a:rPr>
              <a:t>Activation in supply-rich cities</a:t>
            </a:r>
          </a:p>
        </p:txBody>
      </p:sp>
      <p:sp>
        <p:nvSpPr>
          <p:cNvPr id="34" name="Card MISSION"/>
          <p:cNvSpPr/>
          <p:nvPr/>
        </p:nvSpPr>
        <p:spPr>
          <a:xfrm>
            <a:off x="3310128" y="3781958"/>
            <a:ext cx="2615184" cy="14328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Bar MISSION"/>
          <p:cNvSpPr/>
          <p:nvPr/>
        </p:nvSpPr>
        <p:spPr>
          <a:xfrm>
            <a:off x="3310128" y="3781958"/>
            <a:ext cx="2615184" cy="50292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Name MISSION"/>
          <p:cNvSpPr txBox="1"/>
          <p:nvPr/>
        </p:nvSpPr>
        <p:spPr>
          <a:xfrm>
            <a:off x="3493008" y="3999586"/>
            <a:ext cx="2249424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950" b="1" spc="100">
                <a:solidFill>
                  <a:srgbClr val="C0554A"/>
                </a:solidFill>
                <a:latin typeface="Arial"/>
                <a:cs typeface="Arial"/>
              </a:rPr>
              <a:t>MISSION</a:t>
            </a:r>
          </a:p>
        </p:txBody>
      </p:sp>
      <p:sp>
        <p:nvSpPr>
          <p:cNvPr id="37" name="Quote MISSION"/>
          <p:cNvSpPr txBox="1"/>
          <p:nvPr/>
        </p:nvSpPr>
        <p:spPr>
          <a:xfrm>
            <a:off x="3493008" y="4256532"/>
            <a:ext cx="2249424" cy="5138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150" b="1" spc="0">
                <a:solidFill>
                  <a:srgbClr val="00615F"/>
                </a:solidFill>
                <a:latin typeface="Arial"/>
                <a:cs typeface="Arial"/>
              </a:rPr>
              <a:t>“This bakery had food left at closing.”</a:t>
            </a:r>
          </a:p>
        </p:txBody>
      </p:sp>
      <p:sp>
        <p:nvSpPr>
          <p:cNvPr id="38" name="Metric MISSION"/>
          <p:cNvSpPr txBox="1"/>
          <p:nvPr/>
        </p:nvSpPr>
        <p:spPr>
          <a:xfrm>
            <a:off x="3493008" y="4899355"/>
            <a:ext cx="2249424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850" b="0" spc="0" dirty="0">
                <a:solidFill>
                  <a:srgbClr val="5F6F6D"/>
                </a:solidFill>
                <a:latin typeface="Arial"/>
                <a:cs typeface="Arial"/>
              </a:rPr>
              <a:t>90-day repeat collections</a:t>
            </a:r>
          </a:p>
        </p:txBody>
      </p:sp>
      <p:sp>
        <p:nvSpPr>
          <p:cNvPr id="39" name="Step bg 01"/>
          <p:cNvSpPr/>
          <p:nvPr/>
        </p:nvSpPr>
        <p:spPr>
          <a:xfrm>
            <a:off x="6446520" y="2170786"/>
            <a:ext cx="5212080" cy="9290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Step accent 01"/>
          <p:cNvSpPr/>
          <p:nvPr/>
        </p:nvSpPr>
        <p:spPr>
          <a:xfrm>
            <a:off x="6446520" y="2170786"/>
            <a:ext cx="50292" cy="92903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Step num 01"/>
          <p:cNvSpPr txBox="1"/>
          <p:nvPr/>
        </p:nvSpPr>
        <p:spPr>
          <a:xfrm>
            <a:off x="6656832" y="2328977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050" b="1" spc="0" dirty="0">
                <a:solidFill>
                  <a:srgbClr val="C08A1E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42" name="Step title 01"/>
          <p:cNvSpPr txBox="1"/>
          <p:nvPr/>
        </p:nvSpPr>
        <p:spPr>
          <a:xfrm>
            <a:off x="7132320" y="2319833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150" b="1" spc="60">
                <a:solidFill>
                  <a:srgbClr val="00615F"/>
                </a:solidFill>
                <a:latin typeface="Arial"/>
                <a:cs typeface="Arial"/>
              </a:rPr>
              <a:t>STRUCTURE THE CELLS</a:t>
            </a:r>
          </a:p>
        </p:txBody>
      </p:sp>
      <p:sp>
        <p:nvSpPr>
          <p:cNvPr id="43" name="Step desc 01"/>
          <p:cNvSpPr txBox="1"/>
          <p:nvPr/>
        </p:nvSpPr>
        <p:spPr>
          <a:xfrm>
            <a:off x="7132320" y="2616098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GB" sz="850" b="0" spc="0">
                <a:solidFill>
                  <a:srgbClr val="5F6F6D"/>
                </a:solidFill>
                <a:latin typeface="Arial"/>
                <a:cs typeface="Arial"/>
              </a:rPr>
              <a:t>City cluster × supply state × funnel stage; supply-rich and supply-constrained markets stay separate.</a:t>
            </a:r>
          </a:p>
        </p:txBody>
      </p:sp>
      <p:sp>
        <p:nvSpPr>
          <p:cNvPr id="44" name="Step bg 02"/>
          <p:cNvSpPr/>
          <p:nvPr/>
        </p:nvSpPr>
        <p:spPr>
          <a:xfrm>
            <a:off x="6446520" y="3248863"/>
            <a:ext cx="5212080" cy="9290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Step accent 02"/>
          <p:cNvSpPr/>
          <p:nvPr/>
        </p:nvSpPr>
        <p:spPr>
          <a:xfrm>
            <a:off x="6446520" y="3248863"/>
            <a:ext cx="50292" cy="92903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Step num 02"/>
          <p:cNvSpPr txBox="1"/>
          <p:nvPr/>
        </p:nvSpPr>
        <p:spPr>
          <a:xfrm>
            <a:off x="6656832" y="3407054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050" b="1" spc="0" dirty="0">
                <a:solidFill>
                  <a:srgbClr val="C08A1E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47" name="Step title 02"/>
          <p:cNvSpPr txBox="1"/>
          <p:nvPr/>
        </p:nvSpPr>
        <p:spPr>
          <a:xfrm>
            <a:off x="7132320" y="3396996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150" b="1" spc="60">
                <a:solidFill>
                  <a:srgbClr val="00615F"/>
                </a:solidFill>
                <a:latin typeface="Arial"/>
                <a:cs typeface="Arial"/>
              </a:rPr>
              <a:t>OPTIMISE TO QUALITY</a:t>
            </a:r>
          </a:p>
        </p:txBody>
      </p:sp>
      <p:sp>
        <p:nvSpPr>
          <p:cNvPr id="48" name="Step desc 02"/>
          <p:cNvSpPr txBox="1"/>
          <p:nvPr/>
        </p:nvSpPr>
        <p:spPr>
          <a:xfrm>
            <a:off x="7132320" y="3693262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GB" sz="850" b="0" spc="0">
                <a:solidFill>
                  <a:srgbClr val="5F6F6D"/>
                </a:solidFill>
                <a:latin typeface="Arial"/>
                <a:cs typeface="Arial"/>
              </a:rPr>
              <a:t>Bid to the collection event; increase, maintain or reduce by lift-adjusted iCPB against the cap.</a:t>
            </a:r>
          </a:p>
        </p:txBody>
      </p:sp>
      <p:sp>
        <p:nvSpPr>
          <p:cNvPr id="49" name="Step bg 03"/>
          <p:cNvSpPr/>
          <p:nvPr/>
        </p:nvSpPr>
        <p:spPr>
          <a:xfrm>
            <a:off x="6446520" y="4326026"/>
            <a:ext cx="5212080" cy="9290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E7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Step accent 03"/>
          <p:cNvSpPr/>
          <p:nvPr/>
        </p:nvSpPr>
        <p:spPr>
          <a:xfrm>
            <a:off x="6446520" y="4326026"/>
            <a:ext cx="50292" cy="92903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tep num 03"/>
          <p:cNvSpPr txBox="1"/>
          <p:nvPr/>
        </p:nvSpPr>
        <p:spPr>
          <a:xfrm>
            <a:off x="6656832" y="448421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050" b="1" spc="0" dirty="0">
                <a:solidFill>
                  <a:srgbClr val="C08A1E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52" name="Step title 03"/>
          <p:cNvSpPr txBox="1"/>
          <p:nvPr/>
        </p:nvSpPr>
        <p:spPr>
          <a:xfrm>
            <a:off x="7132320" y="4474159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150" b="1" spc="60">
                <a:solidFill>
                  <a:srgbClr val="00615F"/>
                </a:solidFill>
                <a:latin typeface="Arial"/>
                <a:cs typeface="Arial"/>
              </a:rPr>
              <a:t>LEARN, THEN REALLOCATE</a:t>
            </a:r>
          </a:p>
        </p:txBody>
      </p:sp>
      <p:sp>
        <p:nvSpPr>
          <p:cNvPr id="53" name="Step desc 03"/>
          <p:cNvSpPr txBox="1"/>
          <p:nvPr/>
        </p:nvSpPr>
        <p:spPr>
          <a:xfrm>
            <a:off x="7132320" y="4770425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GB" sz="850" b="0" spc="0">
                <a:solidFill>
                  <a:srgbClr val="5F6F6D"/>
                </a:solidFill>
                <a:latin typeface="Arial"/>
                <a:cs typeface="Arial"/>
              </a:rPr>
              <a:t>Weekly creative tests and daily pacing checks; monthly review of incrementality and saturation.</a:t>
            </a:r>
          </a:p>
        </p:txBody>
      </p:sp>
      <p:sp>
        <p:nvSpPr>
          <p:cNvPr id="54" name="Band"/>
          <p:cNvSpPr/>
          <p:nvPr/>
        </p:nvSpPr>
        <p:spPr>
          <a:xfrm>
            <a:off x="530352" y="5422392"/>
            <a:ext cx="11128248" cy="850392"/>
          </a:xfrm>
          <a:prstGeom prst="roundRect">
            <a:avLst>
              <a:gd name="adj" fmla="val 8000"/>
            </a:avLst>
          </a:prstGeom>
          <a:solidFill>
            <a:srgbClr val="EFE7D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Band label"/>
          <p:cNvSpPr txBox="1"/>
          <p:nvPr/>
        </p:nvSpPr>
        <p:spPr>
          <a:xfrm>
            <a:off x="822960" y="565007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850" b="1" spc="100" dirty="0">
                <a:solidFill>
                  <a:srgbClr val="00615F"/>
                </a:solidFill>
                <a:latin typeface="Arial"/>
                <a:cs typeface="Arial"/>
              </a:rPr>
              <a:t>WEEKLY DECISION RULE</a:t>
            </a:r>
          </a:p>
        </p:txBody>
      </p:sp>
      <p:sp>
        <p:nvSpPr>
          <p:cNvPr id="56" name="Band text"/>
          <p:cNvSpPr txBox="1"/>
          <p:nvPr/>
        </p:nvSpPr>
        <p:spPr>
          <a:xfrm>
            <a:off x="2788920" y="5600700"/>
            <a:ext cx="8321040" cy="54315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050" b="1" spc="0">
                <a:solidFill>
                  <a:srgbClr val="00615F"/>
                </a:solidFill>
                <a:latin typeface="Arial"/>
                <a:cs typeface="Arial"/>
              </a:rPr>
              <a:t>The next euro goes to the city × channel × creative cell with the strongest incremental collected bags per euro.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lang="en-GB" sz="850" b="0" spc="0">
                <a:solidFill>
                  <a:srgbClr val="5F6F6D"/>
                </a:solidFill>
                <a:latin typeface="Arial"/>
                <a:cs typeface="Arial"/>
              </a:rPr>
              <a:t>Stop or reduce when supply is constrained, lift is weak, or marginal iCPB crosses the cap.</a:t>
            </a:r>
          </a:p>
        </p:txBody>
      </p:sp>
      <p:sp>
        <p:nvSpPr>
          <p:cNvPr id="57" name="Note"/>
          <p:cNvSpPr txBox="1"/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Themes are hypotheses, not results; thresholds should be calibrated with internal channel, supply and product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4C7F0-4587-721F-B22D-B0FC1857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ve image">
            <a:extLst>
              <a:ext uri="{FF2B5EF4-FFF2-40B4-BE49-F238E27FC236}">
                <a16:creationId xmlns:a16="http://schemas.microsoft.com/office/drawing/2014/main" id="{CD118E08-F328-0A01-46FA-738D7D00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363"/>
          </a:xfrm>
          <a:prstGeom prst="rect">
            <a:avLst/>
          </a:prstGeom>
        </p:spPr>
      </p:pic>
      <p:sp>
        <p:nvSpPr>
          <p:cNvPr id="3" name="Section label">
            <a:extLst>
              <a:ext uri="{FF2B5EF4-FFF2-40B4-BE49-F238E27FC236}">
                <a16:creationId xmlns:a16="http://schemas.microsoft.com/office/drawing/2014/main" id="{B69ED1D1-FC2E-4589-2063-9A6949842236}"/>
              </a:ext>
            </a:extLst>
          </p:cNvPr>
          <p:cNvSpPr txBox="1"/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MEASUREMENT</a:t>
            </a:r>
          </a:p>
        </p:txBody>
      </p:sp>
      <p:sp>
        <p:nvSpPr>
          <p:cNvPr id="5" name="Slide headline">
            <a:extLst>
              <a:ext uri="{FF2B5EF4-FFF2-40B4-BE49-F238E27FC236}">
                <a16:creationId xmlns:a16="http://schemas.microsoft.com/office/drawing/2014/main" id="{B37A045C-AEA5-7A7E-03C5-E5DEF8A89145}"/>
              </a:ext>
            </a:extLst>
          </p:cNvPr>
          <p:cNvSpPr txBox="1"/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Incrementality, not attribution, guides the budget</a:t>
            </a:r>
          </a:p>
        </p:txBody>
      </p:sp>
      <p:sp>
        <p:nvSpPr>
          <p:cNvPr id="6" name="Slide summary">
            <a:extLst>
              <a:ext uri="{FF2B5EF4-FFF2-40B4-BE49-F238E27FC236}">
                <a16:creationId xmlns:a16="http://schemas.microsoft.com/office/drawing/2014/main" id="{C620B6C3-1096-EF9B-1D17-460BA5F05D5F}"/>
              </a:ext>
            </a:extLst>
          </p:cNvPr>
          <p:cNvSpPr txBox="1"/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Only holdouts show what paid media caused; attribution can overstate it by 2.5×.</a:t>
            </a:r>
          </a:p>
        </p:txBody>
      </p:sp>
      <p:graphicFrame>
        <p:nvGraphicFramePr>
          <p:cNvPr id="7" name="Chart — slide 8" descr="Column chart comparing attributed and incremental bags for Meta, TikTok and Pinterest." title="Chart on slide 8">
            <a:extLst>
              <a:ext uri="{FF2B5EF4-FFF2-40B4-BE49-F238E27FC236}">
                <a16:creationId xmlns:a16="http://schemas.microsoft.com/office/drawing/2014/main" id="{82E7AFA1-C148-99E5-64E2-CE73EB2F9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933121"/>
              </p:ext>
            </p:extLst>
          </p:nvPr>
        </p:nvGraphicFramePr>
        <p:xfrm>
          <a:off x="512064" y="1882750"/>
          <a:ext cx="7360920" cy="4306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ource footer">
            <a:extLst>
              <a:ext uri="{FF2B5EF4-FFF2-40B4-BE49-F238E27FC236}">
                <a16:creationId xmlns:a16="http://schemas.microsoft.com/office/drawing/2014/main" id="{9A2EFE86-BDAD-BA52-DBB7-E8F9467431A4}"/>
              </a:ext>
            </a:extLst>
          </p:cNvPr>
          <p:cNvSpPr txBox="1"/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Lift = incremental ÷ attributed bags; €6 iCPB needs 50% lift and €8 needs 67% at the €12 cap.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C6A37576-06EB-B2BB-9893-4D9B55FCBA03}"/>
              </a:ext>
            </a:extLst>
          </p:cNvPr>
          <p:cNvSpPr txBox="1"/>
          <p:nvPr/>
        </p:nvSpPr>
        <p:spPr>
          <a:xfrm>
            <a:off x="11457432" y="288448"/>
            <a:ext cx="32004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07</a:t>
            </a:r>
            <a:endParaRPr kumimoji="0" lang="en-GB" altLang="en-US" sz="900" b="1" i="0" u="none" strike="noStrike" kern="1200" cap="none" spc="0" normalizeH="0" baseline="0" noProof="0">
              <a:ln>
                <a:noFill/>
              </a:ln>
              <a:solidFill>
                <a:srgbClr val="006B6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20" name="badge icon"/>
          <p:cNvSpPr/>
          <p:nvPr/>
        </p:nvSpPr>
        <p:spPr>
          <a:xfrm>
            <a:off x="608076" y="288036"/>
            <a:ext cx="210312" cy="210312"/>
          </a:xfrm>
          <a:prstGeom prst="mathEqual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0" name="rail"/>
          <p:cNvSpPr/>
          <p:nvPr/>
        </p:nvSpPr>
        <p:spPr>
          <a:xfrm>
            <a:off x="8183880" y="1810512"/>
            <a:ext cx="3502152" cy="4462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1" name="raillbl"/>
          <p:cNvSpPr txBox="1"/>
          <p:nvPr/>
        </p:nvSpPr>
        <p:spPr>
          <a:xfrm>
            <a:off x="8458200" y="2059229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950" b="1" spc="80">
                <a:solidFill>
                  <a:srgbClr val="00615F"/>
                </a:solidFill>
                <a:latin typeface="Arial"/>
              </a:rPr>
              <a:t>LIFT FACTOR</a:t>
            </a:r>
          </a:p>
        </p:txBody>
      </p:sp>
      <p:sp>
        <p:nvSpPr>
          <p:cNvPr id="302" name="railsub"/>
          <p:cNvSpPr txBox="1"/>
          <p:nvPr/>
        </p:nvSpPr>
        <p:spPr>
          <a:xfrm>
            <a:off x="8458200" y="237103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850" b="0" spc="0" dirty="0">
                <a:solidFill>
                  <a:srgbClr val="5F6F6D"/>
                </a:solidFill>
                <a:latin typeface="Arial"/>
              </a:rPr>
              <a:t>Incremental ÷ attributed bags</a:t>
            </a:r>
          </a:p>
        </p:txBody>
      </p:sp>
      <p:sp>
        <p:nvSpPr>
          <p:cNvPr id="303" name="mnMeta"/>
          <p:cNvSpPr txBox="1"/>
          <p:nvPr/>
        </p:nvSpPr>
        <p:spPr>
          <a:xfrm>
            <a:off x="8458200" y="2869387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0" dirty="0">
                <a:solidFill>
                  <a:srgbClr val="00615F"/>
                </a:solidFill>
                <a:latin typeface="Arial"/>
              </a:rPr>
              <a:t>Meta</a:t>
            </a:r>
          </a:p>
        </p:txBody>
      </p:sp>
      <p:sp>
        <p:nvSpPr>
          <p:cNvPr id="304" name="mvMeta"/>
          <p:cNvSpPr txBox="1"/>
          <p:nvPr/>
        </p:nvSpPr>
        <p:spPr>
          <a:xfrm>
            <a:off x="10104120" y="2827325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GB" sz="1400" b="1" spc="0" dirty="0">
                <a:solidFill>
                  <a:srgbClr val="00615F"/>
                </a:solidFill>
                <a:latin typeface="Arial"/>
              </a:rPr>
              <a:t>60%</a:t>
            </a:r>
          </a:p>
        </p:txBody>
      </p:sp>
      <p:sp>
        <p:nvSpPr>
          <p:cNvPr id="305" name="trackMeta"/>
          <p:cNvSpPr/>
          <p:nvPr/>
        </p:nvSpPr>
        <p:spPr>
          <a:xfrm>
            <a:off x="8458200" y="3263494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DE6D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6" name="fillMeta"/>
          <p:cNvSpPr/>
          <p:nvPr/>
        </p:nvSpPr>
        <p:spPr>
          <a:xfrm>
            <a:off x="8458200" y="3263494"/>
            <a:ext cx="1783080" cy="146304"/>
          </a:xfrm>
          <a:prstGeom prst="roundRect">
            <a:avLst>
              <a:gd name="adj" fmla="val 50000"/>
            </a:avLst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7" name="mnTikTok"/>
          <p:cNvSpPr txBox="1"/>
          <p:nvPr/>
        </p:nvSpPr>
        <p:spPr>
          <a:xfrm>
            <a:off x="8458200" y="376184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0" dirty="0">
                <a:solidFill>
                  <a:srgbClr val="00615F"/>
                </a:solidFill>
                <a:latin typeface="Arial"/>
              </a:rPr>
              <a:t>TikTok</a:t>
            </a:r>
          </a:p>
        </p:txBody>
      </p:sp>
      <p:sp>
        <p:nvSpPr>
          <p:cNvPr id="308" name="mvTikTok"/>
          <p:cNvSpPr txBox="1"/>
          <p:nvPr/>
        </p:nvSpPr>
        <p:spPr>
          <a:xfrm>
            <a:off x="10104120" y="3719779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GB" sz="1400" b="1" spc="0" dirty="0">
                <a:solidFill>
                  <a:srgbClr val="6ECF9E"/>
                </a:solidFill>
                <a:latin typeface="Arial"/>
              </a:rPr>
              <a:t>85%</a:t>
            </a:r>
          </a:p>
        </p:txBody>
      </p:sp>
      <p:sp>
        <p:nvSpPr>
          <p:cNvPr id="309" name="trackTikTok"/>
          <p:cNvSpPr/>
          <p:nvPr/>
        </p:nvSpPr>
        <p:spPr>
          <a:xfrm>
            <a:off x="8458200" y="4155948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DE6D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0" name="fillTikTok"/>
          <p:cNvSpPr/>
          <p:nvPr/>
        </p:nvSpPr>
        <p:spPr>
          <a:xfrm>
            <a:off x="8458200" y="4155948"/>
            <a:ext cx="2526030" cy="146304"/>
          </a:xfrm>
          <a:prstGeom prst="roundRect">
            <a:avLst>
              <a:gd name="adj" fmla="val 50000"/>
            </a:avLst>
          </a:prstGeom>
          <a:solidFill>
            <a:srgbClr val="6ECF9E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1" name="mnPinterest"/>
          <p:cNvSpPr txBox="1"/>
          <p:nvPr/>
        </p:nvSpPr>
        <p:spPr>
          <a:xfrm>
            <a:off x="8458200" y="465429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0" dirty="0">
                <a:solidFill>
                  <a:srgbClr val="00615F"/>
                </a:solidFill>
                <a:latin typeface="Arial"/>
              </a:rPr>
              <a:t>Pinterest</a:t>
            </a:r>
          </a:p>
        </p:txBody>
      </p:sp>
      <p:sp>
        <p:nvSpPr>
          <p:cNvPr id="312" name="mvPinterest"/>
          <p:cNvSpPr txBox="1"/>
          <p:nvPr/>
        </p:nvSpPr>
        <p:spPr>
          <a:xfrm>
            <a:off x="10104120" y="461223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buNone/>
            </a:pPr>
            <a:r>
              <a:rPr lang="en-GB" sz="1400" b="1" spc="0" dirty="0">
                <a:solidFill>
                  <a:srgbClr val="EE9179"/>
                </a:solidFill>
                <a:latin typeface="Arial"/>
              </a:rPr>
              <a:t>40%</a:t>
            </a:r>
          </a:p>
        </p:txBody>
      </p:sp>
      <p:sp>
        <p:nvSpPr>
          <p:cNvPr id="313" name="trackPinterest"/>
          <p:cNvSpPr/>
          <p:nvPr/>
        </p:nvSpPr>
        <p:spPr>
          <a:xfrm>
            <a:off x="8458200" y="5048402"/>
            <a:ext cx="2971800" cy="146304"/>
          </a:xfrm>
          <a:prstGeom prst="roundRect">
            <a:avLst>
              <a:gd name="adj" fmla="val 50000"/>
            </a:avLst>
          </a:prstGeom>
          <a:solidFill>
            <a:srgbClr val="EDE6D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4" name="fillPinterest"/>
          <p:cNvSpPr/>
          <p:nvPr/>
        </p:nvSpPr>
        <p:spPr>
          <a:xfrm>
            <a:off x="8458200" y="5048402"/>
            <a:ext cx="1188720" cy="146304"/>
          </a:xfrm>
          <a:prstGeom prst="roundRect">
            <a:avLst>
              <a:gd name="adj" fmla="val 50000"/>
            </a:avLst>
          </a:prstGeom>
          <a:solidFill>
            <a:srgbClr val="EE9179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6" name="note7"/>
          <p:cNvSpPr/>
          <p:nvPr/>
        </p:nvSpPr>
        <p:spPr>
          <a:xfrm>
            <a:off x="8458200" y="5566867"/>
            <a:ext cx="2971800" cy="570586"/>
          </a:xfrm>
          <a:prstGeom prst="roundRect">
            <a:avLst>
              <a:gd name="adj" fmla="val 18000"/>
            </a:avLst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7" name="note7t"/>
          <p:cNvSpPr txBox="1"/>
          <p:nvPr/>
        </p:nvSpPr>
        <p:spPr>
          <a:xfrm>
            <a:off x="8641080" y="5691226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buNone/>
            </a:pPr>
            <a:r>
              <a:rPr lang="en-GB" sz="950" b="1" spc="0">
                <a:solidFill>
                  <a:srgbClr val="00615F"/>
                </a:solidFill>
                <a:latin typeface="Arial"/>
              </a:rPr>
              <a:t>Allocate on lift-adjusted iCPB, not platform-reported cost per bag.</a:t>
            </a:r>
          </a:p>
        </p:txBody>
      </p:sp>
      <p:cxnSp>
        <p:nvCxnSpPr>
          <p:cNvPr id="952" name="Connector 952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" y="2926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TEAM &amp; OPERATING MODEL</a:t>
            </a:r>
          </a:p>
        </p:txBody>
      </p:sp>
      <p:sp>
        <p:nvSpPr>
          <p:cNvPr id="3" name="Text 1"/>
          <p:cNvSpPr/>
          <p:nvPr/>
        </p:nvSpPr>
        <p:spPr>
          <a:xfrm>
            <a:off x="11457432" y="292295"/>
            <a:ext cx="320040" cy="190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Four charters, one weekly decision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Each owner holds a channel or capability; the reallocation decision stays in one room, once a week.</a:t>
            </a:r>
          </a:p>
        </p:txBody>
      </p:sp>
      <p:sp>
        <p:nvSpPr>
          <p:cNvPr id="6" name="Shape 4"/>
          <p:cNvSpPr/>
          <p:nvPr/>
        </p:nvSpPr>
        <p:spPr>
          <a:xfrm>
            <a:off x="795528" y="1673352"/>
            <a:ext cx="258775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41832" y="1801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EE917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" y="200253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META OWNER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1832" y="238658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Scale acquisition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41832" y="2615184"/>
            <a:ext cx="2295144" cy="0"/>
          </a:xfrm>
          <a:prstGeom prst="line">
            <a:avLst/>
          </a:prstGeom>
          <a:noFill/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1832" y="269748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Campaign structure and bidding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Audience and exclusion logic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Holdout design with 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1832" y="3721608"/>
            <a:ext cx="2295144" cy="292608"/>
          </a:xfrm>
          <a:prstGeom prst="roundRect">
            <a:avLst>
              <a:gd name="adj" fmla="val 12500"/>
            </a:avLst>
          </a:prstGeom>
          <a:solidFill>
            <a:srgbClr val="DDE9E6"/>
          </a:solidFill>
          <a:ln w="12700">
            <a:solidFill>
              <a:srgbClr val="DDE9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1832" y="37216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Lift-adjusted iCPB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02152" y="1673352"/>
            <a:ext cx="258775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48456" y="1801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EE917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48456" y="200253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TIKTOK &amp; CREATIVE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48456" y="238658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Create demand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48456" y="2615184"/>
            <a:ext cx="2295144" cy="0"/>
          </a:xfrm>
          <a:prstGeom prst="line">
            <a:avLst/>
          </a:prstGeom>
          <a:noFill/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48456" y="269748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Creator and UGC pipeline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Theme testing across four jobs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Localised variants per market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48456" y="3721608"/>
            <a:ext cx="2295144" cy="292608"/>
          </a:xfrm>
          <a:prstGeom prst="roundRect">
            <a:avLst>
              <a:gd name="adj" fmla="val 12500"/>
            </a:avLst>
          </a:prstGeom>
          <a:solidFill>
            <a:srgbClr val="DDE9E6"/>
          </a:solidFill>
          <a:ln w="12700">
            <a:solidFill>
              <a:srgbClr val="DDE9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48456" y="37216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Attention to reservation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8776" y="1673352"/>
            <a:ext cx="258775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55080" y="1801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EE917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55080" y="200253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MEASUREMENT &amp; OPS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55080" y="238658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Prove and industrialise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55080" y="2615184"/>
            <a:ext cx="2295144" cy="0"/>
          </a:xfrm>
          <a:prstGeom prst="line">
            <a:avLst/>
          </a:prstGeom>
          <a:noFill/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55080" y="269748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Geo-Lift and split-test setup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Meta/TikTok API reporting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Anomaly alerts and QA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55080" y="3721608"/>
            <a:ext cx="2295144" cy="292608"/>
          </a:xfrm>
          <a:prstGeom prst="roundRect">
            <a:avLst>
              <a:gd name="adj" fmla="val 12500"/>
            </a:avLst>
          </a:prstGeom>
          <a:solidFill>
            <a:srgbClr val="DDE9E6"/>
          </a:solidFill>
          <a:ln w="12700">
            <a:solidFill>
              <a:srgbClr val="DDE9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55080" y="37216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Measured lift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915400" y="1673352"/>
            <a:ext cx="258775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061704" y="1801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EE917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61704" y="2002536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MARKET PARTNER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061704" y="238658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Match demand to supply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061704" y="2615184"/>
            <a:ext cx="2295144" cy="0"/>
          </a:xfrm>
          <a:prstGeom prst="line">
            <a:avLst/>
          </a:prstGeom>
          <a:noFill/>
          <a:ln w="9525">
            <a:solidFill>
              <a:srgbClr val="DED5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61704" y="269748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City opportunity scoring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Local supply and event signals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Global standards vs local calls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061704" y="3721608"/>
            <a:ext cx="2295144" cy="292608"/>
          </a:xfrm>
          <a:prstGeom prst="roundRect">
            <a:avLst>
              <a:gd name="adj" fmla="val 12500"/>
            </a:avLst>
          </a:prstGeom>
          <a:solidFill>
            <a:srgbClr val="DDE9E6"/>
          </a:solidFill>
          <a:ln w="12700">
            <a:solidFill>
              <a:srgbClr val="DDE9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061704" y="372160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Bags rescued per city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95528" y="4416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OPERATING RHYTHM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95528" y="4672584"/>
            <a:ext cx="2587752" cy="27432"/>
          </a:xfrm>
          <a:prstGeom prst="rect">
            <a:avLst/>
          </a:prstGeom>
          <a:solidFill>
            <a:srgbClr val="6ECF9E"/>
          </a:solidFill>
          <a:ln w="12700">
            <a:solidFill>
              <a:srgbClr val="6ECF9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95528" y="4745736"/>
            <a:ext cx="2587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5528" y="494690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Marginal iCPB by city — reallocate the next €5k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502152" y="4672584"/>
            <a:ext cx="2587752" cy="27432"/>
          </a:xfrm>
          <a:prstGeom prst="rect">
            <a:avLst/>
          </a:prstGeom>
          <a:solidFill>
            <a:srgbClr val="6ECF9E"/>
          </a:solidFill>
          <a:ln w="12700">
            <a:solidFill>
              <a:srgbClr val="6ECF9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502152" y="4745736"/>
            <a:ext cx="2587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BI-WEEKLY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502152" y="494690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Experiment readout — scale, iterate or stop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08776" y="4672584"/>
            <a:ext cx="2587752" cy="27432"/>
          </a:xfrm>
          <a:prstGeom prst="rect">
            <a:avLst/>
          </a:prstGeom>
          <a:solidFill>
            <a:srgbClr val="6ECF9E"/>
          </a:solidFill>
          <a:ln w="12700">
            <a:solidFill>
              <a:srgbClr val="6ECF9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08776" y="4745736"/>
            <a:ext cx="2587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08776" y="494690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Channel mix, creative saturation, capability gaps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915400" y="4672584"/>
            <a:ext cx="2587752" cy="27432"/>
          </a:xfrm>
          <a:prstGeom prst="rect">
            <a:avLst/>
          </a:prstGeom>
          <a:solidFill>
            <a:srgbClr val="6ECF9E"/>
          </a:solidFill>
          <a:ln w="12700">
            <a:solidFill>
              <a:srgbClr val="6ECF9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915400" y="4745736"/>
            <a:ext cx="2587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915400" y="494690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Rebalance the 60/30/10 on measured lift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95528" y="5486400"/>
            <a:ext cx="10607040" cy="713232"/>
          </a:xfrm>
          <a:prstGeom prst="roundRect">
            <a:avLst>
              <a:gd name="adj" fmla="val 7692"/>
            </a:avLst>
          </a:prstGeom>
          <a:solidFill>
            <a:srgbClr val="DDE9E6"/>
          </a:solidFill>
          <a:ln w="12700">
            <a:solidFill>
              <a:srgbClr val="DDE9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60120" y="5605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I OWN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0120" y="57698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00615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Strategy and budget envelope · talent development and hiring · the cost cap per collected bag · cross-functional alignment with Data, Brand and local markets. Charters make the calls inside their remit; I own the trade-offs between them.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Charter split assumes a four-person team; two-person start merges 03 into 01.</a:t>
            </a:r>
          </a:p>
        </p:txBody>
      </p:sp>
      <p:sp>
        <p:nvSpPr>
          <p:cNvPr id="55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56" name="badge icon"/>
          <p:cNvSpPr/>
          <p:nvPr/>
        </p:nvSpPr>
        <p:spPr>
          <a:xfrm>
            <a:off x="608076" y="288036"/>
            <a:ext cx="210312" cy="210312"/>
          </a:xfrm>
          <a:prstGeom prst="diamond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cxnSp>
        <p:nvCxnSpPr>
          <p:cNvPr id="953" name="Connector 953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ection label"/>
          <p:cNvSpPr txBox="1">
            <a:spLocks/>
          </p:cNvSpPr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050" b="1" i="0" spc="150" dirty="0">
                <a:solidFill>
                  <a:srgbClr val="00615F"/>
                </a:solidFill>
                <a:latin typeface="Arial"/>
                <a:cs typeface="Arial"/>
              </a:rPr>
              <a:t>90-DAY ROADMAP</a:t>
            </a:r>
          </a:p>
        </p:txBody>
      </p:sp>
      <p:sp>
        <p:nvSpPr>
          <p:cNvPr id="2" name="Slide title"/>
          <p:cNvSpPr txBox="1">
            <a:spLocks/>
          </p:cNvSpPr>
          <p:nvPr/>
        </p:nvSpPr>
        <p:spPr>
          <a:xfrm>
            <a:off x="521208" y="713232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3400" b="1" i="0" dirty="0">
                <a:solidFill>
                  <a:srgbClr val="00615F"/>
                </a:solidFill>
                <a:latin typeface="Arial"/>
                <a:cs typeface="Arial"/>
              </a:rPr>
              <a:t>In 90 days, budget follows rescue economics</a:t>
            </a:r>
          </a:p>
        </p:txBody>
      </p:sp>
      <p:sp>
        <p:nvSpPr>
          <p:cNvPr id="3" name="Slide subtitle"/>
          <p:cNvSpPr txBox="1">
            <a:spLocks/>
          </p:cNvSpPr>
          <p:nvPr/>
        </p:nvSpPr>
        <p:spPr>
          <a:xfrm>
            <a:off x="521208" y="1243584"/>
            <a:ext cx="105613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1500" b="0" i="0">
                <a:solidFill>
                  <a:srgbClr val="5F6F6D"/>
                </a:solidFill>
                <a:latin typeface="Arial"/>
                <a:cs typeface="Arial"/>
              </a:rPr>
              <a:t>Align measurement, prove two levers, then standardise spend.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56032"/>
            <a:ext cx="502920" cy="391924"/>
          </a:xfrm>
          <a:prstGeom prst="rect">
            <a:avLst/>
          </a:prstGeom>
        </p:spPr>
      </p:pic>
      <p:sp>
        <p:nvSpPr>
          <p:cNvPr id="5" name="Slide number"/>
          <p:cNvSpPr txBox="1"/>
          <p:nvPr/>
        </p:nvSpPr>
        <p:spPr>
          <a:xfrm>
            <a:off x="11457432" y="292295"/>
            <a:ext cx="3200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5F6F6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09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615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1563624"/>
            <a:ext cx="11173968" cy="0"/>
          </a:xfrm>
          <a:prstGeom prst="line">
            <a:avLst/>
          </a:prstGeom>
          <a:ln w="13970">
            <a:solidFill>
              <a:srgbClr val="DDE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badge bg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245" name="badge icon"/>
          <p:cNvSpPr/>
          <p:nvPr/>
        </p:nvSpPr>
        <p:spPr>
          <a:xfrm>
            <a:off x="608076" y="288036"/>
            <a:ext cx="210312" cy="210312"/>
          </a:xfrm>
          <a:prstGeom prst="chevron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0" name="spine"/>
          <p:cNvSpPr/>
          <p:nvPr/>
        </p:nvSpPr>
        <p:spPr>
          <a:xfrm>
            <a:off x="2328657" y="2104949"/>
            <a:ext cx="7540691" cy="27432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1" name="mk0"/>
          <p:cNvSpPr/>
          <p:nvPr/>
        </p:nvSpPr>
        <p:spPr>
          <a:xfrm>
            <a:off x="2145777" y="1920240"/>
            <a:ext cx="365760" cy="365760"/>
          </a:xfrm>
          <a:prstGeom prst="ellipse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2" name="mn0"/>
          <p:cNvSpPr txBox="1"/>
          <p:nvPr/>
        </p:nvSpPr>
        <p:spPr>
          <a:xfrm>
            <a:off x="2145777" y="201991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03" name="card0"/>
          <p:cNvSpPr/>
          <p:nvPr/>
        </p:nvSpPr>
        <p:spPr>
          <a:xfrm>
            <a:off x="512064" y="2560320"/>
            <a:ext cx="363318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4" name="crule0"/>
          <p:cNvSpPr/>
          <p:nvPr/>
        </p:nvSpPr>
        <p:spPr>
          <a:xfrm>
            <a:off x="512064" y="2563063"/>
            <a:ext cx="3633186" cy="82296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5" name="cd0"/>
          <p:cNvSpPr txBox="1"/>
          <p:nvPr/>
        </p:nvSpPr>
        <p:spPr>
          <a:xfrm>
            <a:off x="786384" y="2788920"/>
            <a:ext cx="30845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90">
                <a:solidFill>
                  <a:srgbClr val="00615F"/>
                </a:solidFill>
                <a:latin typeface="Arial"/>
              </a:rPr>
              <a:t>0–30 DAYS</a:t>
            </a:r>
          </a:p>
        </p:txBody>
      </p:sp>
      <p:sp>
        <p:nvSpPr>
          <p:cNvPr id="306" name="ct0"/>
          <p:cNvSpPr txBox="1"/>
          <p:nvPr/>
        </p:nvSpPr>
        <p:spPr>
          <a:xfrm>
            <a:off x="786384" y="3090672"/>
            <a:ext cx="308454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400" b="1" spc="0" dirty="0">
                <a:solidFill>
                  <a:srgbClr val="00615F"/>
                </a:solidFill>
                <a:latin typeface="Arial"/>
              </a:rPr>
              <a:t>ALIGN MEASUREMENT</a:t>
            </a:r>
          </a:p>
        </p:txBody>
      </p:sp>
      <p:sp>
        <p:nvSpPr>
          <p:cNvPr id="307" name="cdiv0"/>
          <p:cNvSpPr/>
          <p:nvPr/>
        </p:nvSpPr>
        <p:spPr>
          <a:xfrm>
            <a:off x="786384" y="3493008"/>
            <a:ext cx="3084546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8" name="bd00"/>
          <p:cNvSpPr/>
          <p:nvPr/>
        </p:nvSpPr>
        <p:spPr>
          <a:xfrm>
            <a:off x="786384" y="3739896"/>
            <a:ext cx="128016" cy="4572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09" name="bt00"/>
          <p:cNvSpPr txBox="1"/>
          <p:nvPr/>
        </p:nvSpPr>
        <p:spPr>
          <a:xfrm>
            <a:off x="1042416" y="3657600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Use one baseline for collected bags</a:t>
            </a:r>
          </a:p>
        </p:txBody>
      </p:sp>
      <p:sp>
        <p:nvSpPr>
          <p:cNvPr id="310" name="bd01"/>
          <p:cNvSpPr/>
          <p:nvPr/>
        </p:nvSpPr>
        <p:spPr>
          <a:xfrm>
            <a:off x="786384" y="4123944"/>
            <a:ext cx="128016" cy="4572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1" name="bt01"/>
          <p:cNvSpPr txBox="1"/>
          <p:nvPr/>
        </p:nvSpPr>
        <p:spPr>
          <a:xfrm>
            <a:off x="1042416" y="4041648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Assign one primary metric and owner</a:t>
            </a:r>
          </a:p>
        </p:txBody>
      </p:sp>
      <p:sp>
        <p:nvSpPr>
          <p:cNvPr id="312" name="bd02"/>
          <p:cNvSpPr/>
          <p:nvPr/>
        </p:nvSpPr>
        <p:spPr>
          <a:xfrm>
            <a:off x="786384" y="4507992"/>
            <a:ext cx="128016" cy="4572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3" name="bt02"/>
          <p:cNvSpPr txBox="1"/>
          <p:nvPr/>
        </p:nvSpPr>
        <p:spPr>
          <a:xfrm>
            <a:off x="1042416" y="4425696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Rank every city by rescue opportunity</a:t>
            </a:r>
          </a:p>
        </p:txBody>
      </p:sp>
      <p:sp>
        <p:nvSpPr>
          <p:cNvPr id="314" name="mk1"/>
          <p:cNvSpPr/>
          <p:nvPr/>
        </p:nvSpPr>
        <p:spPr>
          <a:xfrm>
            <a:off x="5916122" y="1920240"/>
            <a:ext cx="365760" cy="365760"/>
          </a:xfrm>
          <a:prstGeom prst="ellipse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5" name="mn1"/>
          <p:cNvSpPr txBox="1"/>
          <p:nvPr/>
        </p:nvSpPr>
        <p:spPr>
          <a:xfrm>
            <a:off x="5916122" y="201991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16" name="card1"/>
          <p:cNvSpPr/>
          <p:nvPr/>
        </p:nvSpPr>
        <p:spPr>
          <a:xfrm>
            <a:off x="4282410" y="2560320"/>
            <a:ext cx="363318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7" name="crule1"/>
          <p:cNvSpPr/>
          <p:nvPr/>
        </p:nvSpPr>
        <p:spPr>
          <a:xfrm>
            <a:off x="4282410" y="2563063"/>
            <a:ext cx="3633186" cy="82296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18" name="cd1"/>
          <p:cNvSpPr txBox="1"/>
          <p:nvPr/>
        </p:nvSpPr>
        <p:spPr>
          <a:xfrm>
            <a:off x="4556730" y="2788920"/>
            <a:ext cx="30845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90">
                <a:solidFill>
                  <a:srgbClr val="2E8B62"/>
                </a:solidFill>
                <a:latin typeface="Arial"/>
              </a:rPr>
              <a:t>31–60 DAYS</a:t>
            </a:r>
          </a:p>
        </p:txBody>
      </p:sp>
      <p:sp>
        <p:nvSpPr>
          <p:cNvPr id="319" name="ct1"/>
          <p:cNvSpPr txBox="1"/>
          <p:nvPr/>
        </p:nvSpPr>
        <p:spPr>
          <a:xfrm>
            <a:off x="4556730" y="3090672"/>
            <a:ext cx="308454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400" b="1" spc="0" dirty="0">
                <a:solidFill>
                  <a:srgbClr val="00615F"/>
                </a:solidFill>
                <a:latin typeface="Arial"/>
              </a:rPr>
              <a:t>VALIDATE TWO LEVERS</a:t>
            </a:r>
          </a:p>
        </p:txBody>
      </p:sp>
      <p:sp>
        <p:nvSpPr>
          <p:cNvPr id="320" name="cdiv1"/>
          <p:cNvSpPr/>
          <p:nvPr/>
        </p:nvSpPr>
        <p:spPr>
          <a:xfrm>
            <a:off x="4556730" y="3493008"/>
            <a:ext cx="3084546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1" name="bd10"/>
          <p:cNvSpPr/>
          <p:nvPr/>
        </p:nvSpPr>
        <p:spPr>
          <a:xfrm>
            <a:off x="4556730" y="3739896"/>
            <a:ext cx="128016" cy="45720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2" name="bt10"/>
          <p:cNvSpPr txBox="1"/>
          <p:nvPr/>
        </p:nvSpPr>
        <p:spPr>
          <a:xfrm>
            <a:off x="4812762" y="3657600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Link spend to collections, not installs</a:t>
            </a:r>
          </a:p>
        </p:txBody>
      </p:sp>
      <p:sp>
        <p:nvSpPr>
          <p:cNvPr id="323" name="bd11"/>
          <p:cNvSpPr/>
          <p:nvPr/>
        </p:nvSpPr>
        <p:spPr>
          <a:xfrm>
            <a:off x="4556730" y="4123944"/>
            <a:ext cx="128016" cy="45720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4" name="bt11"/>
          <p:cNvSpPr txBox="1"/>
          <p:nvPr/>
        </p:nvSpPr>
        <p:spPr>
          <a:xfrm>
            <a:off x="4812762" y="4041648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Move budget toward the largest supply gaps</a:t>
            </a:r>
          </a:p>
        </p:txBody>
      </p:sp>
      <p:sp>
        <p:nvSpPr>
          <p:cNvPr id="325" name="bd12"/>
          <p:cNvSpPr/>
          <p:nvPr/>
        </p:nvSpPr>
        <p:spPr>
          <a:xfrm>
            <a:off x="4556730" y="4507992"/>
            <a:ext cx="128016" cy="45720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6" name="bt12"/>
          <p:cNvSpPr txBox="1"/>
          <p:nvPr/>
        </p:nvSpPr>
        <p:spPr>
          <a:xfrm>
            <a:off x="4812762" y="4425696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Set a cost limit per collected bag and market</a:t>
            </a:r>
          </a:p>
        </p:txBody>
      </p:sp>
      <p:sp>
        <p:nvSpPr>
          <p:cNvPr id="327" name="mk2"/>
          <p:cNvSpPr/>
          <p:nvPr/>
        </p:nvSpPr>
        <p:spPr>
          <a:xfrm>
            <a:off x="9686468" y="1920240"/>
            <a:ext cx="365760" cy="365760"/>
          </a:xfrm>
          <a:prstGeom prst="ellipse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8" name="mn2"/>
          <p:cNvSpPr txBox="1"/>
          <p:nvPr/>
        </p:nvSpPr>
        <p:spPr>
          <a:xfrm>
            <a:off x="9686468" y="201991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buNone/>
            </a:pPr>
            <a:r>
              <a:rPr lang="en-GB" sz="1050" b="1" spc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29" name="card2"/>
          <p:cNvSpPr/>
          <p:nvPr/>
        </p:nvSpPr>
        <p:spPr>
          <a:xfrm>
            <a:off x="8052755" y="2560320"/>
            <a:ext cx="363318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0" name="crule2"/>
          <p:cNvSpPr/>
          <p:nvPr/>
        </p:nvSpPr>
        <p:spPr>
          <a:xfrm>
            <a:off x="8052755" y="2563063"/>
            <a:ext cx="3633186" cy="82296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1" name="cd2"/>
          <p:cNvSpPr txBox="1"/>
          <p:nvPr/>
        </p:nvSpPr>
        <p:spPr>
          <a:xfrm>
            <a:off x="8327075" y="2788920"/>
            <a:ext cx="30845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90">
                <a:solidFill>
                  <a:srgbClr val="C0554A"/>
                </a:solidFill>
                <a:latin typeface="Arial"/>
              </a:rPr>
              <a:t>61–90 DAYS</a:t>
            </a:r>
          </a:p>
        </p:txBody>
      </p:sp>
      <p:sp>
        <p:nvSpPr>
          <p:cNvPr id="332" name="ct2"/>
          <p:cNvSpPr txBox="1"/>
          <p:nvPr/>
        </p:nvSpPr>
        <p:spPr>
          <a:xfrm>
            <a:off x="8327075" y="3090672"/>
            <a:ext cx="3084546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400" b="1" spc="0" dirty="0">
                <a:solidFill>
                  <a:srgbClr val="00615F"/>
                </a:solidFill>
                <a:latin typeface="Arial"/>
              </a:rPr>
              <a:t>STANDARDISE SPEND</a:t>
            </a:r>
          </a:p>
        </p:txBody>
      </p:sp>
      <p:sp>
        <p:nvSpPr>
          <p:cNvPr id="333" name="cdiv2"/>
          <p:cNvSpPr/>
          <p:nvPr/>
        </p:nvSpPr>
        <p:spPr>
          <a:xfrm>
            <a:off x="8327075" y="3493008"/>
            <a:ext cx="3084546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4" name="bd20"/>
          <p:cNvSpPr/>
          <p:nvPr/>
        </p:nvSpPr>
        <p:spPr>
          <a:xfrm>
            <a:off x="8327075" y="3739896"/>
            <a:ext cx="128016" cy="45720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5" name="bt20"/>
          <p:cNvSpPr txBox="1"/>
          <p:nvPr/>
        </p:nvSpPr>
        <p:spPr>
          <a:xfrm>
            <a:off x="8583107" y="3657600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Use measured lift in reporting</a:t>
            </a:r>
          </a:p>
        </p:txBody>
      </p:sp>
      <p:sp>
        <p:nvSpPr>
          <p:cNvPr id="336" name="bd21"/>
          <p:cNvSpPr/>
          <p:nvPr/>
        </p:nvSpPr>
        <p:spPr>
          <a:xfrm>
            <a:off x="8327075" y="4123944"/>
            <a:ext cx="128016" cy="45720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7" name="bt21"/>
          <p:cNvSpPr txBox="1"/>
          <p:nvPr/>
        </p:nvSpPr>
        <p:spPr>
          <a:xfrm>
            <a:off x="8583107" y="4041648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Give every city an opportunity score</a:t>
            </a:r>
          </a:p>
        </p:txBody>
      </p:sp>
      <p:sp>
        <p:nvSpPr>
          <p:cNvPr id="338" name="bd22"/>
          <p:cNvSpPr/>
          <p:nvPr/>
        </p:nvSpPr>
        <p:spPr>
          <a:xfrm>
            <a:off x="8327075" y="4507992"/>
            <a:ext cx="128016" cy="45720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39" name="bt22"/>
          <p:cNvSpPr txBox="1"/>
          <p:nvPr/>
        </p:nvSpPr>
        <p:spPr>
          <a:xfrm>
            <a:off x="8583107" y="4425696"/>
            <a:ext cx="279193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0" spc="0" dirty="0">
                <a:solidFill>
                  <a:srgbClr val="5F6F6D"/>
                </a:solidFill>
                <a:latin typeface="Arial"/>
              </a:rPr>
              <a:t>Make weekly reallocation routine</a:t>
            </a:r>
          </a:p>
        </p:txBody>
      </p:sp>
      <p:sp>
        <p:nvSpPr>
          <p:cNvPr id="340" name="band"/>
          <p:cNvSpPr/>
          <p:nvPr/>
        </p:nvSpPr>
        <p:spPr>
          <a:xfrm>
            <a:off x="512064" y="5255971"/>
            <a:ext cx="11173968" cy="1016813"/>
          </a:xfrm>
          <a:prstGeom prst="roundRect">
            <a:avLst>
              <a:gd name="adj" fmla="val 12000"/>
            </a:avLst>
          </a:prstGeom>
          <a:solidFill>
            <a:srgbClr val="EFE7DD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41" name="bandlbl"/>
          <p:cNvSpPr txBox="1"/>
          <p:nvPr/>
        </p:nvSpPr>
        <p:spPr>
          <a:xfrm>
            <a:off x="804672" y="5465369"/>
            <a:ext cx="2011680" cy="59801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050" b="1" spc="70">
                <a:solidFill>
                  <a:srgbClr val="00615F"/>
                </a:solidFill>
                <a:latin typeface="Arial"/>
              </a:rPr>
              <a:t>12-MONTH</a:t>
            </a:r>
          </a:p>
          <a:p>
            <a:pPr algn="l">
              <a:lnSpc>
                <a:spcPct val="100000"/>
              </a:lnSpc>
              <a:buNone/>
            </a:pPr>
            <a:r>
              <a:rPr lang="en-GB" sz="1050" b="1" spc="70">
                <a:solidFill>
                  <a:srgbClr val="00615F"/>
                </a:solidFill>
                <a:latin typeface="Arial"/>
              </a:rPr>
              <a:t>OPERATING MODEL</a:t>
            </a:r>
          </a:p>
        </p:txBody>
      </p:sp>
      <p:sp>
        <p:nvSpPr>
          <p:cNvPr id="342" name="bdiv0"/>
          <p:cNvSpPr/>
          <p:nvPr/>
        </p:nvSpPr>
        <p:spPr>
          <a:xfrm>
            <a:off x="2624328" y="5435194"/>
            <a:ext cx="10973" cy="658368"/>
          </a:xfrm>
          <a:prstGeom prst="rect">
            <a:avLst/>
          </a:prstGeom>
          <a:solidFill>
            <a:srgbClr val="D5CABB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43" name="bn0"/>
          <p:cNvSpPr txBox="1"/>
          <p:nvPr/>
        </p:nvSpPr>
        <p:spPr>
          <a:xfrm>
            <a:off x="2880360" y="545531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2E8B62"/>
                </a:solidFill>
                <a:latin typeface="Arial"/>
              </a:rPr>
              <a:t>01</a:t>
            </a:r>
          </a:p>
        </p:txBody>
      </p:sp>
      <p:sp>
        <p:nvSpPr>
          <p:cNvPr id="344" name="bti0"/>
          <p:cNvSpPr txBox="1"/>
          <p:nvPr/>
        </p:nvSpPr>
        <p:spPr>
          <a:xfrm>
            <a:off x="2880360" y="5774436"/>
            <a:ext cx="1965960" cy="4983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1" spc="0">
                <a:solidFill>
                  <a:srgbClr val="00615F"/>
                </a:solidFill>
                <a:latin typeface="Arial"/>
              </a:rPr>
              <a:t>Marginal economics guides spend</a:t>
            </a:r>
          </a:p>
        </p:txBody>
      </p:sp>
      <p:sp>
        <p:nvSpPr>
          <p:cNvPr id="345" name="bdiv1"/>
          <p:cNvSpPr/>
          <p:nvPr/>
        </p:nvSpPr>
        <p:spPr>
          <a:xfrm>
            <a:off x="4855464" y="5435194"/>
            <a:ext cx="10973" cy="658368"/>
          </a:xfrm>
          <a:prstGeom prst="rect">
            <a:avLst/>
          </a:prstGeom>
          <a:solidFill>
            <a:srgbClr val="D5CABB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46" name="bn1"/>
          <p:cNvSpPr txBox="1"/>
          <p:nvPr/>
        </p:nvSpPr>
        <p:spPr>
          <a:xfrm>
            <a:off x="5111496" y="545531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2E8B62"/>
                </a:solidFill>
                <a:latin typeface="Arial"/>
              </a:rPr>
              <a:t>02</a:t>
            </a:r>
          </a:p>
        </p:txBody>
      </p:sp>
      <p:sp>
        <p:nvSpPr>
          <p:cNvPr id="347" name="bti1"/>
          <p:cNvSpPr txBox="1"/>
          <p:nvPr/>
        </p:nvSpPr>
        <p:spPr>
          <a:xfrm>
            <a:off x="5111496" y="5774436"/>
            <a:ext cx="1965960" cy="4983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1" spc="0">
                <a:solidFill>
                  <a:srgbClr val="00615F"/>
                </a:solidFill>
                <a:latin typeface="Arial"/>
              </a:rPr>
              <a:t>Measured lift calibrates reporting</a:t>
            </a:r>
          </a:p>
        </p:txBody>
      </p:sp>
      <p:sp>
        <p:nvSpPr>
          <p:cNvPr id="348" name="bdiv2"/>
          <p:cNvSpPr/>
          <p:nvPr/>
        </p:nvSpPr>
        <p:spPr>
          <a:xfrm>
            <a:off x="7086600" y="5435194"/>
            <a:ext cx="10973" cy="658368"/>
          </a:xfrm>
          <a:prstGeom prst="rect">
            <a:avLst/>
          </a:prstGeom>
          <a:solidFill>
            <a:srgbClr val="D5CABB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49" name="bn2"/>
          <p:cNvSpPr txBox="1"/>
          <p:nvPr/>
        </p:nvSpPr>
        <p:spPr>
          <a:xfrm>
            <a:off x="7342632" y="545531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2E8B62"/>
                </a:solidFill>
                <a:latin typeface="Arial"/>
              </a:rPr>
              <a:t>03</a:t>
            </a:r>
          </a:p>
        </p:txBody>
      </p:sp>
      <p:sp>
        <p:nvSpPr>
          <p:cNvPr id="350" name="bti2"/>
          <p:cNvSpPr txBox="1"/>
          <p:nvPr/>
        </p:nvSpPr>
        <p:spPr>
          <a:xfrm>
            <a:off x="7342632" y="5774436"/>
            <a:ext cx="1965960" cy="4983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1" spc="0">
                <a:solidFill>
                  <a:srgbClr val="00615F"/>
                </a:solidFill>
                <a:latin typeface="Arial"/>
              </a:rPr>
              <a:t>Creative learning adapts by market</a:t>
            </a:r>
          </a:p>
        </p:txBody>
      </p:sp>
      <p:sp>
        <p:nvSpPr>
          <p:cNvPr id="351" name="bdiv3"/>
          <p:cNvSpPr/>
          <p:nvPr/>
        </p:nvSpPr>
        <p:spPr>
          <a:xfrm>
            <a:off x="9317736" y="5435194"/>
            <a:ext cx="10973" cy="658368"/>
          </a:xfrm>
          <a:prstGeom prst="rect">
            <a:avLst/>
          </a:prstGeom>
          <a:solidFill>
            <a:srgbClr val="D5CABB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52" name="bn3"/>
          <p:cNvSpPr txBox="1"/>
          <p:nvPr/>
        </p:nvSpPr>
        <p:spPr>
          <a:xfrm>
            <a:off x="9573768" y="545531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GB" sz="1150" b="1" spc="0" dirty="0">
                <a:solidFill>
                  <a:srgbClr val="2E8B62"/>
                </a:solidFill>
                <a:latin typeface="Arial"/>
              </a:rPr>
              <a:t>04</a:t>
            </a:r>
          </a:p>
        </p:txBody>
      </p:sp>
      <p:sp>
        <p:nvSpPr>
          <p:cNvPr id="353" name="bti3"/>
          <p:cNvSpPr txBox="1"/>
          <p:nvPr/>
        </p:nvSpPr>
        <p:spPr>
          <a:xfrm>
            <a:off x="9573768" y="5774436"/>
            <a:ext cx="1965960" cy="4983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</a:pPr>
            <a:r>
              <a:rPr lang="en-GB" sz="950" b="1" spc="0">
                <a:solidFill>
                  <a:srgbClr val="00615F"/>
                </a:solidFill>
                <a:latin typeface="Arial"/>
              </a:rPr>
              <a:t>Human review governs automation</a:t>
            </a:r>
          </a:p>
        </p:txBody>
      </p:sp>
      <p:sp>
        <p:nvSpPr>
          <p:cNvPr id="354" name="src8"/>
          <p:cNvSpPr txBox="1"/>
          <p:nvPr/>
        </p:nvSpPr>
        <p:spPr>
          <a:xfrm>
            <a:off x="521208" y="6510528"/>
            <a:ext cx="10561320" cy="1737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GB" sz="950" b="0" i="0">
                <a:solidFill>
                  <a:srgbClr val="5F6F6D"/>
                </a:solidFill>
                <a:latin typeface="Arial"/>
                <a:cs typeface="Arial"/>
              </a:rPr>
              <a:t>Note: Timings assume measurement baseline agreed in month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31"/>
          <p:cNvSpPr/>
          <p:nvPr/>
        </p:nvSpPr>
        <p:spPr>
          <a:xfrm>
            <a:off x="502920" y="182880"/>
            <a:ext cx="420624" cy="420624"/>
          </a:xfrm>
          <a:prstGeom prst="ellipse">
            <a:avLst/>
          </a:prstGeom>
          <a:solidFill>
            <a:srgbClr val="DDE9E6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2" name="s33"/>
          <p:cNvSpPr/>
          <p:nvPr/>
        </p:nvSpPr>
        <p:spPr>
          <a:xfrm>
            <a:off x="608076" y="288036"/>
            <a:ext cx="210312" cy="210312"/>
          </a:xfrm>
          <a:prstGeom prst="mathEqual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34" name="t35"/>
          <p:cNvSpPr txBox="1"/>
          <p:nvPr/>
        </p:nvSpPr>
        <p:spPr>
          <a:xfrm>
            <a:off x="1060704" y="292608"/>
            <a:ext cx="420624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50" b="1" dirty="0">
                <a:solidFill>
                  <a:srgbClr val="00615F"/>
                </a:solidFill>
                <a:latin typeface="Arial"/>
              </a:rPr>
              <a:t>ABOUT THE AUTHOR/CANDIDATE</a:t>
            </a:r>
          </a:p>
        </p:txBody>
      </p:sp>
      <p:sp>
        <p:nvSpPr>
          <p:cNvPr id="36" name="t37"/>
          <p:cNvSpPr txBox="1"/>
          <p:nvPr/>
        </p:nvSpPr>
        <p:spPr>
          <a:xfrm>
            <a:off x="5200000" y="292608"/>
            <a:ext cx="530000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50" b="1">
                <a:solidFill>
                  <a:srgbClr val="5F6F6D"/>
                </a:solidFill>
                <a:latin typeface="Arial"/>
              </a:rPr>
              <a:t>SHIVAM SINGH  |  AUG 2026</a:t>
            </a:r>
          </a:p>
        </p:txBody>
      </p:sp>
      <p:pic>
        <p:nvPicPr>
          <p:cNvPr id="5" name="Image 0" descr="/mnt/data/tgtg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329992"/>
            <a:ext cx="502920" cy="391576"/>
          </a:xfrm>
          <a:prstGeom prst="rect">
            <a:avLst/>
          </a:prstGeom>
        </p:spPr>
      </p:pic>
      <p:sp>
        <p:nvSpPr>
          <p:cNvPr id="38" name="t39"/>
          <p:cNvSpPr txBox="1"/>
          <p:nvPr/>
        </p:nvSpPr>
        <p:spPr>
          <a:xfrm>
            <a:off x="11457432" y="292295"/>
            <a:ext cx="32004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lnSpcReduction="10000"/>
          </a:bodyPr>
          <a:lstStyle/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en-GB" sz="1050" b="0">
                <a:solidFill>
                  <a:srgbClr val="5F6F6D"/>
                </a:solidFill>
                <a:latin typeface="Arial"/>
              </a:rPr>
              <a:t>10</a:t>
            </a:r>
          </a:p>
        </p:txBody>
      </p:sp>
      <p:sp>
        <p:nvSpPr>
          <p:cNvPr id="40" name="t41"/>
          <p:cNvSpPr txBox="1"/>
          <p:nvPr/>
        </p:nvSpPr>
        <p:spPr>
          <a:xfrm>
            <a:off x="502920" y="660000"/>
            <a:ext cx="10300000" cy="5200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endParaRPr lang="en-US" sz="2200" b="1" dirty="0">
              <a:solidFill>
                <a:srgbClr val="183836"/>
              </a:solidFill>
              <a:latin typeface="Arial"/>
            </a:endParaRP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>
                <a:solidFill>
                  <a:srgbClr val="00615F"/>
                </a:solidFill>
                <a:latin typeface="Arial"/>
              </a:rPr>
              <a:t>Connecting channel spend to incrementality, retention and unit economics</a:t>
            </a:r>
            <a:endParaRPr lang="en-GB" sz="2200" b="1" dirty="0">
              <a:solidFill>
                <a:srgbClr val="183836"/>
              </a:solidFill>
              <a:latin typeface="Arial"/>
            </a:endParaRPr>
          </a:p>
        </p:txBody>
      </p:sp>
      <p:sp>
        <p:nvSpPr>
          <p:cNvPr id="42" name="t43"/>
          <p:cNvSpPr txBox="1">
            <a:spLocks/>
          </p:cNvSpPr>
          <p:nvPr/>
        </p:nvSpPr>
        <p:spPr>
          <a:xfrm>
            <a:off x="502920" y="1195000"/>
            <a:ext cx="10800000" cy="25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150">
                <a:solidFill>
                  <a:srgbClr val="5F6F6D"/>
                </a:solidFill>
                <a:latin typeface="Arial"/>
              </a:rPr>
              <a:t>A</a:t>
            </a:r>
            <a:r>
              <a:rPr lang="en-US" sz="1150" b="0">
                <a:solidFill>
                  <a:srgbClr val="5F6F6D"/>
                </a:solidFill>
                <a:latin typeface="Arial"/>
              </a:rPr>
              <a:t>nalytical growth leader who </a:t>
            </a:r>
            <a:r>
              <a:rPr lang="en-US" sz="1150">
                <a:solidFill>
                  <a:srgbClr val="5F6F6D"/>
                </a:solidFill>
                <a:latin typeface="Arial"/>
              </a:rPr>
              <a:t>s</a:t>
            </a:r>
            <a:r>
              <a:rPr lang="en-US" sz="1150" b="0">
                <a:solidFill>
                  <a:srgbClr val="5F6F6D"/>
                </a:solidFill>
                <a:latin typeface="Arial"/>
              </a:rPr>
              <a:t>cales that through strong teams, experimentation and automation.</a:t>
            </a:r>
            <a:endParaRPr lang="en-GB" sz="1200" b="0" dirty="0">
              <a:solidFill>
                <a:srgbClr val="65827D"/>
              </a:solidFill>
              <a:latin typeface="Arial"/>
            </a:endParaRPr>
          </a:p>
        </p:txBody>
      </p:sp>
      <p:sp>
        <p:nvSpPr>
          <p:cNvPr id="44" name="s45"/>
          <p:cNvSpPr/>
          <p:nvPr/>
        </p:nvSpPr>
        <p:spPr>
          <a:xfrm>
            <a:off x="512064" y="1563624"/>
            <a:ext cx="11173968" cy="10973"/>
          </a:xfrm>
          <a:prstGeom prst="rect">
            <a:avLst/>
          </a:prstGeom>
          <a:solidFill>
            <a:srgbClr val="DDE8E2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en-GB"/>
          </a:p>
        </p:txBody>
      </p:sp>
      <p:sp>
        <p:nvSpPr>
          <p:cNvPr id="400" name="card01"/>
          <p:cNvSpPr/>
          <p:nvPr/>
        </p:nvSpPr>
        <p:spPr>
          <a:xfrm>
            <a:off x="502920" y="1591056"/>
            <a:ext cx="355793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5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1" name="bar01"/>
          <p:cNvSpPr/>
          <p:nvPr/>
        </p:nvSpPr>
        <p:spPr>
          <a:xfrm>
            <a:off x="502920" y="1591056"/>
            <a:ext cx="3557930" cy="4572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2" name="num01"/>
          <p:cNvSpPr txBox="1">
            <a:spLocks/>
          </p:cNvSpPr>
          <p:nvPr/>
        </p:nvSpPr>
        <p:spPr>
          <a:xfrm>
            <a:off x="649224" y="1764792"/>
            <a:ext cx="91440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20">
                <a:solidFill>
                  <a:srgbClr val="00615F"/>
                </a:solidFill>
                <a:latin typeface="Arial"/>
              </a:rPr>
              <a:t>01</a:t>
            </a:r>
          </a:p>
        </p:txBody>
      </p:sp>
      <p:sp>
        <p:nvSpPr>
          <p:cNvPr id="403" name="title01"/>
          <p:cNvSpPr txBox="1">
            <a:spLocks/>
          </p:cNvSpPr>
          <p:nvPr/>
        </p:nvSpPr>
        <p:spPr>
          <a:xfrm>
            <a:off x="649224" y="1975104"/>
            <a:ext cx="326532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50" b="1" spc="20">
                <a:solidFill>
                  <a:srgbClr val="00615F"/>
                </a:solidFill>
                <a:latin typeface="Arial"/>
              </a:rPr>
              <a:t>WHY TOO GOOD TO GO</a:t>
            </a:r>
          </a:p>
        </p:txBody>
      </p:sp>
      <p:sp>
        <p:nvSpPr>
          <p:cNvPr id="404" name="rule01"/>
          <p:cNvSpPr/>
          <p:nvPr/>
        </p:nvSpPr>
        <p:spPr>
          <a:xfrm>
            <a:off x="649224" y="2286000"/>
            <a:ext cx="3265322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5" name="body01"/>
          <p:cNvSpPr txBox="1">
            <a:spLocks/>
          </p:cNvSpPr>
          <p:nvPr/>
        </p:nvSpPr>
        <p:spPr>
          <a:xfrm>
            <a:off x="649224" y="2414016"/>
            <a:ext cx="3265322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7160" indent="-137160">
              <a:lnSpc>
                <a:spcPct val="108000"/>
              </a:lnSpc>
              <a:spcBef>
                <a:spcPts val="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Tangible mission: better acquisition means more food saved and less waste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Demand must follow uneven local supply, not cheap installs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Scope I want: channel ownership, experimentation, people leadership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Active user for a year; EU work rights, no sponsorship delay</a:t>
            </a:r>
          </a:p>
        </p:txBody>
      </p:sp>
      <p:sp>
        <p:nvSpPr>
          <p:cNvPr id="406" name="card02"/>
          <p:cNvSpPr/>
          <p:nvPr/>
        </p:nvSpPr>
        <p:spPr>
          <a:xfrm>
            <a:off x="4316882" y="1591056"/>
            <a:ext cx="355793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5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7" name="bar02"/>
          <p:cNvSpPr/>
          <p:nvPr/>
        </p:nvSpPr>
        <p:spPr>
          <a:xfrm>
            <a:off x="4316882" y="1591056"/>
            <a:ext cx="3557930" cy="45720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8" name="num02"/>
          <p:cNvSpPr txBox="1">
            <a:spLocks/>
          </p:cNvSpPr>
          <p:nvPr/>
        </p:nvSpPr>
        <p:spPr>
          <a:xfrm>
            <a:off x="4463186" y="1764792"/>
            <a:ext cx="91440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20">
                <a:solidFill>
                  <a:srgbClr val="2E8B62"/>
                </a:solidFill>
                <a:latin typeface="Arial"/>
              </a:rPr>
              <a:t>02</a:t>
            </a:r>
          </a:p>
        </p:txBody>
      </p:sp>
      <p:sp>
        <p:nvSpPr>
          <p:cNvPr id="409" name="title02"/>
          <p:cNvSpPr txBox="1">
            <a:spLocks/>
          </p:cNvSpPr>
          <p:nvPr/>
        </p:nvSpPr>
        <p:spPr>
          <a:xfrm>
            <a:off x="4463186" y="1975104"/>
            <a:ext cx="326532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50" b="1" spc="20">
                <a:solidFill>
                  <a:srgbClr val="00615F"/>
                </a:solidFill>
                <a:latin typeface="Arial"/>
              </a:rPr>
              <a:t>PAID SOCIAL EXPERIENCE</a:t>
            </a:r>
          </a:p>
        </p:txBody>
      </p:sp>
      <p:sp>
        <p:nvSpPr>
          <p:cNvPr id="410" name="rule02"/>
          <p:cNvSpPr/>
          <p:nvPr/>
        </p:nvSpPr>
        <p:spPr>
          <a:xfrm>
            <a:off x="4463186" y="2286000"/>
            <a:ext cx="3265322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1" name="body02"/>
          <p:cNvSpPr txBox="1">
            <a:spLocks/>
          </p:cNvSpPr>
          <p:nvPr/>
        </p:nvSpPr>
        <p:spPr>
          <a:xfrm>
            <a:off x="4463186" y="2414016"/>
            <a:ext cx="3265322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7160" indent="-137160">
              <a:lnSpc>
                <a:spcPct val="108000"/>
              </a:lnSpc>
              <a:spcBef>
                <a:spcPts val="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Meta, Instagram, TikTok, YouTube, Google and LinkedIn across social, search and app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Hands-on targeting, campaign structure, testing and analysis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Full cycle: objective, measurement, launch, budget reallocation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Pinterest is the one platform I have not run directly</a:t>
            </a:r>
          </a:p>
        </p:txBody>
      </p:sp>
      <p:sp>
        <p:nvSpPr>
          <p:cNvPr id="412" name="card03"/>
          <p:cNvSpPr/>
          <p:nvPr/>
        </p:nvSpPr>
        <p:spPr>
          <a:xfrm>
            <a:off x="8130845" y="1591056"/>
            <a:ext cx="355793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5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3" name="bar03"/>
          <p:cNvSpPr/>
          <p:nvPr/>
        </p:nvSpPr>
        <p:spPr>
          <a:xfrm>
            <a:off x="8130845" y="1591056"/>
            <a:ext cx="3557930" cy="45720"/>
          </a:xfrm>
          <a:prstGeom prst="rect">
            <a:avLst/>
          </a:prstGeom>
          <a:solidFill>
            <a:srgbClr val="C055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4" name="num03"/>
          <p:cNvSpPr txBox="1">
            <a:spLocks/>
          </p:cNvSpPr>
          <p:nvPr/>
        </p:nvSpPr>
        <p:spPr>
          <a:xfrm>
            <a:off x="8277149" y="1764792"/>
            <a:ext cx="91440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20">
                <a:solidFill>
                  <a:srgbClr val="C0554A"/>
                </a:solidFill>
                <a:latin typeface="Arial"/>
              </a:rPr>
              <a:t>03</a:t>
            </a:r>
          </a:p>
        </p:txBody>
      </p:sp>
      <p:sp>
        <p:nvSpPr>
          <p:cNvPr id="415" name="title03"/>
          <p:cNvSpPr txBox="1">
            <a:spLocks/>
          </p:cNvSpPr>
          <p:nvPr/>
        </p:nvSpPr>
        <p:spPr>
          <a:xfrm>
            <a:off x="8277149" y="1975104"/>
            <a:ext cx="326532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50" b="1" spc="20">
                <a:solidFill>
                  <a:srgbClr val="00615F"/>
                </a:solidFill>
                <a:latin typeface="Arial"/>
              </a:rPr>
              <a:t>INCREMENTALITY EXPERIENCE</a:t>
            </a:r>
          </a:p>
        </p:txBody>
      </p:sp>
      <p:sp>
        <p:nvSpPr>
          <p:cNvPr id="416" name="rule03"/>
          <p:cNvSpPr/>
          <p:nvPr/>
        </p:nvSpPr>
        <p:spPr>
          <a:xfrm>
            <a:off x="8277149" y="2286000"/>
            <a:ext cx="3265322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body03"/>
          <p:cNvSpPr txBox="1">
            <a:spLocks/>
          </p:cNvSpPr>
          <p:nvPr/>
        </p:nvSpPr>
        <p:spPr>
          <a:xfrm>
            <a:off x="8277149" y="2414016"/>
            <a:ext cx="3265322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7160" indent="-137160">
              <a:lnSpc>
                <a:spcPct val="108000"/>
              </a:lnSpc>
              <a:spcBef>
                <a:spcPts val="0"/>
              </a:spcBef>
              <a:buClr>
                <a:srgbClr val="C0554A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Attribution assigns credit; incrementality proves causation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C0554A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User-level holdouts when randomisation is possible, Geo-Lift when it is not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C0554A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MMM for longer-horizon cross-channel allocation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C0554A"/>
              </a:buClr>
              <a:buSzPct val="100000"/>
              <a:buFont typeface="Arial"/>
              <a:buChar char="–"/>
            </a:pPr>
            <a:r>
              <a:rPr lang="en-US" sz="850">
                <a:solidFill>
                  <a:srgbClr val="5F6F6D"/>
                </a:solidFill>
                <a:latin typeface="Arial"/>
              </a:rPr>
              <a:t>E</a:t>
            </a:r>
            <a:r>
              <a:rPr lang="en-US" sz="850" b="0">
                <a:solidFill>
                  <a:srgbClr val="5F6F6D"/>
                </a:solidFill>
                <a:latin typeface="Arial"/>
              </a:rPr>
              <a:t>xample: Geo-Lift plus cohort economics to find real incremental growth</a:t>
            </a:r>
          </a:p>
        </p:txBody>
      </p:sp>
      <p:sp>
        <p:nvSpPr>
          <p:cNvPr id="418" name="card04"/>
          <p:cNvSpPr/>
          <p:nvPr/>
        </p:nvSpPr>
        <p:spPr>
          <a:xfrm>
            <a:off x="4330205" y="3950208"/>
            <a:ext cx="355793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5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9" name="bar04"/>
          <p:cNvSpPr/>
          <p:nvPr/>
        </p:nvSpPr>
        <p:spPr>
          <a:xfrm>
            <a:off x="4330205" y="3950208"/>
            <a:ext cx="3557930" cy="4572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0" name="num04"/>
          <p:cNvSpPr txBox="1">
            <a:spLocks/>
          </p:cNvSpPr>
          <p:nvPr/>
        </p:nvSpPr>
        <p:spPr>
          <a:xfrm>
            <a:off x="4476509" y="4123944"/>
            <a:ext cx="91440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20">
                <a:solidFill>
                  <a:srgbClr val="00615F"/>
                </a:solidFill>
                <a:latin typeface="Arial"/>
              </a:rPr>
              <a:t>04</a:t>
            </a:r>
          </a:p>
        </p:txBody>
      </p:sp>
      <p:sp>
        <p:nvSpPr>
          <p:cNvPr id="421" name="title04"/>
          <p:cNvSpPr txBox="1">
            <a:spLocks/>
          </p:cNvSpPr>
          <p:nvPr/>
        </p:nvSpPr>
        <p:spPr>
          <a:xfrm>
            <a:off x="4476509" y="4334256"/>
            <a:ext cx="326532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50" b="1" spc="20">
                <a:solidFill>
                  <a:srgbClr val="00615F"/>
                </a:solidFill>
                <a:latin typeface="Arial"/>
              </a:rPr>
              <a:t>LEADERSHIP EXPERIENCE</a:t>
            </a:r>
          </a:p>
        </p:txBody>
      </p:sp>
      <p:sp>
        <p:nvSpPr>
          <p:cNvPr id="422" name="rule04"/>
          <p:cNvSpPr/>
          <p:nvPr/>
        </p:nvSpPr>
        <p:spPr>
          <a:xfrm>
            <a:off x="4476509" y="4645152"/>
            <a:ext cx="3265322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3" name="body04"/>
          <p:cNvSpPr txBox="1">
            <a:spLocks/>
          </p:cNvSpPr>
          <p:nvPr/>
        </p:nvSpPr>
        <p:spPr>
          <a:xfrm>
            <a:off x="4476509" y="4773168"/>
            <a:ext cx="3265322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7160" indent="-137160">
              <a:lnSpc>
                <a:spcPct val="108000"/>
              </a:lnSpc>
              <a:spcBef>
                <a:spcPts val="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Led cross-functional teams and programs throughout my career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Clear outcomes and decision rights first, then flex how hands-on I am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>
                <a:solidFill>
                  <a:srgbClr val="5F6F6D"/>
                </a:solidFill>
                <a:latin typeface="Arial"/>
              </a:rPr>
              <a:t>E</a:t>
            </a:r>
            <a:r>
              <a:rPr lang="en-US" sz="850" b="0">
                <a:solidFill>
                  <a:srgbClr val="5F6F6D"/>
                </a:solidFill>
                <a:latin typeface="Arial"/>
              </a:rPr>
              <a:t>xample: 15-plus-person global team, hiring and promotion calibration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00615F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Player-coach: clear standards, frequent feedback, real ownership</a:t>
            </a:r>
          </a:p>
        </p:txBody>
      </p:sp>
      <p:sp>
        <p:nvSpPr>
          <p:cNvPr id="424" name="card05"/>
          <p:cNvSpPr/>
          <p:nvPr/>
        </p:nvSpPr>
        <p:spPr>
          <a:xfrm>
            <a:off x="8144167" y="3950208"/>
            <a:ext cx="3557930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ED5C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5" name="bar05"/>
          <p:cNvSpPr/>
          <p:nvPr/>
        </p:nvSpPr>
        <p:spPr>
          <a:xfrm>
            <a:off x="8144167" y="3950208"/>
            <a:ext cx="3557930" cy="45720"/>
          </a:xfrm>
          <a:prstGeom prst="rect">
            <a:avLst/>
          </a:prstGeom>
          <a:solidFill>
            <a:srgbClr val="2E8B6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6" name="num05"/>
          <p:cNvSpPr txBox="1">
            <a:spLocks/>
          </p:cNvSpPr>
          <p:nvPr/>
        </p:nvSpPr>
        <p:spPr>
          <a:xfrm>
            <a:off x="8290471" y="4123944"/>
            <a:ext cx="91440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50" b="1" spc="120">
                <a:solidFill>
                  <a:srgbClr val="2E8B62"/>
                </a:solidFill>
                <a:latin typeface="Arial"/>
              </a:rPr>
              <a:t>05</a:t>
            </a:r>
          </a:p>
        </p:txBody>
      </p:sp>
      <p:sp>
        <p:nvSpPr>
          <p:cNvPr id="427" name="title05"/>
          <p:cNvSpPr txBox="1">
            <a:spLocks/>
          </p:cNvSpPr>
          <p:nvPr/>
        </p:nvSpPr>
        <p:spPr>
          <a:xfrm>
            <a:off x="8290471" y="4334256"/>
            <a:ext cx="326532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050" b="1" spc="20">
                <a:solidFill>
                  <a:srgbClr val="00615F"/>
                </a:solidFill>
                <a:latin typeface="Arial"/>
              </a:rPr>
              <a:t>DATA AND TOOLS</a:t>
            </a:r>
          </a:p>
        </p:txBody>
      </p:sp>
      <p:sp>
        <p:nvSpPr>
          <p:cNvPr id="428" name="rule05"/>
          <p:cNvSpPr/>
          <p:nvPr/>
        </p:nvSpPr>
        <p:spPr>
          <a:xfrm>
            <a:off x="8290471" y="4645152"/>
            <a:ext cx="3265322" cy="10973"/>
          </a:xfrm>
          <a:prstGeom prst="rect">
            <a:avLst/>
          </a:prstGeom>
          <a:solidFill>
            <a:srgbClr val="DED5C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9" name="body05"/>
          <p:cNvSpPr txBox="1">
            <a:spLocks/>
          </p:cNvSpPr>
          <p:nvPr/>
        </p:nvSpPr>
        <p:spPr>
          <a:xfrm>
            <a:off x="8290471" y="4773168"/>
            <a:ext cx="3265322" cy="1243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7160" indent="-137160">
              <a:lnSpc>
                <a:spcPct val="108000"/>
              </a:lnSpc>
              <a:spcBef>
                <a:spcPts val="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SQL and BigQuery daily for cohort and lift analysis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Looker, Tableau, Power BI and QlikSense across BI environments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First-party customer data alongside advertising-platform data</a:t>
            </a:r>
          </a:p>
          <a:p>
            <a:pPr marL="137160" indent="-137160">
              <a:lnSpc>
                <a:spcPct val="108000"/>
              </a:lnSpc>
              <a:spcBef>
                <a:spcPts val="620"/>
              </a:spcBef>
              <a:buClr>
                <a:srgbClr val="2E8B62"/>
              </a:buClr>
              <a:buSzPct val="100000"/>
              <a:buFont typeface="Arial"/>
              <a:buChar char="–"/>
            </a:pPr>
            <a:r>
              <a:rPr lang="en-US" sz="850" b="0">
                <a:solidFill>
                  <a:srgbClr val="5F6F6D"/>
                </a:solidFill>
                <a:latin typeface="Arial"/>
              </a:rPr>
              <a:t>Engineering background: build the pipeline when none exists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F85D2-8F82-C3F7-59B0-2DEB55D7E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129" y="3920947"/>
            <a:ext cx="1935824" cy="24189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1461</Words>
  <Application>Microsoft Office PowerPoint</Application>
  <PresentationFormat>Widescreen</PresentationFormat>
  <Paragraphs>389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1_Office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Shivam Singh</cp:lastModifiedBy>
  <cp:revision>117</cp:revision>
  <dcterms:created xsi:type="dcterms:W3CDTF">2026-08-15T11:50:35Z</dcterms:created>
  <dcterms:modified xsi:type="dcterms:W3CDTF">2026-08-21T06:55:58Z</dcterms:modified>
  <dc:title>Too Good To Go Paid Social Strategy</dc:title>
  <dc:subject>Paid social strategy covering audience design, creative testing, measurement, budget allocation, and operating cadence.</dc:subject>
  <dc:creator>Shivam Singh</dc:creator>
  <cp:keywords>Too Good To Go; paid social; performance marketing; audience strategy; creative testing; interview assignment</cp:keywords>
  <dc:description>Ten-slide paid social strategy authored for a Too Good To Go interview assignment.</dc:description>
  <cp:category>Interview Assignment</cp:category>
  <cp:contentStatus>Prepared</cp:contentStatus>
  <dc:language>en</dc:language>
</cp:coreProperties>
</file>